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14884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社内稟議資料 ／ 新規事業案件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40080" y="2697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学生寮STOプロジェクト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520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当社（KC）参画に関する稟議 ― 教育 × 不動産 × STO への参入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" y="4206240"/>
            <a:ext cx="3840480" cy="0"/>
          </a:xfrm>
          <a:prstGeom prst="line">
            <a:avLst/>
          </a:prstGeom>
          <a:noFill/>
          <a:ln w="25400">
            <a:solidFill>
              <a:srgbClr val="E500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11135" y="5440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2026年7月6日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起案：新規事業／井上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霞ヶ関キャピタル株式会社</a:t>
            </a:r>
            <a:endParaRPr lang="en-US" sz="11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東証プライム（証券コード：3498）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その課題を、価値へ。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07008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24" dirty="0"/>
          </a:p>
        </p:txBody>
      </p:sp>
      <p:sp>
        <p:nvSpPr>
          <p:cNvPr id="6" name="Text 4"/>
          <p:cNvSpPr/>
          <p:nvPr/>
        </p:nvSpPr>
        <p:spPr>
          <a:xfrm>
            <a:off x="1298448" y="148132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稟議事項（決裁のお願い）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11535" y="14813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9339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162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24" dirty="0"/>
          </a:p>
        </p:txBody>
      </p:sp>
      <p:sp>
        <p:nvSpPr>
          <p:cNvPr id="11" name="Text 9"/>
          <p:cNvSpPr/>
          <p:nvPr/>
        </p:nvSpPr>
        <p:spPr>
          <a:xfrm>
            <a:off x="1298448" y="201625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11535" y="201625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52831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511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24" dirty="0"/>
          </a:p>
        </p:txBody>
      </p:sp>
      <p:sp>
        <p:nvSpPr>
          <p:cNvPr id="16" name="Text 14"/>
          <p:cNvSpPr/>
          <p:nvPr/>
        </p:nvSpPr>
        <p:spPr>
          <a:xfrm>
            <a:off x="1298448" y="255117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911535" y="25511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0861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024" dirty="0"/>
          </a:p>
        </p:txBody>
      </p:sp>
      <p:sp>
        <p:nvSpPr>
          <p:cNvPr id="21" name="Text 19"/>
          <p:cNvSpPr/>
          <p:nvPr/>
        </p:nvSpPr>
        <p:spPr>
          <a:xfrm>
            <a:off x="1298448" y="308610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11535" y="308610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9816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024" dirty="0"/>
          </a:p>
        </p:txBody>
      </p:sp>
      <p:sp>
        <p:nvSpPr>
          <p:cNvPr id="26" name="Text 24"/>
          <p:cNvSpPr/>
          <p:nvPr/>
        </p:nvSpPr>
        <p:spPr>
          <a:xfrm>
            <a:off x="1298448" y="3621024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911535" y="36210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133088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1559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024" dirty="0"/>
          </a:p>
        </p:txBody>
      </p:sp>
      <p:sp>
        <p:nvSpPr>
          <p:cNvPr id="31" name="Text 29"/>
          <p:cNvSpPr/>
          <p:nvPr/>
        </p:nvSpPr>
        <p:spPr>
          <a:xfrm>
            <a:off x="1298448" y="415594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911535" y="41559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668012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690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024" dirty="0"/>
          </a:p>
        </p:txBody>
      </p:sp>
      <p:sp>
        <p:nvSpPr>
          <p:cNvPr id="36" name="Text 34"/>
          <p:cNvSpPr/>
          <p:nvPr/>
        </p:nvSpPr>
        <p:spPr>
          <a:xfrm>
            <a:off x="1298448" y="469087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911535" y="469087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5202936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225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024" dirty="0"/>
          </a:p>
        </p:txBody>
      </p:sp>
      <p:sp>
        <p:nvSpPr>
          <p:cNvPr id="41" name="Text 39"/>
          <p:cNvSpPr/>
          <p:nvPr/>
        </p:nvSpPr>
        <p:spPr>
          <a:xfrm>
            <a:off x="1298448" y="522579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911535" y="52257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5737860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57607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24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024" dirty="0"/>
          </a:p>
        </p:txBody>
      </p:sp>
      <p:sp>
        <p:nvSpPr>
          <p:cNvPr id="46" name="Text 44"/>
          <p:cNvSpPr/>
          <p:nvPr/>
        </p:nvSpPr>
        <p:spPr>
          <a:xfrm>
            <a:off x="1298448" y="576072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0911535" y="57607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0080" y="6272784"/>
            <a:ext cx="10911535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pic>
        <p:nvPicPr>
          <p:cNvPr id="4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稟議事項 ― ご決裁いただきたい事項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本件は投資実行の決裁ではなく、当社が本プロジェクトに「アレンジャー／スキーム検討支援」として参画し、次段階の検討を進めることの承認を求めるものである。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936" dirty="0"/>
          </a:p>
        </p:txBody>
      </p:sp>
      <p:sp>
        <p:nvSpPr>
          <p:cNvPr id="8" name="Text 6"/>
          <p:cNvSpPr/>
          <p:nvPr/>
        </p:nvSpPr>
        <p:spPr>
          <a:xfrm>
            <a:off x="1508760" y="178308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本件を当社の新規事業案件として正式に検討・推進すること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0" y="1783080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教育×不動産×STOの実証案件として位置付け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936" dirty="0"/>
          </a:p>
        </p:txBody>
      </p:sp>
      <p:sp>
        <p:nvSpPr>
          <p:cNvPr id="13" name="Text 11"/>
          <p:cNvSpPr/>
          <p:nvPr/>
        </p:nvSpPr>
        <p:spPr>
          <a:xfrm>
            <a:off x="1508760" y="2715768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当社の初期スタンスを「アレンジャー型（スキーム検討支援）」とすること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2715768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資金を大きく張らず、関係者を繋ぎPR・知見を獲得する低リスク形態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936" dirty="0"/>
          </a:p>
        </p:txBody>
      </p:sp>
      <p:sp>
        <p:nvSpPr>
          <p:cNvPr id="18" name="Text 16"/>
          <p:cNvSpPr/>
          <p:nvPr/>
        </p:nvSpPr>
        <p:spPr>
          <a:xfrm>
            <a:off x="1508760" y="3648456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STO事業者・外部専門家（弁護士等）へのヒアリング／相談の実施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3648456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組成可否・CF・担保・補助金・販売可否・金商法論点の精査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36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936" dirty="0"/>
          </a:p>
        </p:txBody>
      </p:sp>
      <p:sp>
        <p:nvSpPr>
          <p:cNvPr id="23" name="Text 21"/>
          <p:cNvSpPr/>
          <p:nvPr/>
        </p:nvSpPr>
        <p:spPr>
          <a:xfrm>
            <a:off x="1508760" y="4581144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対外開示・プレスリリースの可能性を含む案件として扱うこと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0" y="4581144"/>
            <a:ext cx="2956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「国内先進事例」としての発信可能性を検証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566928"/>
          </a:xfrm>
          <a:prstGeom prst="roundRect">
            <a:avLst>
              <a:gd name="adj" fmla="val 8065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44068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投資・貸付の実行判断は本稟議の対象外。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CF・担保・補助金制約・STO販売可否が明確化した後、次段階で別途付議する。</a:t>
            </a:r>
            <a:endParaRPr lang="en-US" sz="11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エグゼクティブ・サマリー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通常のKCスキームでも検討可能な案件だが、STOを組み合わせることで新しい投資家層・資金調達チャネル・事業領域の知見を獲得できる。まずは低リスクのアレンジャー参画から開始したい。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074920" cy="2788920"/>
          </a:xfrm>
          <a:prstGeom prst="roundRect">
            <a:avLst>
              <a:gd name="adj" fmla="val 1967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アレンジャー参画から着手を提案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教育×不動産×STOはKCのブランド・新規事業戦略に合致。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STO組成ノウハウを獲得し、他アセット（ホテル・物流・ヘルスケア等）へ横展開可能。</a:t>
            </a:r>
            <a:endParaRPr lang="en-US" sz="15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初期は低リスクのアレンジャー型。投資判断は論点精査後に次段階で付議。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89320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126480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08192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126480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億円 ／ STO組成のミニマム水準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125712" y="1645920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62872" y="17556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44584" y="2029968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62872" y="257860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％ ／ 原資はCF精査が必要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89320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対象アセット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学生寮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126480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＋任意追加施設（六甲山・NLCS神戸）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25712" y="3118104"/>
            <a:ext cx="288036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262872" y="3227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KC初期スタンス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44584" y="3502152"/>
            <a:ext cx="2642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アレンジャー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62872" y="405079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低リスク・スキーム検討支援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案件規模・利回りは初期情報に基づく仮置き。STO事業者・八光エルアールへの確認により精緻化する。</a:t>
            </a:r>
            <a:endParaRPr lang="en-US" sz="900" dirty="0"/>
          </a:p>
        </p:txBody>
      </p:sp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案件概要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NLCS神戸は六甲山に開校予定の国際ボーディングスクール（North London Collegiate School Kobe）。その学生寮・関連施設を対象に、STOを活用した資金調達を検討する。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40280" y="16916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NLCS神戸 学生寮・関連施設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40280" y="227685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兵庫県神戸市・六甲山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52344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86207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事業主体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2862072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八光エルアール株式会社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472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案件規模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40280" y="344728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約20億円（STO組成のミニマム水準）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3250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40280" y="4032504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7％（原資はCF精査が必要）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07992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17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上位構想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240280" y="4617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寄付・投資・ネーミングライツ・卒業生基金を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組み合わせた教育エコシステム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257800"/>
            <a:ext cx="5577840" cy="0"/>
          </a:xfrm>
          <a:prstGeom prst="line">
            <a:avLst/>
          </a:prstGeom>
          <a:noFill/>
          <a:ln w="9525">
            <a:solidFill>
              <a:srgbClr val="F2F2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主要関係者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011680"/>
          <a:ext cx="501365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2278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八光エルアール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事業主体。NLCS神戸の開発・運営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当社（KC）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資金・ブランド・調達支援、スキーム検討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デジタル証券・Progmat等（組成・販売候補）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国内外富裕層・保護者・神戸富裕層・財団関係者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NLCS Kobe Foundation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（構想）寄付・奨学金・ネーミングライツの受け皿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5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なぜSTOを組み合わせるか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なぜKC通常スキームにSTOを組み合わせるのか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通常スキームでも資金調達は可能だが投資家層が機関・法人に偏る。STOを重ねることで投資家層の拡大と、教育支援・地域貢献という社会的意義の付与が可能になる。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通常スキーム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KC／金融機関／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法人投資家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24328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953512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44952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SPC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937760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266944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58384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51192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580376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71816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建設・運営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564624" y="2446020"/>
            <a:ext cx="310896" cy="0"/>
          </a:xfrm>
          <a:prstGeom prst="line">
            <a:avLst/>
          </a:prstGeom>
          <a:noFill/>
          <a:ln w="19050">
            <a:solidFill>
              <a:srgbClr val="6E6E6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93808" y="205740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985248" y="2057400"/>
            <a:ext cx="1783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賃料・寮費収入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28803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投資家層は金融機関・法人・機関投資家に偏りやすい。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STOを組み合わせた場合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160520"/>
            <a:ext cx="2834640" cy="777240"/>
          </a:xfrm>
          <a:prstGeom prst="roundRect">
            <a:avLst>
              <a:gd name="adj" fmla="val 5882"/>
            </a:avLst>
          </a:prstGeom>
          <a:solidFill>
            <a:srgbClr val="F2F2F2"/>
          </a:solidFill>
          <a:ln w="1397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16052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KC通常スキーム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41605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023360" y="4160520"/>
            <a:ext cx="2926080" cy="777240"/>
          </a:xfrm>
          <a:prstGeom prst="roundRect">
            <a:avLst>
              <a:gd name="adj" fmla="val 5882"/>
            </a:avLst>
          </a:prstGeom>
          <a:solidFill>
            <a:srgbClr val="FBEDE7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114800" y="4160520"/>
            <a:ext cx="27432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STOファンド／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99516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60920" y="4160520"/>
            <a:ext cx="219456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397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52360" y="4160520"/>
            <a:ext cx="20116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国内外富裕層・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保護者・地域投資家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601200" y="4549140"/>
            <a:ext cx="310896" cy="0"/>
          </a:xfrm>
          <a:prstGeom prst="line">
            <a:avLst/>
          </a:prstGeom>
          <a:noFill/>
          <a:ln w="19050">
            <a:solidFill>
              <a:srgbClr val="EE83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966960" y="4160520"/>
            <a:ext cx="1581912" cy="777240"/>
          </a:xfrm>
          <a:prstGeom prst="roundRect">
            <a:avLst>
              <a:gd name="adj" fmla="val 5882"/>
            </a:avLst>
          </a:prstGeom>
          <a:solidFill>
            <a:srgbClr val="E50012"/>
          </a:solidFill>
          <a:ln w="13970">
            <a:solidFill>
              <a:srgbClr val="E5001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0058400" y="4160520"/>
            <a:ext cx="1399032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教育支援性を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持つ投資商品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0080" y="5029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投資単位の小口化と投資家層の拡大、社会的意義の付与が可能。</a:t>
            </a:r>
            <a:endParaRPr lang="en-US" sz="1050" dirty="0"/>
          </a:p>
        </p:txBody>
      </p:sp>
      <p:pic>
        <p:nvPicPr>
          <p:cNvPr id="34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STO市場と先行事例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国内のST（デジタル証券）市場は拡大局面。学生レジデンスを対象とした不動産STは既に存在するため「日本初」は用いず「国内先進事例」と位置付ける。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市場の拡大（出典付き参考値）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1214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国内ST 発行累計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約2,628</a:t>
            </a:r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億円 ／ 68件（Progmat・2025年8月）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3035808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1455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Progmat 発行額シェア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約62</a:t>
            </a:r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％（国内最大の組成基盤）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212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4169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公募ST市場 FY2025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4439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約2倍</a:t>
            </a:r>
            <a:pPr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約1,684→約3,333億円（BOOSTRY総括）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196535" cy="4160520"/>
          </a:xfrm>
          <a:prstGeom prst="roundRect">
            <a:avLst>
              <a:gd name="adj" fmla="val 1319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810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先行事例と本件の位置付け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148840"/>
            <a:ext cx="47393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国内初の公募不動産ST：ケネディクス渋谷神南（2021年）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アセット多様化：ホテル・旅館・物流・住宅／福祉貢献型など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学生レジデンスST：2024年1月に既発（約35億円／AM=DREAM・三菱UFJ信託・大和証券）→「日本初」は主張不可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本件の位置付け：国際ボーディングスクール学生寮は事例の限られる先進的アセットタイプ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流動性：セカンダリ（ODX「START」・ASTOMO）は稼働も出来高は限定的 → 出口は保守的に想定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5440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数値は出典（Progmat／BOOSTRY／各社開示）に基づく参考値。最終稟議版で一次レポートを再確認。</a:t>
            </a:r>
            <a:endParaRPr lang="en-US" sz="850" dirty="0"/>
          </a:p>
        </p:txBody>
      </p:sp>
      <p:pic>
        <p:nvPicPr>
          <p:cNvPr id="1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KC参画の意義とメリット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本件は「20億円規模の投資案件」としてだけでなく、KCの新規事業開発・ブランド戦略・金融DXの実証案件として意義を持つ。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PR・ブランド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教育×不動産×STOの新規性を対外発信（金融・不動産・教育メディア等）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8728" y="164592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07328" y="178308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事業開発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07328" y="217627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STO組成ノウハウ（信託・SPC・金商法・KYC/AML・販売）を獲得し他アセットへ展開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06324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投資家開拓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海外富裕層・保護者・神戸富裕層・卒業生など新たな投資家層に接続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306324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320040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協業関係構築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07328" y="359359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デジタル証券・Progmat等STO事業者との実務ネットワークを獲得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480560"/>
            <a:ext cx="527288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ESG／インパクト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68680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教育支援・地域貢献・次世代人材育成として説明可能な投資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4480560"/>
            <a:ext cx="5272888" cy="123444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07328" y="4617720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将来展開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07328" y="5010912"/>
            <a:ext cx="48156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ホテル・物流・ヘルスケア・地域開発・DC等への横展開の実証機会</a:t>
            </a:r>
            <a:endParaRPr lang="en-US" sz="1050" dirty="0"/>
          </a:p>
        </p:txBody>
      </p:sp>
      <p:pic>
        <p:nvPicPr>
          <p:cNvPr id="2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事業性・収益の論点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事業性①｜学生寮収支の現状整理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寮単体の正式な収支シミュレーションは未作成。ただし確認済みの前提を用いれば、稟議用の仮試算・逆算は現時点でも作成できる。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556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現状の整理（7/6 吉村レンニ氏の確認）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4617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「学生寮収入700万円」の母体を確認 → 実態は顧客単価 1人あたり年間350万円。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そこから食費・運営人件費等の原価と、八光LRの利益を控除した後に投資配当原資が出る構造。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「寮単体の収支はまだできていない」と明言（6/25時点でも学費全体と寮単体は未分離）。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現時点で仮試算に使える情報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96596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現時点の情報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試算での使い方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 年間350万円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年間売上の上限試算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収容人数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110名宿泊可能（前提）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満室時売上の試算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教員室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5名／5室の扱いが論点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課金対象からの除外可能性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旧前提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年間収入700万円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売上/NOI不明・扱い注意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投資家利回り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年7％前提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必要配当原資の逆算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ST手数料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約4％（調整可）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初期コスト／グロスアップ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STO規模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20億円程度がミニマム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単体で規模が足りるか要確認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事業性②｜年間売上の上限試算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確認済みの「1人350万円」を用いた満室時の年間粗売上。ただしこれは売上の上限であり、投資家配当原資ではない。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54298" cy="1828800"/>
          </a:xfrm>
          <a:prstGeom prst="rect">
            <a:avLst/>
          </a:prstGeom>
          <a:solidFill>
            <a:srgbClr val="FBEDE7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47672"/>
            <a:ext cx="308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110名全員が課金対象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350万円 × 110名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3.85億円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368698" y="178308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51578" y="1947672"/>
            <a:ext cx="308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教員5名を除く105名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51578" y="256032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350万円 × 105名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51578" y="283464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83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3.675億円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8097317" y="1783080"/>
            <a:ext cx="345429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6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80197" y="1947672"/>
            <a:ext cx="30885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保守的に100名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80197" y="256032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350万円 × 100名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80197" y="283464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3.5億円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10911535" cy="731520"/>
          </a:xfrm>
          <a:prstGeom prst="roundRect">
            <a:avLst>
              <a:gd name="adj" fmla="val 6250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886200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注意：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これは売上の上限。ここから食費・運営人件費等の原価と八光LRの利益を控除した後に、投資配当に回せる金額が出る。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8006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NLCS神戸の六甲山・寄宿舎キャンパスは2028年8月開校予定（公開情報）。寄宿舎定員は非公開のため「110名」は社内前提であり、稼働率・入寮率の設定が別途必要。</a:t>
            </a:r>
            <a:endParaRPr lang="en-US" sz="900" dirty="0"/>
          </a:p>
        </p:txBody>
      </p:sp>
      <p:pic>
        <p:nvPicPr>
          <p:cNvPr id="20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事業性③｜投資家配当原資の逆算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年利7％を前提とすると、調達額に応じ必要な年間配当原資が決まる。売上のうち何％を分配に回せるかが成立性の目線。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調達額別｜年7％で必要な年間配当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4937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調達額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年間必要配当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1.40億円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1.26億円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7,000万円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3,500万円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700万円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09160"/>
            <a:ext cx="4937760" cy="914400"/>
          </a:xfrm>
          <a:prstGeom prst="roundRect">
            <a:avLst>
              <a:gd name="adj" fmla="val 5000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091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もし「700万円」が寮単体の分配可能CFなら、年7％で支えられる調達額は約1億円に留まる。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必要な分配可能率（20億円・年7％＝1.4億円）</a:t>
            </a:r>
            <a:endParaRPr lang="en-US" sz="115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011680"/>
          <a:ext cx="5577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9456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稼働率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年間粗売上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必要分配可能率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3.85億円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36.4%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3.465億円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40.4%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3.08億円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45.5%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4023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売上の36.4％以上を投資家配当原資として残せるかが、20億円STO成立の一つの目線。</a:t>
            </a:r>
            <a:endParaRPr lang="en-US" sz="1050" dirty="0"/>
          </a:p>
        </p:txBody>
      </p:sp>
      <p:pic>
        <p:nvPicPr>
          <p:cNvPr id="12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4" name="Text 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5" name="Text 1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事業性④｜感度分析と手数料の影響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分配可能率と稼働率で調達可能額を逆算。満室に近く分配率35〜40％を確保できれば18〜20億円規模の説明余地がある。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分配可能率別｜調達可能額（単価350万・110名・年7％）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2468880"/>
                <a:gridCol w="2468880"/>
                <a:gridCol w="249631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稼働率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粗売上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分配率30％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分配率35％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分配率40％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3.08億円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約13.2億円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約15.4億円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約17.6億円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3.465億円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約14.85億円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約17.33億円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約19.8億円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3.85億円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約16.5億円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約19.25億円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約22.0億円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977640"/>
            <a:ext cx="6720840" cy="1325880"/>
          </a:xfrm>
          <a:prstGeom prst="roundRect">
            <a:avLst>
              <a:gd name="adj" fmla="val 4138"/>
            </a:avLst>
          </a:prstGeom>
          <a:solidFill>
            <a:srgbClr val="F2F2F2"/>
          </a:solidFill>
          <a:ln w="12700">
            <a:solidFill>
              <a:srgbClr val="D6D6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4370832"/>
            <a:ext cx="6355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満室に近く、分配可能率35〜40％を確保できれば18〜20億円規模の説明余地。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分配率30％程度なら20億円はやや厳しく、追加施設・学校全体CF・固定賃料・保証・Foundation連動での補完が必要。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589520" y="3977640"/>
            <a:ext cx="3962095" cy="1325880"/>
          </a:xfrm>
          <a:prstGeom prst="roundRect">
            <a:avLst>
              <a:gd name="adj" fmla="val 4138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0" y="4069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手数料4％の影響（仮置き・要確認）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0" y="4389120"/>
            <a:ext cx="3504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20億円発行時の4％手数料 ＝ 8,000万円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手取り20億円の確保には約20.83億円の発行が必要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5440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デジタル証券：固定賃のみは厳しくCPI／固都税連動の変動賃料を推奨。18〜20億円が組成検討ライン、手数料は案件に応じ調整可。</a:t>
            </a:r>
            <a:endParaRPr lang="en-US" sz="900" dirty="0"/>
          </a:p>
        </p:txBody>
      </p:sp>
      <p:pic>
        <p:nvPicPr>
          <p:cNvPr id="14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事業性⑤｜追加確認事項と結論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正式な寮単体PLの確定には以下が不足。八光LR（池田社長）へ最優先で確認する。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不足している情報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56692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709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区分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不足情報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350万は寮費のみか学費込みか／課金対象人数（教員5名）／稼働率・入寮率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費用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食費・寮運営人件費・水光熱・清掃警備・修繕・保険・PM・固都税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八光LRとして残す利益水準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学生寮部分（寄宿舎EF棟）の施工費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契約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寮収入の帰属と分配主体／学校・八光LR・SPC間の賃料・ML契約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46520" y="1645920"/>
            <a:ext cx="5105095" cy="3246120"/>
          </a:xfrm>
          <a:prstGeom prst="roundRect">
            <a:avLst>
              <a:gd name="adj" fmla="val 1690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6751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現時点の結論（資料反映方針）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675120" y="2103120"/>
            <a:ext cx="464789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寮単体の正式PLは未確定であり、投資判断に足る数値は未整備。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一方、単価350万円・最大110名を置くと満室時の年間粗売上は最大 約3.85億円。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20億円STO・年7％には年1.4億円の配当原資が必要 → 売上の約36.4％以上を分配可能CFとして確保できるかが成立の目線。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今後の確認ポイント：原価・八光LR利益・寮施工費・賃料設計・稼働率。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537667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八光LR（池田社長）確認事項：①350万の内訳 ②課金対象人数 ③700万の定義 ④年間原価 ⑤八光LR利益水準 ⑥寮施工費 ⑦賃料・保証設計 ⑧初年度〜3年目の入寮率</a:t>
            </a:r>
            <a:endParaRPr lang="en-US" sz="950" dirty="0"/>
          </a:p>
        </p:txBody>
      </p:sp>
      <p:pic>
        <p:nvPicPr>
          <p:cNvPr id="11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参画パターンと推奨スタンス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KCの参画パターンと推奨スタンス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関与形態はリスク・リターンに応じて4案。現時点ではリスクの低いアレンジャー型から着手し、論点精査後に投資・貸付判断を行うのが安全。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3657600"/>
                <a:gridCol w="112471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パターン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メリット／論点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初期採否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A：アレンジャー型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資金を大きく張らず、STO事業者・八光LR・投資家を繋ぐ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低リスクでPR・知見を獲得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500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推奨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B：ブリッジ型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KCが先行資金を入れ、後続のSTO販売で一部回収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推進力は高いが販売未達時の出口確認が必要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C：貸付型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KCが貸付人として関与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収益設計しやすいが担保・補助金事前承認が論点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D：出資型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KCがSPC等に出資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アップサイドを取れるが議決権・みなし大企業規定が論点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次段階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911535" cy="868680"/>
          </a:xfrm>
          <a:prstGeom prst="roundRect">
            <a:avLst>
              <a:gd name="adj" fmla="val 5263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初期スタンスの推奨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8680" y="54406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「アレンジャー型＋STO事業者ヒアリング主導」から開始。投資・貸付判断は、CF・担保・補助金・STO販売可否が明確になった後に次段階で行う。</a:t>
            </a:r>
            <a:endParaRPr lang="en-US" sz="1100" dirty="0"/>
          </a:p>
        </p:txBody>
      </p:sp>
      <p:pic>
        <p:nvPicPr>
          <p:cNvPr id="9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リスクと対応方針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主要リスクは特定済みで、いずれも初期段階（アレンジャー参画）では顕在化しにくく、事前確認・専門家相談により管理可能。</a:t>
            </a:r>
            <a:endParaRPr lang="en-US" sz="11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6E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対応方針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7B8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補助金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議決権・担保設定・資金流次第で補助金返還リスク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法務・補助金事務局へ確認（一部確認済・後述）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CF（収益）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寮収入（年700万円）のみでは7％の原資が不足の可能性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学校全体CF・固定／変動賃料設計を確認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販売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STO投資家が想定通り集まらない可能性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投資家ターゲットを事前ヒアリング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金商法・海外販売規制・KYC/AML対応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STO事業者・弁護士へ確認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担保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補助対象財産への抵当権設定は事前承認が必要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事前承認手続き・代替担保を検討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「日本初」表現の誤認（学生用不動産STOの先行事例あり）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「国内先進事例」等の表現に統一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実行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STO組成に時間・コストを要する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早期にSTO事業者へ打診し見積取得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補助金制約と確認済事項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対象は「大規模成長投資補助金」（経産省）。八光LR・補助金事務局への確認により、資金の流れと担保の実務条件は概ね整理済み。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補助金上の主要制約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対象：中堅・中小企業の賃上げに向けた省力化等の大規模成長投資補助金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八光エルアールが議決権50％超を維持する必要（みなし大企業規定）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補助対象は校舎ABCD棟・寄宿舎EF棟の建物のみ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処分制限期間は減価償却期間に連動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担保権設定は事前承認が必要（事後承認は不可）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補助事業期間中（〜令和9年12月末）もみなし大企業規定が適用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242255" cy="3703320"/>
          </a:xfrm>
          <a:prstGeom prst="roundRect">
            <a:avLst>
              <a:gd name="adj" fmla="val 1481"/>
            </a:avLst>
          </a:prstGeom>
          <a:solidFill>
            <a:srgbClr val="FBEDE7"/>
          </a:solidFill>
          <a:ln w="12700">
            <a:solidFill>
              <a:srgbClr val="EE835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830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確認済み（八光LR・事務局）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47850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資金の流れ：最終的に八光LRから建築会社へ支払われれば補助金上問題なし。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担保：補助事業遂行に必要な資金調達に限り、事前承認を得れば抵当権設定は可能（担保権実行時に補助金納付が条件）。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手続：担保権設定契約の1〜2ヶ月前に承認申請（参考様式32）を提出。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議決権：八光LRが50％超を保有すれば、第三者資本参入があってもみなし大企業規定に直接抵触しない。</a:t>
            </a:r>
            <a:endParaRPr lang="en-US" sz="100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STO設計：補助対象外資産に限定した組成、借地権の裏付け資産化はいずれも可能。</a:t>
            </a:r>
            <a:endParaRPr lang="en-US" sz="1000" dirty="0"/>
          </a:p>
        </p:txBody>
      </p:sp>
      <p:pic>
        <p:nvPicPr>
          <p:cNvPr id="10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solidFill>
            <a:srgbClr val="EE83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3960" dirty="0"/>
          </a:p>
        </p:txBody>
      </p:sp>
      <p:sp>
        <p:nvSpPr>
          <p:cNvPr id="4" name="Text 2"/>
          <p:cNvSpPr/>
          <p:nvPr/>
        </p:nvSpPr>
        <p:spPr>
          <a:xfrm>
            <a:off x="1783080" y="26517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スケジュールと決裁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783080" y="3611880"/>
            <a:ext cx="5029200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8308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83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 / 09</a:t>
            </a:r>
            <a:endParaRPr lang="en-US" sz="1100" dirty="0"/>
          </a:p>
        </p:txBody>
      </p:sp>
      <p:pic>
        <p:nvPicPr>
          <p:cNvPr id="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想定スケジュールと決裁のお願い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本稟議のご承認後、STO事業者ヒアリングと八光LRへの追加確認を並行し、7月下旬に関与方針を判断する第2版を作成する。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7/7週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645920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6459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STO事業者ヒアリング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212080" y="1645920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デジタル証券・Progmat・BOOSTRY等へ問い合わせ・初回ヒアリング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7/10目途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40280" y="2450592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450592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初期スキーム案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12080" y="2450592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A〜D案（アレンジャー／ブリッジ／貸付・出資）の初期スキーム案を作成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25526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7/14週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40280" y="3255264"/>
            <a:ext cx="931133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3255264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八光LR追加確認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3255264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施工費・収入内訳・土地権利・担保設定可否・Foundation状況を確認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059936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7月下旬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40280" y="4059936"/>
            <a:ext cx="9311335" cy="713232"/>
          </a:xfrm>
          <a:prstGeom prst="rect">
            <a:avLst/>
          </a:prstGeom>
          <a:solidFill>
            <a:srgbClr val="F2F2F2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68880" y="405993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第2版・方針判断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4059936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ヒアリング結果を反映した第2版を作成し、KCの関与方針を判断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8646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001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次段階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4864608"/>
            <a:ext cx="9311335" cy="713232"/>
          </a:xfrm>
          <a:prstGeom prst="rect">
            <a:avLst/>
          </a:prstGeom>
          <a:solidFill>
            <a:srgbClr val="FBEDE7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4864608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投資判断の付議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12080" y="4864608"/>
            <a:ext cx="5516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CF・担保・補助金・販売可否の明確化後、投資・貸付を別途付議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687568"/>
            <a:ext cx="10911535" cy="658368"/>
          </a:xfrm>
          <a:prstGeom prst="roundRect">
            <a:avLst>
              <a:gd name="adj" fmla="val 6944"/>
            </a:avLst>
          </a:prstGeom>
          <a:solidFill>
            <a:srgbClr val="E50012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687568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ご決裁のお願い：本件を新規事業案件として推進し、アレンジャー参画とヒアリング・専門家相談の実施をご承認いただきたい。</a:t>
            </a:r>
            <a:endParaRPr lang="en-US" sz="1200" dirty="0"/>
          </a:p>
        </p:txBody>
      </p:sp>
      <p:pic>
        <p:nvPicPr>
          <p:cNvPr id="27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29" name="Text 26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 ― 表現上の注意・免責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10911535" cy="0"/>
          </a:xfrm>
          <a:prstGeom prst="line">
            <a:avLst/>
          </a:prstGeom>
          <a:noFill/>
          <a:ln w="12700">
            <a:solidFill>
              <a:srgbClr val="D6D6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3327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対外発信時の表現、および本資料の位置付けに関する注記。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00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「日本初」表現についての注意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ST市場では住宅・物流・ホテル・温泉等に加え、学生レジデンスを対象とした不動産STも2024年1月に既発（約35億円／AM=DREAM・三菱UFJ信託・大和証券）。「学生寮STOが日本初」との断定は避け、「国内先進事例」と位置付ける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推奨表現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国内でも先進的な教育施設STO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国際ボーディングスクール学生寮を対象とした希少なSTO案件</a:t>
            </a:r>
            <a:endParaRPr lang="en-US" sz="1050" dirty="0"/>
          </a:p>
          <a:p>
            <a:pPr marL="177800" indent="-1778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教育×不動産×STOの新たな取り組み／Foundation構想と連動した教育インフラ投資モデル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販売面の留意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24528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動産STは金商法上「電子記録移転有価証券表示権利等」（第一項有価証券）に該当し、第一種金融商品取引業者を通じ一般投資家へ公募可能（発行開示・勧誘規制の対象）。ただし特定の保護者・富裕層への個別勧誘は私募規制・スキーム設計の検討を要する。可否は初回ヒアリング・法務で確認する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5029200"/>
            <a:ext cx="10911535" cy="0"/>
          </a:xfrm>
          <a:prstGeom prst="line">
            <a:avLst/>
          </a:prstGeom>
          <a:noFill/>
          <a:ln w="9525">
            <a:solidFill>
              <a:srgbClr val="D6D6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i="1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責：本資料は社内稟議・検討用の初期資料であり、投資実行の決裁や投資勧誘を目的とするものではない。案件規模・利回り・収益等の数値は初期情報に基づく仮置きであり、STO事業者・八光エルアールへの確認により変更される。</a:t>
            </a:r>
            <a:endParaRPr lang="en-US" sz="900" dirty="0"/>
          </a:p>
        </p:txBody>
      </p:sp>
      <p:pic>
        <p:nvPicPr>
          <p:cNvPr id="13" name="Image 0" descr="kc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19088"/>
            <a:ext cx="155448" cy="18562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41248" y="6382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KASUMIGASEKI CAPITAL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22415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E6E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社外秘 ／ Copyright © Kasumigaseki Capital Co., Ltd. All Rights Reserved.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1597335" y="638251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Kasumigaseki Capital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NLCS神戸 学生寮STOプロジェクト KC参画 稟議資料</dc:title>
  <dc:subject>PptxGenJS Presentation</dc:subject>
  <dc:creator>霞ヶ関キャピタル株式会社</dc:creator>
  <cp:lastModifiedBy>霞ヶ関キャピタル株式会社</cp:lastModifiedBy>
  <cp:revision>1</cp:revision>
  <dcterms:created xsi:type="dcterms:W3CDTF">2026-07-08T06:46:39Z</dcterms:created>
  <dcterms:modified xsi:type="dcterms:W3CDTF">2026-07-08T06:46:39Z</dcterms:modified>
</cp:coreProperties>
</file>
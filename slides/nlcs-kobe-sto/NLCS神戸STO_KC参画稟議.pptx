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52374" cy="30179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5548" y="471373"/>
            <a:ext cx="237744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5" spc="120" kern="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1035" dirty="0"/>
          </a:p>
        </p:txBody>
      </p:sp>
      <p:sp>
        <p:nvSpPr>
          <p:cNvPr id="4" name="Text 1"/>
          <p:cNvSpPr/>
          <p:nvPr/>
        </p:nvSpPr>
        <p:spPr>
          <a:xfrm>
            <a:off x="640080" y="2286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社内稟議資料 ／ 新規事業案件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学生寮STOプロジェクト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520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当社（KC）参画に関する稟議 ― 教育 × 不動産 × STO への参入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" y="4206240"/>
            <a:ext cx="3840480" cy="0"/>
          </a:xfrm>
          <a:prstGeom prst="line">
            <a:avLst/>
          </a:prstGeom>
          <a:noFill/>
          <a:ln w="25400">
            <a:solidFill>
              <a:srgbClr val="E5001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11135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2026年7月6日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起案：新規事業／井上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霞ヶ関キャピタル株式会社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東証プライム（証券コード：3498）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その課題を、価値へ。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07008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24" dirty="0"/>
          </a:p>
        </p:txBody>
      </p:sp>
      <p:sp>
        <p:nvSpPr>
          <p:cNvPr id="6" name="Text 4"/>
          <p:cNvSpPr/>
          <p:nvPr/>
        </p:nvSpPr>
        <p:spPr>
          <a:xfrm>
            <a:off x="1298448" y="148132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稟議事項（決裁のお願い）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11535" y="14813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9339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24" dirty="0"/>
          </a:p>
        </p:txBody>
      </p:sp>
      <p:sp>
        <p:nvSpPr>
          <p:cNvPr id="11" name="Text 9"/>
          <p:cNvSpPr/>
          <p:nvPr/>
        </p:nvSpPr>
        <p:spPr>
          <a:xfrm>
            <a:off x="1298448" y="201625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11535" y="201625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52831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24" dirty="0"/>
          </a:p>
        </p:txBody>
      </p:sp>
      <p:sp>
        <p:nvSpPr>
          <p:cNvPr id="16" name="Text 14"/>
          <p:cNvSpPr/>
          <p:nvPr/>
        </p:nvSpPr>
        <p:spPr>
          <a:xfrm>
            <a:off x="1298448" y="255117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911535" y="25511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024" dirty="0"/>
          </a:p>
        </p:txBody>
      </p:sp>
      <p:sp>
        <p:nvSpPr>
          <p:cNvPr id="21" name="Text 19"/>
          <p:cNvSpPr/>
          <p:nvPr/>
        </p:nvSpPr>
        <p:spPr>
          <a:xfrm>
            <a:off x="1298448" y="308610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11535" y="308610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9816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024" dirty="0"/>
          </a:p>
        </p:txBody>
      </p:sp>
      <p:sp>
        <p:nvSpPr>
          <p:cNvPr id="26" name="Text 24"/>
          <p:cNvSpPr/>
          <p:nvPr/>
        </p:nvSpPr>
        <p:spPr>
          <a:xfrm>
            <a:off x="1298448" y="3621024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911535" y="36210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133088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024" dirty="0"/>
          </a:p>
        </p:txBody>
      </p:sp>
      <p:sp>
        <p:nvSpPr>
          <p:cNvPr id="31" name="Text 29"/>
          <p:cNvSpPr/>
          <p:nvPr/>
        </p:nvSpPr>
        <p:spPr>
          <a:xfrm>
            <a:off x="1298448" y="415594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911535" y="41559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66801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024" dirty="0"/>
          </a:p>
        </p:txBody>
      </p:sp>
      <p:sp>
        <p:nvSpPr>
          <p:cNvPr id="36" name="Text 34"/>
          <p:cNvSpPr/>
          <p:nvPr/>
        </p:nvSpPr>
        <p:spPr>
          <a:xfrm>
            <a:off x="1298448" y="469087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911535" y="469087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20293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024" dirty="0"/>
          </a:p>
        </p:txBody>
      </p:sp>
      <p:sp>
        <p:nvSpPr>
          <p:cNvPr id="41" name="Text 39"/>
          <p:cNvSpPr/>
          <p:nvPr/>
        </p:nvSpPr>
        <p:spPr>
          <a:xfrm>
            <a:off x="1298448" y="522579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911535" y="52257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573786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024" dirty="0"/>
          </a:p>
        </p:txBody>
      </p:sp>
      <p:sp>
        <p:nvSpPr>
          <p:cNvPr id="46" name="Text 44"/>
          <p:cNvSpPr/>
          <p:nvPr/>
        </p:nvSpPr>
        <p:spPr>
          <a:xfrm>
            <a:off x="1298448" y="576072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911535" y="57607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0080" y="627278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pic>
        <p:nvPicPr>
          <p:cNvPr id="4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 ― ご決裁いただきたい事項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本件は投資実行の決裁ではなく、当社が本プロジェクトに「アレンジャー／スキーム検討支援」として参画し、次段階の検討を進めることの承認を求めるものである。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936" dirty="0"/>
          </a:p>
        </p:txBody>
      </p:sp>
      <p:sp>
        <p:nvSpPr>
          <p:cNvPr id="8" name="Text 6"/>
          <p:cNvSpPr/>
          <p:nvPr/>
        </p:nvSpPr>
        <p:spPr>
          <a:xfrm>
            <a:off x="1508760" y="178308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本件を当社の新規事業案件として正式に検討・推進すること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0" y="1783080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教育×不動産×STOの実証案件として位置付け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936" dirty="0"/>
          </a:p>
        </p:txBody>
      </p:sp>
      <p:sp>
        <p:nvSpPr>
          <p:cNvPr id="13" name="Text 11"/>
          <p:cNvSpPr/>
          <p:nvPr/>
        </p:nvSpPr>
        <p:spPr>
          <a:xfrm>
            <a:off x="1508760" y="271576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当社の初期スタンスを「アレンジャー型（スキーム検討支援）」とすること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2715768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資金を大きく張らず、関係者を繋ぎPR・知見を獲得する低リスク形態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936" dirty="0"/>
          </a:p>
        </p:txBody>
      </p:sp>
      <p:sp>
        <p:nvSpPr>
          <p:cNvPr id="18" name="Text 16"/>
          <p:cNvSpPr/>
          <p:nvPr/>
        </p:nvSpPr>
        <p:spPr>
          <a:xfrm>
            <a:off x="1508760" y="364845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STO事業者・外部専門家（弁護士等）へのヒアリング／相談の実施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3648456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組成可否・CF・担保・補助金・販売可否・金商法論点の精査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936" dirty="0"/>
          </a:p>
        </p:txBody>
      </p:sp>
      <p:sp>
        <p:nvSpPr>
          <p:cNvPr id="23" name="Text 21"/>
          <p:cNvSpPr/>
          <p:nvPr/>
        </p:nvSpPr>
        <p:spPr>
          <a:xfrm>
            <a:off x="1508760" y="458114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対外開示・プレスリリースの可能性を含む案件として扱うこと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4581144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「国内先進事例」としての発信可能性を検証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44068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投資・貸付の実行判断は本稟議の対象外。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CF・担保・補助金制約・STO販売可否が明確化した後、次段階で別途付議する。</a:t>
            </a:r>
            <a:endParaRPr lang="en-US" sz="11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エグゼクティブ・サマリー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通常のKCスキームでも検討可能な案件だが、STOを組み合わせることで新しい投資家層・資金調達チャネル・事業領域の知見を獲得できる。まずは低リスクのアレンジャー参画から開始したい。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074920" cy="2788920"/>
          </a:xfrm>
          <a:prstGeom prst="roundRect">
            <a:avLst>
              <a:gd name="adj" fmla="val 1967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アレンジャー参画から着手を提案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教育×不動産×STOはKCのブランド・新規事業戦略に合致。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STO組成ノウハウを獲得し、他アセット（ホテル・物流・ヘルスケア等）へ横展開可能。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初期は低リスクのアレンジャー型。投資判断は論点精査後に次段階で付議。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89320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126480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08192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26480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 ／ STO組成のミニマム水準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125712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62872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44584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62872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％ ／ 原資はCF精査が必要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89320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対象アセット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126480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＋任意追加施設（六甲山・NLCS神戸）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25712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62872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KC初期スタンス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44584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62872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低リスク・スキーム検討支援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案件規模・利回りは初期情報に基づく仮置き。STO事業者・八光エルアールへの確認により精緻化する。</a:t>
            </a:r>
            <a:endParaRPr lang="en-US" sz="900" dirty="0"/>
          </a:p>
        </p:txBody>
      </p:sp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NLCS神戸は六甲山に開校予定の国際ボーディングスクール（North London Collegiate School Kobe）。その学生寮・関連施設を対象に、STOを活用した資金調達を検討する。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40280" y="16916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学生寮・関連施設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40280" y="227685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兵庫県神戸市・六甲山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52344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07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事業主体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286207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八光エルアール株式会社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472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40280" y="344728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約20億円（STO組成のミニマム水準）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3250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40280" y="403250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7％（原資はCF精査が必要）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07992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17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上位構想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40280" y="4617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寄付・投資・ネーミングライツ・卒業生基金を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組み合わせた教育エコシステム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25780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主要関係者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011680"/>
          <a:ext cx="501365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227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八光エルアール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事業主体。NLCS神戸の開発・運営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当社（KC）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資金・ブランド・調達支援、スキーム検討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デジタル証券・Progmat等（組成・販売候補）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国内外富裕層・保護者・神戸富裕層・財団関係者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NLCS Kobe Foundation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（構想）寄付・奨学金・ネーミングライツの受け皿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なぜKC通常スキームにSTOを組み合わせるのか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通常スキームでも資金調達は可能だが投資家層が機関・法人に偏る。STOを重ねることで投資家層の拡大と、教育支援・地域貢献という社会的意義の付与が可能になる。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通常スキーム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KC／金融機関／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法人投資家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24328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53512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44952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37760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66944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58384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51192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580376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71816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建設・運営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64624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93808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985248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賃料・寮費収入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28803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投資家層は金融機関・法人・機関投資家に偏りやすい。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STOを組み合わせた場合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283464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16052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KC通常スキーム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41605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023360" y="4160520"/>
            <a:ext cx="2926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11480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STOファンド／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9516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60920" y="4160520"/>
            <a:ext cx="21945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52360" y="4160520"/>
            <a:ext cx="20116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国内外富裕層・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保護者・地域投資家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0120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966960" y="4160520"/>
            <a:ext cx="1581912" cy="777240"/>
          </a:xfrm>
          <a:prstGeom prst="roundRect">
            <a:avLst>
              <a:gd name="adj" fmla="val 5882"/>
            </a:avLst>
          </a:prstGeom>
          <a:solidFill>
            <a:srgbClr val="E50012"/>
          </a:solidFill>
          <a:ln w="13970">
            <a:solidFill>
              <a:srgbClr val="E5001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058400" y="4160520"/>
            <a:ext cx="1399032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教育支援性を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持つ投資商品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5029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投資単位の小口化と投資家層の拡大、社会的意義の付与が可能。</a:t>
            </a:r>
            <a:endParaRPr lang="en-US" sz="1050" dirty="0"/>
          </a:p>
        </p:txBody>
      </p:sp>
      <p:pic>
        <p:nvPicPr>
          <p:cNvPr id="34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本件は「20億円規模の投資案件」としてだけでなく、KCの新規事業開発・ブランド戦略・金融DXの実証案件として意義を持つ。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PR・ブランド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教育×不動産×STOの新規性を対外発信（金融・不動産・教育メディア等）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07328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事業開発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07328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STO組成ノウハウ（信託・SPC・金商法・KYC/AML・販売）を獲得し他アセットへ展開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06324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投資家開拓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海外富裕層・保護者・神戸富裕層・卒業生など新たな投資家層に接続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306324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協業関係構築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07328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デジタル証券・Progmat等STO事業者との実務ネットワークを獲得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ESG／インパクト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8680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教育支援・地域貢献・次世代人材育成として説明可能な投資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448056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07328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将来展開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07328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ホテル・物流・ヘルスケア・地域開発・DC等への横展開の実証機会</a:t>
            </a:r>
            <a:endParaRPr lang="en-US" sz="1050" dirty="0"/>
          </a:p>
        </p:txBody>
      </p:sp>
      <p:pic>
        <p:nvPicPr>
          <p:cNvPr id="2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初期情報では原資に不足懸念があり、収益設計が本件の最重要論点。STO事業者は固定賃のみでは厳しく、CPI・固定資産税連動の変動賃料付与を推奨している。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原資の論点（初期仮説）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必要分配原資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20億円 × 7％　</a:t>
            </a:r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1.4億円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145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学生寮収入（初期情報）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　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700万円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212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5993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寮収入のみでは原資が大幅に不足する可能性が高い。学校全体CF・固定賃料設計の確認が必須。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確認すべき事項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51508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7％利回りは誰に対するものか（KC／STO投資家／両方）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原資は学生寮収入のみか、学校全体収入を含められるか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八光エルアールによる固定賃料・保証の有無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CPI連動・固定資産税連動等の変動賃料設計は可能か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94760"/>
            <a:ext cx="5150815" cy="1600200"/>
          </a:xfrm>
          <a:prstGeom prst="roundRect">
            <a:avLst>
              <a:gd name="adj" fmla="val 3429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9136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STO事業者（デジタル証券）ヒアリング要旨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4224528"/>
            <a:ext cx="4785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物件20億円程度が組成のミニマム水準。</a:t>
            </a:r>
            <a:endParaRPr lang="en-US" sz="1000" dirty="0"/>
          </a:p>
          <a:p>
            <a:pPr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学生寮＋任意追加施設の一本化は可能。ただし固定賃のみは厳しく、CPI／固都税連動の変動を付けたい。</a:t>
            </a:r>
            <a:endParaRPr lang="en-US" sz="1000" dirty="0"/>
          </a:p>
          <a:p>
            <a:pPr marL="177800" indent="-177800">
              <a:lnSpc>
                <a:spcPct val="102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手数料（4％想定）は案件に応じ調整可。</a:t>
            </a:r>
            <a:endParaRPr lang="en-US" sz="1000" dirty="0"/>
          </a:p>
        </p:txBody>
      </p:sp>
      <p:pic>
        <p:nvPicPr>
          <p:cNvPr id="1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KCの参画パターンと推奨スタンス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関与形態はリスク・リターンに応じて4案。現時点ではリスクの低いアレンジャー型から着手し、論点精査後に投資・貸付判断を行うのが安全。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3657600"/>
                <a:gridCol w="112471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パターン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メリット／論点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初期採否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A：アレンジャー型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資金を大きく張らず、STO事業者・八光LR・投資家を繋ぐ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低リスクでPR・知見を獲得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500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推奨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B：ブリッジ型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KCが先行資金を入れ、後続のSTO販売で一部回収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推進力は高いが販売未達時の出口確認が必要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C：貸付型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KCが貸付人として関与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収益設計しやすいが担保・補助金事前承認が論点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D：出資型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KCがSPC等に出資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アップサイドを取れるが議決権・みなし大企業規定が論点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911535" cy="868680"/>
          </a:xfrm>
          <a:prstGeom prst="roundRect">
            <a:avLst>
              <a:gd name="adj" fmla="val 5263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初期スタンスの推奨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54406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「アレンジャー型＋STO事業者ヒアリング主導」から開始。投資・貸付判断は、CF・担保・補助金・STO販売可否が明確になった後に次段階で行う。</a:t>
            </a:r>
            <a:endParaRPr lang="en-US" sz="1100" dirty="0"/>
          </a:p>
        </p:txBody>
      </p:sp>
      <p:pic>
        <p:nvPicPr>
          <p:cNvPr id="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主要リスクは特定済みで、いずれも初期段階（アレンジャー参画）では顕在化しにくく、事前確認・専門家相談により管理可能。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対応方針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補助金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議決権・担保設定・資金流次第で補助金返還リスク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法務・補助金事務局へ確認（一部確認済・後述）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CF（収益）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寮収入（年700万円）のみでは7％の原資が不足の可能性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学校全体CF・固定／変動賃料設計を確認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STO投資家が想定通り集まらない可能性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投資家ターゲットを事前ヒアリング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金商法・海外販売規制・KYC/AML対応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STO事業者・弁護士へ確認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補助対象財産への抵当権設定は事前承認が必要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事前承認手続き・代替担保を検討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「日本初」表現の誤認（学生用不動産STOの先行事例あり）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「国内先進事例」等の表現に統一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STO組成に時間・コストを要する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早期にSTO事業者へ打診し見積取得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対象は「大規模成長投資補助金」（経産省）。八光LR・補助金事務局への確認により、資金の流れと担保の実務条件は概ね整理済み。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補助金上の主要制約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対象：中堅・中小企業の賃上げに向けた省力化等の大規模成長投資補助金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八光エルアールが議決権50％超を維持する必要（みなし大企業規定）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補助対象は校舎ABCD棟・寄宿舎EF棟の建物のみ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処分制限期間は減価償却期間に連動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担保権設定は事前承認が必要（事後承認は不可）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補助事業期間中（〜令和9年12月末）もみなし大企業規定が適用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242255" cy="3703320"/>
          </a:xfrm>
          <a:prstGeom prst="roundRect">
            <a:avLst>
              <a:gd name="adj" fmla="val 1481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確認済み（八光LR・事務局）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7850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資金の流れ：最終的に八光LRから建築会社へ支払われれば補助金上問題なし。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担保：補助事業遂行に必要な資金調達に限り、事前承認を得れば抵当権設定は可能（担保権実行時に補助金納付が条件）。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手続：担保権設定契約の1〜2ヶ月前に承認申請（参考様式32）を提出。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議決権：八光LRが50％超を保有すれば、第三者資本参入があってもみなし大企業規定に直接抵触しない。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STO設計：補助対象外資産に限定した組成、借地権の裏付け資産化はいずれも可能。</a:t>
            </a:r>
            <a:endParaRPr lang="en-US" sz="1000" dirty="0"/>
          </a:p>
        </p:txBody>
      </p:sp>
      <p:pic>
        <p:nvPicPr>
          <p:cNvPr id="10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想定スケジュールと決裁のお願い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本稟議のご承認後、STO事業者ヒアリングと八光LRへの追加確認を並行し、7月下旬に関与方針を判断する第2版を作成する。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7/7週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645920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6459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STO事業者ヒアリング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12080" y="1645920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デジタル証券・Progmat・BOOSTRY等へ問い合わせ・初回ヒアリング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7/10目途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40280" y="2450592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450592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初期スキーム案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12080" y="2450592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A〜D案（アレンジャー／ブリッジ／貸付・出資）の初期スキーム案を作成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25526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7/14週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40280" y="3255264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3255264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八光LR追加確認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3255264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施工費・収入内訳・土地権利・担保設定可否・Foundation状況を確認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05993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7月下旬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40280" y="4059936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68880" y="405993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第2版・方針判断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4059936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ヒアリング結果を反映した第2版を作成し、KCの関与方針を判断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864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次段階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4864608"/>
            <a:ext cx="9311335" cy="713232"/>
          </a:xfrm>
          <a:prstGeom prst="rect">
            <a:avLst/>
          </a:prstGeom>
          <a:solidFill>
            <a:srgbClr val="FBEDE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486460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投資判断の付議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12080" y="4864608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CF・担保・補助金・販売可否の明確化後、投資・貸付を別途付議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687568"/>
            <a:ext cx="10911535" cy="658368"/>
          </a:xfrm>
          <a:prstGeom prst="roundRect">
            <a:avLst>
              <a:gd name="adj" fmla="val 6944"/>
            </a:avLst>
          </a:prstGeom>
          <a:solidFill>
            <a:srgbClr val="E50012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687568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ご決裁のお願い：本件を新規事業案件として推進し、アレンジャー参画とヒアリング・専門家相談の実施をご承認いただきたい。</a:t>
            </a:r>
            <a:endParaRPr lang="en-US" sz="12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 ― 表現上の注意・免責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対外発信時の表現、および本資料の位置付けに関する注記。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「日本初」表現についての注意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既存STO市場では住宅・物流・温泉施設等の不動産STO事例があり、学生用不動産STOも過去に確認されている。「学生寮STOが日本初」と断定するのは避ける。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推奨表現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国内でも先進的な教育施設STO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国際ボーディングスクール学生寮を対象とした希少なSTO案件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教育×不動産×STOの新たな取り組み／Foundation構想と連動した教育インフラ投資モデル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販売面の留意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2452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STOは公募が前提となるため、保護者・富裕層等への個別販売には別スキームの検討が必要（STO事業者の見解）。投資家販売の可否は初回ヒアリングで確認する。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10911535" cy="0"/>
          </a:xfrm>
          <a:prstGeom prst="line">
            <a:avLst/>
          </a:prstGeom>
          <a:noFill/>
          <a:ln w="9525">
            <a:solidFill>
              <a:srgbClr val="D6D6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責：本資料は社内稟議・検討用の初期資料であり、投資実行の決裁や投資勧誘を目的とするものではない。案件規模・利回り・収益等の数値は初期情報に基づく仮置きであり、STO事業者・八光エルアールへの確認により変更される。</a:t>
            </a:r>
            <a:endParaRPr lang="en-US" sz="900" dirty="0"/>
          </a:p>
        </p:txBody>
      </p:sp>
      <p:pic>
        <p:nvPicPr>
          <p:cNvPr id="1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Kasumigaseki Capital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NLCS神戸 学生寮STOプロジェクト KC参画 稟議資料</dc:title>
  <dc:subject>PptxGenJS Presentation</dc:subject>
  <dc:creator>霞ヶ関キャピタル株式会社</dc:creator>
  <cp:lastModifiedBy>霞ヶ関キャピタル株式会社</cp:lastModifiedBy>
  <cp:revision>1</cp:revision>
  <dcterms:created xsi:type="dcterms:W3CDTF">2026-07-06T02:24:13Z</dcterms:created>
  <dcterms:modified xsi:type="dcterms:W3CDTF">2026-07-06T02:24:13Z</dcterms:modified>
</cp:coreProperties>
</file>
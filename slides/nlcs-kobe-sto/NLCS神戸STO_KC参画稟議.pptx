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c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2148840" cy="576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2860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8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社内稟議資料 ／ 新規事業案件 ／ 緒方様 ご判断用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26974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NLCS神戸 学生寮STOプロジェクト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40080" y="35204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当社（KC）参画に関する稟議 ― 教育 × 不動産 × STO への参入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4206240"/>
            <a:ext cx="3840480" cy="0"/>
          </a:xfrm>
          <a:prstGeom prst="line">
            <a:avLst/>
          </a:prstGeom>
          <a:noFill/>
          <a:ln w="25400">
            <a:solidFill>
              <a:srgbClr val="E5001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11135" y="54406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2026年7月6日</a:t>
            </a:r>
            <a:endParaRPr lang="en-US" sz="11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起案：新規事業／井上　　決裁：緒方 様</a:t>
            </a:r>
            <a:endParaRPr lang="en-US" sz="11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霞ヶ関キャピタル株式会社</a:t>
            </a:r>
            <a:endParaRPr lang="en-US" sz="11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東証プライム（証券コード：3498）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5943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その課題を、価値へ。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07008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384048" cy="384048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848" dirty="0"/>
          </a:p>
        </p:txBody>
      </p:sp>
      <p:sp>
        <p:nvSpPr>
          <p:cNvPr id="6" name="Text 4"/>
          <p:cNvSpPr/>
          <p:nvPr/>
        </p:nvSpPr>
        <p:spPr>
          <a:xfrm>
            <a:off x="1261872" y="13716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稟議事項（緒方様 ご判断用）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11535" y="137160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0911535" cy="0"/>
          </a:xfrm>
          <a:prstGeom prst="line">
            <a:avLst/>
          </a:prstGeom>
          <a:noFill/>
          <a:ln w="9525">
            <a:solidFill>
              <a:srgbClr val="F2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47088"/>
            <a:ext cx="384048" cy="384048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848" dirty="0"/>
          </a:p>
        </p:txBody>
      </p:sp>
      <p:sp>
        <p:nvSpPr>
          <p:cNvPr id="11" name="Text 9"/>
          <p:cNvSpPr/>
          <p:nvPr/>
        </p:nvSpPr>
        <p:spPr>
          <a:xfrm>
            <a:off x="1261872" y="184708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案件概要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11535" y="18470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304288"/>
            <a:ext cx="10911535" cy="0"/>
          </a:xfrm>
          <a:prstGeom prst="line">
            <a:avLst/>
          </a:prstGeom>
          <a:noFill/>
          <a:ln w="9525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322576"/>
            <a:ext cx="384048" cy="384048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22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848" dirty="0"/>
          </a:p>
        </p:txBody>
      </p:sp>
      <p:sp>
        <p:nvSpPr>
          <p:cNvPr id="16" name="Text 14"/>
          <p:cNvSpPr/>
          <p:nvPr/>
        </p:nvSpPr>
        <p:spPr>
          <a:xfrm>
            <a:off x="1261872" y="232257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なぜSTOを組み合わせるか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11535" y="23225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779776"/>
            <a:ext cx="10911535" cy="0"/>
          </a:xfrm>
          <a:prstGeom prst="line">
            <a:avLst/>
          </a:prstGeom>
          <a:noFill/>
          <a:ln w="9525">
            <a:solidFill>
              <a:srgbClr val="F2F2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798064"/>
            <a:ext cx="384048" cy="384048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848" dirty="0"/>
          </a:p>
        </p:txBody>
      </p:sp>
      <p:sp>
        <p:nvSpPr>
          <p:cNvPr id="21" name="Text 19"/>
          <p:cNvSpPr/>
          <p:nvPr/>
        </p:nvSpPr>
        <p:spPr>
          <a:xfrm>
            <a:off x="1261872" y="2798064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KC参画の意義とメリット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11535" y="279806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255264"/>
            <a:ext cx="10911535" cy="0"/>
          </a:xfrm>
          <a:prstGeom prst="line">
            <a:avLst/>
          </a:prstGeom>
          <a:noFill/>
          <a:ln w="9525">
            <a:solidFill>
              <a:srgbClr val="F2F2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273552"/>
            <a:ext cx="384048" cy="384048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848" dirty="0"/>
          </a:p>
        </p:txBody>
      </p:sp>
      <p:sp>
        <p:nvSpPr>
          <p:cNvPr id="26" name="Text 24"/>
          <p:cNvSpPr/>
          <p:nvPr/>
        </p:nvSpPr>
        <p:spPr>
          <a:xfrm>
            <a:off x="1261872" y="32735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事業性・収益の論点（仮試算）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11535" y="32735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3730752"/>
            <a:ext cx="10911535" cy="0"/>
          </a:xfrm>
          <a:prstGeom prst="line">
            <a:avLst/>
          </a:prstGeom>
          <a:noFill/>
          <a:ln w="9525">
            <a:solidFill>
              <a:srgbClr val="F2F2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3749040"/>
            <a:ext cx="384048" cy="384048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848" dirty="0"/>
          </a:p>
        </p:txBody>
      </p:sp>
      <p:sp>
        <p:nvSpPr>
          <p:cNvPr id="31" name="Text 29"/>
          <p:cNvSpPr/>
          <p:nvPr/>
        </p:nvSpPr>
        <p:spPr>
          <a:xfrm>
            <a:off x="1261872" y="37490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事業性検証としての収支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911535" y="37490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4206240"/>
            <a:ext cx="10911535" cy="0"/>
          </a:xfrm>
          <a:prstGeom prst="line">
            <a:avLst/>
          </a:prstGeom>
          <a:noFill/>
          <a:ln w="9525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224528"/>
            <a:ext cx="384048" cy="384048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848" dirty="0"/>
          </a:p>
        </p:txBody>
      </p:sp>
      <p:sp>
        <p:nvSpPr>
          <p:cNvPr id="36" name="Text 34"/>
          <p:cNvSpPr/>
          <p:nvPr/>
        </p:nvSpPr>
        <p:spPr>
          <a:xfrm>
            <a:off x="1261872" y="422452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ストラクチャリングとKC経済性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911535" y="422452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" y="4681728"/>
            <a:ext cx="10911535" cy="0"/>
          </a:xfrm>
          <a:prstGeom prst="line">
            <a:avLst/>
          </a:prstGeom>
          <a:noFill/>
          <a:ln w="9525">
            <a:solidFill>
              <a:srgbClr val="F2F2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4700016"/>
            <a:ext cx="384048" cy="384048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848" dirty="0"/>
          </a:p>
        </p:txBody>
      </p:sp>
      <p:sp>
        <p:nvSpPr>
          <p:cNvPr id="41" name="Text 39"/>
          <p:cNvSpPr/>
          <p:nvPr/>
        </p:nvSpPr>
        <p:spPr>
          <a:xfrm>
            <a:off x="1261872" y="470001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リスクと対応方針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911535" y="470001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0080" y="5157216"/>
            <a:ext cx="10911535" cy="0"/>
          </a:xfrm>
          <a:prstGeom prst="line">
            <a:avLst/>
          </a:prstGeom>
          <a:noFill/>
          <a:ln w="9525">
            <a:solidFill>
              <a:srgbClr val="F2F2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" y="5175504"/>
            <a:ext cx="384048" cy="384048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848" dirty="0"/>
          </a:p>
        </p:txBody>
      </p:sp>
      <p:sp>
        <p:nvSpPr>
          <p:cNvPr id="46" name="Text 44"/>
          <p:cNvSpPr/>
          <p:nvPr/>
        </p:nvSpPr>
        <p:spPr>
          <a:xfrm>
            <a:off x="1261872" y="5175504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補助金制約と確認済事項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911535" y="51755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" y="5632704"/>
            <a:ext cx="10911535" cy="0"/>
          </a:xfrm>
          <a:prstGeom prst="line">
            <a:avLst/>
          </a:prstGeom>
          <a:noFill/>
          <a:ln w="9525">
            <a:solidFill>
              <a:srgbClr val="F2F2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" y="5650992"/>
            <a:ext cx="384048" cy="384048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5650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848" dirty="0"/>
          </a:p>
        </p:txBody>
      </p:sp>
      <p:sp>
        <p:nvSpPr>
          <p:cNvPr id="51" name="Text 49"/>
          <p:cNvSpPr/>
          <p:nvPr/>
        </p:nvSpPr>
        <p:spPr>
          <a:xfrm>
            <a:off x="1261872" y="565099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5カ年スケジュールと決裁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0911535" y="56509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40080" y="6108192"/>
            <a:ext cx="10911535" cy="0"/>
          </a:xfrm>
          <a:prstGeom prst="line">
            <a:avLst/>
          </a:prstGeom>
          <a:noFill/>
          <a:ln w="9525">
            <a:solidFill>
              <a:srgbClr val="F2F2F2"/>
            </a:solidFill>
            <a:prstDash val="solid"/>
          </a:ln>
        </p:spPr>
      </p:sp>
      <p:pic>
        <p:nvPicPr>
          <p:cNvPr id="54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稟議事項 ― 緒方様にご判断いただきたいこと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投資実行の決裁ではなく、今月中に「本格検討に進むか／見送るか」をご判断いただくための資料。当社は初期はアレンジャー参画を想定し、次段階で投資判断を別途付議する。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0911535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837944"/>
            <a:ext cx="402336" cy="402336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6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936" dirty="0"/>
          </a:p>
        </p:txBody>
      </p:sp>
      <p:sp>
        <p:nvSpPr>
          <p:cNvPr id="8" name="Text 6"/>
          <p:cNvSpPr/>
          <p:nvPr/>
        </p:nvSpPr>
        <p:spPr>
          <a:xfrm>
            <a:off x="1508760" y="170992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本件を当社の新規事業案件として正式に検討・推進すること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0" y="1709928"/>
            <a:ext cx="2956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教育×不動産×STOの実証案件として位置付け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523744"/>
            <a:ext cx="10911535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2715768"/>
            <a:ext cx="402336" cy="402336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715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6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936" dirty="0"/>
          </a:p>
        </p:txBody>
      </p:sp>
      <p:sp>
        <p:nvSpPr>
          <p:cNvPr id="13" name="Text 11"/>
          <p:cNvSpPr/>
          <p:nvPr/>
        </p:nvSpPr>
        <p:spPr>
          <a:xfrm>
            <a:off x="1508760" y="2587752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当社の初期スタンスを「アレンジャー型（スキーム検討支援）」とすること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0" y="2587752"/>
            <a:ext cx="2956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資金を大きく張らず、関係者を繋ぎPR・知見を獲得する低リスク形態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401568"/>
            <a:ext cx="10911535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3593592"/>
            <a:ext cx="402336" cy="402336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593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6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936" dirty="0"/>
          </a:p>
        </p:txBody>
      </p:sp>
      <p:sp>
        <p:nvSpPr>
          <p:cNvPr id="18" name="Text 16"/>
          <p:cNvSpPr/>
          <p:nvPr/>
        </p:nvSpPr>
        <p:spPr>
          <a:xfrm>
            <a:off x="1508760" y="3465576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STO事業者・外部専門家（弁護士等）へのヒアリング／相談の実施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3465576"/>
            <a:ext cx="2956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組成可否・CF・担保・補助金・販売可否・金商法論点の精査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10911535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471416"/>
            <a:ext cx="402336" cy="402336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471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36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936" dirty="0"/>
          </a:p>
        </p:txBody>
      </p:sp>
      <p:sp>
        <p:nvSpPr>
          <p:cNvPr id="23" name="Text 21"/>
          <p:cNvSpPr/>
          <p:nvPr/>
        </p:nvSpPr>
        <p:spPr>
          <a:xfrm>
            <a:off x="1508760" y="434340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対外開示・プレスリリースの可能性を含む案件として扱うこと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0" y="4343400"/>
            <a:ext cx="2956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「国内先進事例」としての発信可能性を検証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5175504"/>
            <a:ext cx="10911535" cy="896112"/>
          </a:xfrm>
          <a:prstGeom prst="roundRect">
            <a:avLst>
              <a:gd name="adj" fmla="val 5102"/>
            </a:avLst>
          </a:prstGeom>
          <a:solidFill>
            <a:srgbClr val="FBEDE7"/>
          </a:solidFill>
          <a:ln w="12700">
            <a:solidFill>
              <a:srgbClr val="EE83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175504"/>
            <a:ext cx="104543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ゴール：今月中に「本格検討に進む／見送る」の最終判断。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ご判断の段階：①検討継続の可否　②STO事業者への本格相談の可否　③KCとしての資金関与の可否（③は次段階で別途付議）。</a:t>
            </a:r>
            <a:endParaRPr lang="en-US" sz="1050" dirty="0"/>
          </a:p>
        </p:txBody>
      </p:sp>
      <p:pic>
        <p:nvPicPr>
          <p:cNvPr id="27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エグゼクティブ・サマリー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通常のKCスキームでも検討可能な案件だが、STOを組み合わせることで新しい投資家層・資金調達チャネル・事業領域の知見を獲得できる。まずは低リスクのアレンジャー参画から開始したい。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074920" cy="2788920"/>
          </a:xfrm>
          <a:prstGeom prst="roundRect">
            <a:avLst>
              <a:gd name="adj" fmla="val 1967"/>
            </a:avLst>
          </a:prstGeom>
          <a:solidFill>
            <a:srgbClr val="FBEDE7"/>
          </a:solidFill>
          <a:ln w="12700">
            <a:solidFill>
              <a:srgbClr val="EE83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4617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アレンジャー参画から着手を提案</a:t>
            </a:r>
            <a:endParaRPr lang="en-US" sz="15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教育×不動産×STOはKCのブランド・新規事業戦略に合致。</a:t>
            </a:r>
            <a:endParaRPr lang="en-US" sz="15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STO組成ノウハウを獲得し、他アセット（ホテル・物流・ヘルスケア等）へ横展開可能。</a:t>
            </a:r>
            <a:endParaRPr lang="en-US" sz="15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初期は低リスクのアレンジャー型。投資判断は論点精査後に次段階で付議。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89320" y="1645920"/>
            <a:ext cx="28803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26480" y="17556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案件規模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08192" y="2029968"/>
            <a:ext cx="2642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26480" y="25786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億円 ／ STO組成のミニマム水準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125712" y="1645920"/>
            <a:ext cx="28803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262872" y="17556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想定利回り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244584" y="2029968"/>
            <a:ext cx="2642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8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62872" y="25786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％ ／ 原資はCF精査が必要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89320" y="3118104"/>
            <a:ext cx="28803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32278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対象アセット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08192" y="3502152"/>
            <a:ext cx="2642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学生寮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26480" y="40507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＋任意追加施設（六甲山・NLCS神戸）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125712" y="3118104"/>
            <a:ext cx="288036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62872" y="32278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KC初期スタンス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44584" y="3502152"/>
            <a:ext cx="2642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アレンジャー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62872" y="40507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低リスク・スキーム検討支援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" y="4663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案件規模・利回りは初期情報に基づく仮置き。STO事業者・八光エルアールへの確認により精緻化する。</a:t>
            </a:r>
            <a:endParaRPr lang="en-US" sz="900" dirty="0"/>
          </a:p>
        </p:txBody>
      </p:sp>
      <p:pic>
        <p:nvPicPr>
          <p:cNvPr id="25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3960" dirty="0"/>
          </a:p>
        </p:txBody>
      </p:sp>
      <p:sp>
        <p:nvSpPr>
          <p:cNvPr id="4" name="Text 2"/>
          <p:cNvSpPr/>
          <p:nvPr/>
        </p:nvSpPr>
        <p:spPr>
          <a:xfrm>
            <a:off x="1783080" y="2651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案件概要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783080" y="3611880"/>
            <a:ext cx="50292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83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/ 10</a:t>
            </a:r>
            <a:endParaRPr lang="en-US" sz="1100" dirty="0"/>
          </a:p>
        </p:txBody>
      </p:sp>
      <p:pic>
        <p:nvPicPr>
          <p:cNvPr id="7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案件概要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NLCS神戸は六甲山に開校予定の国際ボーディングスクール（North London Collegiate School Kobe）。その学生寮・関連施設を対象に、STOを活用した資金調達を検討する。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40280" y="16916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NLCS神戸 学生寮・関連施設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167128"/>
            <a:ext cx="5577840" cy="0"/>
          </a:xfrm>
          <a:prstGeom prst="line">
            <a:avLst/>
          </a:prstGeom>
          <a:noFill/>
          <a:ln w="9525">
            <a:solidFill>
              <a:srgbClr val="F2F2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7685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227685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兵庫県神戸市・六甲山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752344"/>
            <a:ext cx="5577840" cy="0"/>
          </a:xfrm>
          <a:prstGeom prst="line">
            <a:avLst/>
          </a:prstGeom>
          <a:noFill/>
          <a:ln w="9525">
            <a:solidFill>
              <a:srgbClr val="F2F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6207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事業主体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0280" y="286207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八光エルアール株式会社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5577840" cy="0"/>
          </a:xfrm>
          <a:prstGeom prst="line">
            <a:avLst/>
          </a:prstGeom>
          <a:noFill/>
          <a:ln w="9525">
            <a:solidFill>
              <a:srgbClr val="F2F2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4728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案件規模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344728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約20億円（STO組成のミニマム水準）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922776"/>
            <a:ext cx="5577840" cy="0"/>
          </a:xfrm>
          <a:prstGeom prst="line">
            <a:avLst/>
          </a:prstGeom>
          <a:noFill/>
          <a:ln w="9525">
            <a:solidFill>
              <a:srgbClr val="F2F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3250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想定利回り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403250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7％（原資はCF精査が必要）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507992"/>
            <a:ext cx="5577840" cy="0"/>
          </a:xfrm>
          <a:prstGeom prst="line">
            <a:avLst/>
          </a:prstGeom>
          <a:noFill/>
          <a:ln w="9525">
            <a:solidFill>
              <a:srgbClr val="F2F2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617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上位構想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40280" y="4617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寄付・投資・ネーミングライツ・卒業生基金を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組み合わせた教育エコシステム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257800"/>
            <a:ext cx="5577840" cy="0"/>
          </a:xfrm>
          <a:prstGeom prst="line">
            <a:avLst/>
          </a:prstGeom>
          <a:noFill/>
          <a:ln w="9525">
            <a:solidFill>
              <a:srgbClr val="F2F2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主要関係者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011680"/>
          <a:ext cx="5013655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2278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関係者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八光エルアール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事業主体。NLCS神戸の開発・運営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当社（KC）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資金・ブランド・調達支援、スキーム検討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STO事業者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デジタル証券・Progmat等（組成・販売候補）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投資家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国内外富裕層・保護者・神戸富裕層・財団関係者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NLCS Kobe Foundation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（構想）寄付・奨学金・ネーミングライツの受け皿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5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3960" dirty="0"/>
          </a:p>
        </p:txBody>
      </p:sp>
      <p:sp>
        <p:nvSpPr>
          <p:cNvPr id="4" name="Text 2"/>
          <p:cNvSpPr/>
          <p:nvPr/>
        </p:nvSpPr>
        <p:spPr>
          <a:xfrm>
            <a:off x="1783080" y="2651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なぜSTOを組み合わせるか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783080" y="3611880"/>
            <a:ext cx="50292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83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/ 10</a:t>
            </a:r>
            <a:endParaRPr lang="en-US" sz="1100" dirty="0"/>
          </a:p>
        </p:txBody>
      </p:sp>
      <p:pic>
        <p:nvPicPr>
          <p:cNvPr id="7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なぜKC通常スキームにSTOを組み合わせるのか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通常スキームでも資金調達は可能だが投資家層が機関・法人に偏る。STOを重ねることで投資家層の拡大と、教育支援・地域貢献という社会的意義の付与が可能になる。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通常スキーム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1965960" cy="777240"/>
          </a:xfrm>
          <a:prstGeom prst="roundRect">
            <a:avLst>
              <a:gd name="adj" fmla="val 5882"/>
            </a:avLst>
          </a:prstGeom>
          <a:solidFill>
            <a:srgbClr val="F2F2F2"/>
          </a:solidFill>
          <a:ln w="1397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057400"/>
            <a:ext cx="17830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KC／金融機関／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法人投資家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24328" y="2446020"/>
            <a:ext cx="310896" cy="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53512" y="2057400"/>
            <a:ext cx="1965960" cy="777240"/>
          </a:xfrm>
          <a:prstGeom prst="roundRect">
            <a:avLst>
              <a:gd name="adj" fmla="val 5882"/>
            </a:avLst>
          </a:prstGeom>
          <a:solidFill>
            <a:srgbClr val="F2F2F2"/>
          </a:solidFill>
          <a:ln w="1397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44952" y="2057400"/>
            <a:ext cx="17830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37760" y="2446020"/>
            <a:ext cx="310896" cy="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266944" y="2057400"/>
            <a:ext cx="1965960" cy="777240"/>
          </a:xfrm>
          <a:prstGeom prst="roundRect">
            <a:avLst>
              <a:gd name="adj" fmla="val 5882"/>
            </a:avLst>
          </a:prstGeom>
          <a:solidFill>
            <a:srgbClr val="F2F2F2"/>
          </a:solidFill>
          <a:ln w="1397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58384" y="2057400"/>
            <a:ext cx="17830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八光エルアール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51192" y="2446020"/>
            <a:ext cx="310896" cy="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80376" y="2057400"/>
            <a:ext cx="1965960" cy="777240"/>
          </a:xfrm>
          <a:prstGeom prst="roundRect">
            <a:avLst>
              <a:gd name="adj" fmla="val 5882"/>
            </a:avLst>
          </a:prstGeom>
          <a:solidFill>
            <a:srgbClr val="F2F2F2"/>
          </a:solidFill>
          <a:ln w="1397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71816" y="2057400"/>
            <a:ext cx="17830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建設・運営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564624" y="2446020"/>
            <a:ext cx="310896" cy="0"/>
          </a:xfrm>
          <a:prstGeom prst="line">
            <a:avLst/>
          </a:prstGeom>
          <a:noFill/>
          <a:ln w="19050">
            <a:solidFill>
              <a:srgbClr val="6E6E6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893808" y="2057400"/>
            <a:ext cx="1965960" cy="777240"/>
          </a:xfrm>
          <a:prstGeom prst="roundRect">
            <a:avLst>
              <a:gd name="adj" fmla="val 5882"/>
            </a:avLst>
          </a:prstGeom>
          <a:solidFill>
            <a:srgbClr val="F2F2F2"/>
          </a:solidFill>
          <a:ln w="1397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985248" y="2057400"/>
            <a:ext cx="17830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賃料・寮費収入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288036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投資家層は金融機関・法人・機関投資家に偏りやすい。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STOを組み合わせた場合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160520"/>
            <a:ext cx="2834640" cy="777240"/>
          </a:xfrm>
          <a:prstGeom prst="roundRect">
            <a:avLst>
              <a:gd name="adj" fmla="val 5882"/>
            </a:avLst>
          </a:prstGeom>
          <a:solidFill>
            <a:srgbClr val="F2F2F2"/>
          </a:solidFill>
          <a:ln w="1397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4160520"/>
            <a:ext cx="26517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KC通常スキーム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41605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023360" y="4160520"/>
            <a:ext cx="2926080" cy="777240"/>
          </a:xfrm>
          <a:prstGeom prst="roundRect">
            <a:avLst>
              <a:gd name="adj" fmla="val 5882"/>
            </a:avLst>
          </a:prstGeom>
          <a:solidFill>
            <a:srgbClr val="FBEDE7"/>
          </a:solidFill>
          <a:ln w="13970">
            <a:solidFill>
              <a:srgbClr val="EE83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0" y="4160520"/>
            <a:ext cx="274320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STOファンド／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デジタル証券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95160" y="4549140"/>
            <a:ext cx="310896" cy="0"/>
          </a:xfrm>
          <a:prstGeom prst="line">
            <a:avLst/>
          </a:prstGeom>
          <a:noFill/>
          <a:ln w="19050">
            <a:solidFill>
              <a:srgbClr val="EE835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360920" y="4160520"/>
            <a:ext cx="21945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3970">
            <a:solidFill>
              <a:srgbClr val="EE83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52360" y="4160520"/>
            <a:ext cx="20116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国内外富裕層・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保護者・地域投資家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601200" y="4549140"/>
            <a:ext cx="310896" cy="0"/>
          </a:xfrm>
          <a:prstGeom prst="line">
            <a:avLst/>
          </a:prstGeom>
          <a:noFill/>
          <a:ln w="19050">
            <a:solidFill>
              <a:srgbClr val="EE835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966960" y="4160520"/>
            <a:ext cx="1581912" cy="777240"/>
          </a:xfrm>
          <a:prstGeom prst="roundRect">
            <a:avLst>
              <a:gd name="adj" fmla="val 5882"/>
            </a:avLst>
          </a:prstGeom>
          <a:solidFill>
            <a:srgbClr val="E50012"/>
          </a:solidFill>
          <a:ln w="13970">
            <a:solidFill>
              <a:srgbClr val="E5001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058400" y="4160520"/>
            <a:ext cx="1399032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教育支援性を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持つ投資商品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" y="5029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投資単位の小口化と投資家層の拡大、社会的意義の付与が可能。</a:t>
            </a:r>
            <a:endParaRPr lang="en-US" sz="1050" dirty="0"/>
          </a:p>
        </p:txBody>
      </p:sp>
      <p:pic>
        <p:nvPicPr>
          <p:cNvPr id="34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STO市場と先行事例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国内のST（デジタル証券）市場は拡大局面。学生レジデンスを対象とした不動産STは既に存在するため「日本初」は用いず「国内先進事例」と位置付ける。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市場の拡大（出典付き参考値）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214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国内ST 発行累計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約2,628</a:t>
            </a:r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億円 ／ 68件（Progmat・2025年8月）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40080" y="3035808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1455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Progmat 発行額シェア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4198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8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約62</a:t>
            </a:r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％（国内最大の組成基盤）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5212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1696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公募ST市場 FY2025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4439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約2倍</a:t>
            </a:r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約1,684→約3,333億円（BOOSTRY総括）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355080" y="1691640"/>
            <a:ext cx="5196535" cy="4160520"/>
          </a:xfrm>
          <a:prstGeom prst="roundRect">
            <a:avLst>
              <a:gd name="adj" fmla="val 1319"/>
            </a:avLst>
          </a:prstGeom>
          <a:solidFill>
            <a:srgbClr val="F2F2F2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8105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先行事例と本件の位置付け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148840"/>
            <a:ext cx="473933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国内初の公募不動産ST：ケネディクス渋谷神南（2021年）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アセット多様化：ホテル・旅館・物流・住宅／福祉貢献型など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学生レジデンスST：2024年1月に既発（約35億円／AM=DREAM・三菱UFJ信託・大和証券）→「日本初」は主張不可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本件の位置付け：国際ボーディングスクール学生寮は事例の限られる先進的アセットタイプ</a:t>
            </a:r>
            <a:endParaRPr lang="en-US" sz="10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流動性：セカンダリ（ODX「START」・ASTOMO）は稼働も出来高は限定的 → 出口は保守的に想定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54406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8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数値は出典（Progmat／BOOSTRY／各社開示）に基づく参考値。最終稟議版で一次レポートを再確認。</a:t>
            </a:r>
            <a:endParaRPr lang="en-US" sz="850" dirty="0"/>
          </a:p>
        </p:txBody>
      </p:sp>
      <p:pic>
        <p:nvPicPr>
          <p:cNvPr id="19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3960" dirty="0"/>
          </a:p>
        </p:txBody>
      </p:sp>
      <p:sp>
        <p:nvSpPr>
          <p:cNvPr id="4" name="Text 2"/>
          <p:cNvSpPr/>
          <p:nvPr/>
        </p:nvSpPr>
        <p:spPr>
          <a:xfrm>
            <a:off x="1783080" y="2651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KC参画の意義とメリット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783080" y="3611880"/>
            <a:ext cx="50292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83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/ 10</a:t>
            </a:r>
            <a:endParaRPr lang="en-US" sz="1100" dirty="0"/>
          </a:p>
        </p:txBody>
      </p:sp>
      <p:pic>
        <p:nvPicPr>
          <p:cNvPr id="7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KC参画の意義とメリット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本件は「20億円規模の投資案件」としてだけでなく、KCの新規事業開発・ブランド戦略・金融DXの実証案件として意義を持つ。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27288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830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PR・ブランド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176272"/>
            <a:ext cx="4815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教育×不動産×STOの新規性を対外発信（金融・不動産・教育メディア等）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78728" y="1645920"/>
            <a:ext cx="5272888" cy="1234440"/>
          </a:xfrm>
          <a:prstGeom prst="rect">
            <a:avLst/>
          </a:prstGeom>
          <a:solidFill>
            <a:srgbClr val="FBEDE7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07328" y="178308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事業開発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07328" y="2176272"/>
            <a:ext cx="4815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STO組成ノウハウ（信託・SPC・金商法・KYC/AML・販売）を獲得し他アセットへ展開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527288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2004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投資家開拓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3593592"/>
            <a:ext cx="4815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海外富裕層・保護者・神戸富裕層・卒業生など新たな投資家層に接続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8728" y="3063240"/>
            <a:ext cx="5272888" cy="1234440"/>
          </a:xfrm>
          <a:prstGeom prst="rect">
            <a:avLst/>
          </a:prstGeom>
          <a:solidFill>
            <a:srgbClr val="FBEDE7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07328" y="320040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協業関係構築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07328" y="3593592"/>
            <a:ext cx="4815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デジタル証券・Progmat等STO事業者との実務ネットワークを獲得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527288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61772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ESG／インパクト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8680" y="5010912"/>
            <a:ext cx="4815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教育支援・地域貢献・次世代人材育成として説明可能な投資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78728" y="4480560"/>
            <a:ext cx="5272888" cy="1234440"/>
          </a:xfrm>
          <a:prstGeom prst="rect">
            <a:avLst/>
          </a:prstGeom>
          <a:solidFill>
            <a:srgbClr val="FBEDE7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07328" y="4617720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将来展開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07328" y="5010912"/>
            <a:ext cx="4815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ホテル・物流・ヘルスケア・地域開発・DC等への横展開の実証機会</a:t>
            </a:r>
            <a:endParaRPr lang="en-US" sz="1050" dirty="0"/>
          </a:p>
        </p:txBody>
      </p:sp>
      <p:pic>
        <p:nvPicPr>
          <p:cNvPr id="23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3960" dirty="0"/>
          </a:p>
        </p:txBody>
      </p:sp>
      <p:sp>
        <p:nvSpPr>
          <p:cNvPr id="4" name="Text 2"/>
          <p:cNvSpPr/>
          <p:nvPr/>
        </p:nvSpPr>
        <p:spPr>
          <a:xfrm>
            <a:off x="1783080" y="2651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事業性・収益の論点（仮試算）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783080" y="3611880"/>
            <a:ext cx="50292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83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/ 10</a:t>
            </a:r>
            <a:endParaRPr lang="en-US" sz="1100" dirty="0"/>
          </a:p>
        </p:txBody>
      </p:sp>
      <p:pic>
        <p:nvPicPr>
          <p:cNvPr id="7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事業性①｜学生寮収支の現状整理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寮単体の正式な収支シミュレーションは未作成。ただし確認済みの前提を用いれば、稟議用の仮試算・逆算は現時点でも作成できる。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074920" cy="2331720"/>
          </a:xfrm>
          <a:prstGeom prst="roundRect">
            <a:avLst>
              <a:gd name="adj" fmla="val 2353"/>
            </a:avLst>
          </a:prstGeom>
          <a:solidFill>
            <a:srgbClr val="FBEDE7"/>
          </a:solidFill>
          <a:ln w="12700">
            <a:solidFill>
              <a:srgbClr val="EE83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556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現状の整理（7/6 吉村レンニ氏の確認）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「学生寮収入700万円」の母体を確認 → 実態は顧客単価 1人あたり年間350万円。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そこから食費・運営人件費等の原価と、八光LRの利益を控除した後に投資配当原資が出る構造。</a:t>
            </a:r>
            <a:endParaRPr lang="en-US" sz="10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「寮単体の収支はまだできていない」と明言（6/25時点でも学費全体と寮単体は未分離）。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現時点で仮試算に使える情報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965960"/>
          <a:ext cx="5577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現時点の情報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試算での使い方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8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顧客単価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1人あたり 年間350万円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年間売上の上限試算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収容人数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110名宿泊可能（前提）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満室時売上の試算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教員室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5名／5室の扱いが論点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課金対象からの除外可能性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旧前提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年間収入700万円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売上/NOI不明・扱い注意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投資家利回り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年7％前提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必要配当原資の逆算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ST手数料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約4％（調整可）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初期コスト／グロスアップ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STO規模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20億円程度がミニマム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単体で規模が足りるか要確認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事業性②｜年間売上の上限試算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確認済みの「1人350万円」を用いた満室時の年間粗売上。ただしこれは売上の上限であり、投資家配当原資ではない。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54298" cy="1828800"/>
          </a:xfrm>
          <a:prstGeom prst="rect">
            <a:avLst/>
          </a:prstGeom>
          <a:solidFill>
            <a:srgbClr val="FBEDE7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47672"/>
            <a:ext cx="308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110名全員が課金対象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350万円 × 110名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3.85億円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368698" y="1783080"/>
            <a:ext cx="34542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1578" y="1947672"/>
            <a:ext cx="308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教員5名を除く105名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51578" y="256032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350万円 × 105名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51578" y="283464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8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3.675億円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097317" y="1783080"/>
            <a:ext cx="345429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80197" y="1947672"/>
            <a:ext cx="308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保守的に100名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80197" y="2560320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350万円 × 100名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80197" y="2834640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3.5億円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10911535" cy="73152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88620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注意：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これは売上の上限。ここから食費・運営人件費等の原価と八光LRの利益を控除した後に、投資配当に回せる金額が出る。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8006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NLCS神戸の六甲山・寄宿舎キャンパスは2028年8月開校予定（公開情報）。寄宿舎定員は非公開のため「110名」は社内前提であり、稼働率・入寮率の設定が別途必要。</a:t>
            </a:r>
            <a:endParaRPr lang="en-US" sz="900" dirty="0"/>
          </a:p>
        </p:txBody>
      </p:sp>
      <p:pic>
        <p:nvPicPr>
          <p:cNvPr id="20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事業性③｜投資家配当原資の逆算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年利7％を前提とすると、調達額に応じ必要な年間配当原資が決まる。売上のうち何％を分配に回せるかが成立性の目線。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調達額別｜年7％で必要な年間配当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49377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調達額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年間必要配当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8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1.40億円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18億円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1.26億円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7,000万円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3,500万円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700万円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709160"/>
            <a:ext cx="4937760" cy="914400"/>
          </a:xfrm>
          <a:prstGeom prst="roundRect">
            <a:avLst>
              <a:gd name="adj" fmla="val 5000"/>
            </a:avLst>
          </a:prstGeom>
          <a:solidFill>
            <a:srgbClr val="FBEDE7"/>
          </a:solidFill>
          <a:ln w="12700">
            <a:solidFill>
              <a:srgbClr val="EE83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7091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もし「700万円」が寮単体の分配可能CFなら、年7％で支えられる調達額は約1億円に留まる。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43600" y="16916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必要な分配可能率（20億円・年7％＝1.4億円）</a:t>
            </a:r>
            <a:endParaRPr lang="en-US" sz="11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011680"/>
          <a:ext cx="5577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稼働率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年間粗売上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必要分配可能率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8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3.85億円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36.4%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3.465億円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40.4%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80%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3.08億円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45.5%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943600" y="40233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売上の36.4％以上を投資家配当原資として残せるかが、20億円STO成立の一つの目線。</a:t>
            </a:r>
            <a:endParaRPr lang="en-US" sz="1050" dirty="0"/>
          </a:p>
        </p:txBody>
      </p:sp>
      <p:pic>
        <p:nvPicPr>
          <p:cNvPr id="12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事業性④｜感度分析と手数料の影響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分配可能率と稼働率で調達可能額を逆算。満室に近く分配率35〜40％を確保できれば18〜20億円規模の説明余地がある。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分配可能率別｜調達可能額（単価350万・110名・年7％）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2468880"/>
                <a:gridCol w="2468880"/>
                <a:gridCol w="249631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稼働率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粗売上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分配率30％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分配率35％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分配率40％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8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80%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3.08億円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約13.2億円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約15.4億円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約17.6億円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90%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3.465億円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約14.85億円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約17.33億円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約19.8億円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100%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3.85億円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約16.5億円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約19.25億円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約22.0億円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977640"/>
            <a:ext cx="6720840" cy="1325880"/>
          </a:xfrm>
          <a:prstGeom prst="roundRect">
            <a:avLst>
              <a:gd name="adj" fmla="val 4138"/>
            </a:avLst>
          </a:prstGeom>
          <a:solidFill>
            <a:srgbClr val="F2F2F2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示唆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4370832"/>
            <a:ext cx="6355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満室に近く、分配可能率35〜40％を確保できれば18〜20億円規模の説明余地。</a:t>
            </a:r>
            <a:endParaRPr lang="en-US" sz="10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分配率30％程度なら20億円はやや厳しく、追加施設・学校全体CF・固定賃料・保証・Foundation連動での補完が必要。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589520" y="3977640"/>
            <a:ext cx="3962095" cy="1325880"/>
          </a:xfrm>
          <a:prstGeom prst="roundRect">
            <a:avLst>
              <a:gd name="adj" fmla="val 4138"/>
            </a:avLst>
          </a:prstGeom>
          <a:solidFill>
            <a:srgbClr val="FBEDE7"/>
          </a:solidFill>
          <a:ln w="12700">
            <a:solidFill>
              <a:srgbClr val="EE83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手数料4％の影響（仮置き・要確認）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72400" y="4389120"/>
            <a:ext cx="3504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20億円発行時の4％手数料 ＝ 8,000万円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手取り20億円の確保には約20.83億円の発行が必要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54406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デジタル証券：固定賃のみは厳しくCPI／固都税連動の変動賃料を推奨。18〜20億円が組成検討ライン、手数料は案件に応じ調整可。</a:t>
            </a:r>
            <a:endParaRPr lang="en-US" sz="900" dirty="0"/>
          </a:p>
        </p:txBody>
      </p:sp>
      <p:pic>
        <p:nvPicPr>
          <p:cNvPr id="14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事業性⑤｜追加確認事項と結論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正式な寮単体PLの確定には以下が不足。八光LR（池田社長）へ最優先で確認する。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不足している情報</a:t>
            </a:r>
            <a:endParaRPr lang="en-US" sz="11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56692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4709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区分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不足情報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350万は寮費のみか学費込みか／課金対象人数（教員5名）／稼働率・入寮率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費用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食費・寮運営人件費・水光熱・清掃警備・修繕・保険・PM・固都税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利益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八光LRとして残す利益水準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投資額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学生寮部分（寄宿舎EF棟）の施工費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契約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寮収入の帰属と分配主体／学校・八光LR・SPC間の賃料・ML契約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46520" y="1645920"/>
            <a:ext cx="5105095" cy="3246120"/>
          </a:xfrm>
          <a:prstGeom prst="roundRect">
            <a:avLst>
              <a:gd name="adj" fmla="val 1690"/>
            </a:avLst>
          </a:prstGeom>
          <a:solidFill>
            <a:srgbClr val="FBEDE7"/>
          </a:solidFill>
          <a:ln w="12700">
            <a:solidFill>
              <a:srgbClr val="EE83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現時点の結論（資料反映方針）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675120" y="2103120"/>
            <a:ext cx="4647895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寮単体の正式PLは未確定であり、投資判断に足る数値は未整備。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一方、単価350万円・最大110名を置くと満室時の年間粗売上は最大 約3.85億円。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20億円STO・年7％には年1.4億円の配当原資が必要 → 売上の約36.4％以上を分配可能CFとして確保できるかが成立の目線。</a:t>
            </a:r>
            <a:endParaRPr lang="en-US" sz="10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今後の確認ポイント：原価・八光LR利益・寮施工費・賃料設計・稼働率。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537667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八光LR（池田社長）確認事項：①350万の内訳 ②課金対象人数 ③700万の定義 ④年間原価 ⑤八光LR利益水準 ⑥寮施工費 ⑦賃料・保証設計 ⑧初年度〜3年目の入寮率</a:t>
            </a:r>
            <a:endParaRPr lang="en-US" sz="950" dirty="0"/>
          </a:p>
        </p:txBody>
      </p:sp>
      <p:pic>
        <p:nvPicPr>
          <p:cNvPr id="11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3960" dirty="0"/>
          </a:p>
        </p:txBody>
      </p:sp>
      <p:sp>
        <p:nvSpPr>
          <p:cNvPr id="4" name="Text 2"/>
          <p:cNvSpPr/>
          <p:nvPr/>
        </p:nvSpPr>
        <p:spPr>
          <a:xfrm>
            <a:off x="1783080" y="2651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事業性検証としての収支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783080" y="3611880"/>
            <a:ext cx="50292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83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/ 10</a:t>
            </a:r>
            <a:endParaRPr lang="en-US" sz="1100" dirty="0"/>
          </a:p>
        </p:txBody>
      </p:sp>
      <p:pic>
        <p:nvPicPr>
          <p:cNvPr id="7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事業性検証｜寮単体 簡易PL（枠）と前提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KCフィーが未定のため確定値ではなくシナリオ前提で提示。寮単体PLの枠と、各項目の確度（確認済／仮置き／要確認）を明確にする。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寮単体 簡易PL（枠）</a:t>
            </a:r>
            <a:endParaRPr lang="en-US" sz="11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58064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108960"/>
                <a:gridCol w="1005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確度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8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売上（寮）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最大 約3.85億円（350万×110名）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E6E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仮置き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　課金対象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110名・教員5名の扱いは論点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500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要確認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寮運営原価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食費・人件費・水光熱・修繕・保険等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500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未確認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＝ NOI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―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500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未確認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八光LR利益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八光LRが残す利益水準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500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未確認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＝ 分配可能CF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投資家へ回せるCF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5001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要算定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 ST手数料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約4％（調整可）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E6E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仮置き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→ 投資家分配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年7％＝調達20億で1.4億円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E835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前提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0" y="1645920"/>
            <a:ext cx="4967935" cy="4160520"/>
          </a:xfrm>
          <a:prstGeom prst="roundRect">
            <a:avLst>
              <a:gd name="adj" fmla="val 1319"/>
            </a:avLst>
          </a:prstGeom>
          <a:solidFill>
            <a:srgbClr val="FBEDE7"/>
          </a:solidFill>
          <a:ln w="12700">
            <a:solidFill>
              <a:srgbClr val="EE83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12280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前提の確度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12280" y="2103120"/>
            <a:ext cx="4510735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EE83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確認済：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顧客単価350万円／収容110名（前提）／利回り7％前提／手数料4％（調整可）／STO規模20億円ミニマム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仮置き：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満室時売上上限3.85億円／手数料控除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要確認：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課金対象人数（教員5名）／寮運営原価／NOI／八光LR利益／不足時補填／寮施工費（EF棟）</a:t>
            </a:r>
            <a:endParaRPr lang="en-US" sz="1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00" i="1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「年700万円」の定義（売上／NOI／分配後）が確定すれば、上記PLの枠が埋まる。</a:t>
            </a:r>
            <a:endParaRPr lang="en-US" sz="1000" dirty="0"/>
          </a:p>
        </p:txBody>
      </p:sp>
      <p:pic>
        <p:nvPicPr>
          <p:cNvPr id="10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3960" dirty="0"/>
          </a:p>
        </p:txBody>
      </p:sp>
      <p:sp>
        <p:nvSpPr>
          <p:cNvPr id="4" name="Text 2"/>
          <p:cNvSpPr/>
          <p:nvPr/>
        </p:nvSpPr>
        <p:spPr>
          <a:xfrm>
            <a:off x="1783080" y="2651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ストラクチャリングとKC経済性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783080" y="3611880"/>
            <a:ext cx="50292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83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/ 10</a:t>
            </a:r>
            <a:endParaRPr lang="en-US" sz="1100" dirty="0"/>
          </a:p>
        </p:txBody>
      </p:sp>
      <p:pic>
        <p:nvPicPr>
          <p:cNvPr id="7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参画ストラクチャー ― 3案比較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KCの参画主体は未確定。六甲山山上事業全体にはKC本体、学生寮部分はKCリートでの参画可能性。現時点はアレンジャー型から着手を推奨。</a:t>
            </a:r>
            <a:endParaRPr lang="en-US" sz="11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1153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657600"/>
                <a:gridCol w="2377440"/>
                <a:gridCol w="24048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KCメリット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主な論点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8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A：KCアレンジャー型　◎推奨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資金を大きく張らず、デジタル証券・八光LR・投資家の調整役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フィー収入・PR・STO知見獲得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キャッシュメリットが小さい可能性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B：KCブリッジ型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一時的に資金を出し、後からSTO・リート・投資家資金で回収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収益機会・案件主導権・スピード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担保・回収時期・補助金制約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C：KCリート／SPC参画型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学生寮部分をKCリート／別SPCで保有・関与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アセット化・継続収益・横展開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リート適格性・利回り・寮運営リスク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754880"/>
            <a:ext cx="10911535" cy="118872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4846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STO設計の論点（デジタル証券 確認済）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5138928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物件20億円がミニマム／補助対象外資産に限定した組成は可能／借地権も条件次第で裏付け可／学生寮＋任意追加施設の一本化は可能／固定賃のみは厳しくCPI・固都税連動が必要。 → 論点：①学生寮単体で規模が足りるか ②追加施設で20億規模にするか ③変動賃料をどう入れるか。</a:t>
            </a:r>
            <a:endParaRPr lang="en-US" sz="1000" dirty="0"/>
          </a:p>
        </p:txBody>
      </p:sp>
      <p:pic>
        <p:nvPicPr>
          <p:cNvPr id="9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KC経済性シナリオ（KC報酬は未定・仮置き）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KCフィー／報酬水準はリート側・KC側で議論中のため未定。立場別に収益の考え方を整理し、リート側確認後に数値を確定する。</a:t>
            </a:r>
            <a:endParaRPr lang="en-US" sz="11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7040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301752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ケース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KCの立場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KC収益の考え方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数値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8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Case 1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アレンジャー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調達額 × 一定料率のアレンジフィー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E6E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リート側確認後に確定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Case 2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ブリッジローン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貸付元本 × 金利 ＋ 手数料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E6E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リート側確認後に確定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Case 3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リート／SPC参画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出資持分に応じた配当・NOI分配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E6E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リート側確認後に確定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Case 4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ハイブリッド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アレンジフィー ＋ 一部出資リターン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6E6E6E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リート側確認後に確定</a:t>
                      </a:r>
                      <a:endParaRPr lang="en-US" sz="9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909560" y="1645920"/>
            <a:ext cx="3642055" cy="3200400"/>
          </a:xfrm>
          <a:prstGeom prst="roundRect">
            <a:avLst>
              <a:gd name="adj" fmla="val 1714"/>
            </a:avLst>
          </a:prstGeom>
          <a:solidFill>
            <a:srgbClr val="FBEDE7"/>
          </a:solidFill>
          <a:ln w="12700">
            <a:solidFill>
              <a:srgbClr val="EE83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38160" y="1755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リート側 確認待ち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138160" y="2103120"/>
            <a:ext cx="336773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KCフィー／報酬水準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参画主体：KC本体か KCリートか</a:t>
            </a:r>
            <a:endParaRPr lang="en-US" sz="1000" dirty="0"/>
          </a:p>
          <a:p>
            <a:pPr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リート側の収益目線（目標利回り）</a:t>
            </a:r>
            <a:endParaRPr lang="en-US" sz="100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寮アセットのリート適格性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50749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方向性：KCは六甲山山上事業全体に関与の意向。学生寮部分はKCリートでの参画可能性あり（二層構造で仮置き）。</a:t>
            </a:r>
            <a:endParaRPr lang="en-US" sz="1000" dirty="0"/>
          </a:p>
        </p:txBody>
      </p:sp>
      <p:pic>
        <p:nvPicPr>
          <p:cNvPr id="10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3960" dirty="0"/>
          </a:p>
        </p:txBody>
      </p:sp>
      <p:sp>
        <p:nvSpPr>
          <p:cNvPr id="4" name="Text 2"/>
          <p:cNvSpPr/>
          <p:nvPr/>
        </p:nvSpPr>
        <p:spPr>
          <a:xfrm>
            <a:off x="1783080" y="2651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リスクと対応方針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783080" y="3611880"/>
            <a:ext cx="50292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83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 / 10</a:t>
            </a:r>
            <a:endParaRPr lang="en-US" sz="1100" dirty="0"/>
          </a:p>
        </p:txBody>
      </p:sp>
      <p:pic>
        <p:nvPicPr>
          <p:cNvPr id="7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リスクと対応方針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主要リスクは特定済みで、いずれも初期段階（アレンジャー参画）では顕在化しにくく、事前確認・専門家相談により管理可能。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1153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405079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リスク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対応方針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8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補助金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議決権・担保設定・資金流次第で補助金返還リスク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法務・補助金事務局へ確認（一部確認済・後述）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CF（収益）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寮収入（年700万円）のみでは7％の原資が不足の可能性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学校全体CF・固定／変動賃料設計を確認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販売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STO投資家が想定通り集まらない可能性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投資家ターゲットを事前ヒアリング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法務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金商法・海外販売規制・KYC/AML対応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STO事業者・弁護士へ確認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担保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補助対象財産への抵当権設定は事前承認が必要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事前承認手続き・代替担保を検討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PR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「日本初」表現の誤認（学生用不動産STOの先行事例あり）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「国内先進事例」等の表現に統一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実行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STO組成に時間・コストを要する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早期にSTO事業者へ打診し見積取得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3960" dirty="0"/>
          </a:p>
        </p:txBody>
      </p:sp>
      <p:sp>
        <p:nvSpPr>
          <p:cNvPr id="4" name="Text 2"/>
          <p:cNvSpPr/>
          <p:nvPr/>
        </p:nvSpPr>
        <p:spPr>
          <a:xfrm>
            <a:off x="1783080" y="2651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補助金制約と確認済事項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783080" y="3611880"/>
            <a:ext cx="50292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83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 / 10</a:t>
            </a:r>
            <a:endParaRPr lang="en-US" sz="1100" dirty="0"/>
          </a:p>
        </p:txBody>
      </p:sp>
      <p:pic>
        <p:nvPicPr>
          <p:cNvPr id="7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補助金制約と確認済事項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対象は「大規模成長投資補助金」（経産省）。八光LR・補助金事務局への確認により、資金の流れと担保の実務条件は概ね整理済み。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補助金上の主要制約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5349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対象：中堅・中小企業の賃上げに向けた省力化等の大規模成長投資補助金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八光エルアールが議決権50％超を維持する必要（みなし大企業規定）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補助対象は校舎ABCD棟・寄宿舎EF棟の建物のみ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処分制限期間は減価償却期間に連動</a:t>
            </a:r>
            <a:endParaRPr lang="en-US" sz="1050" dirty="0"/>
          </a:p>
          <a:p>
            <a:pPr marL="177800" indent="-1778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担保権設定は事前承認が必要（事後承認は不可）</a:t>
            </a:r>
            <a:endParaRPr lang="en-US" sz="1050" dirty="0"/>
          </a:p>
          <a:p>
            <a:pPr marL="177800" indent="-177800">
              <a:lnSpc>
                <a:spcPct val="105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補助事業期間中（〜令和9年12月末）もみなし大企業規定が適用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09360" y="1645920"/>
            <a:ext cx="5242255" cy="3703320"/>
          </a:xfrm>
          <a:prstGeom prst="roundRect">
            <a:avLst>
              <a:gd name="adj" fmla="val 1481"/>
            </a:avLst>
          </a:prstGeom>
          <a:solidFill>
            <a:srgbClr val="FBEDE7"/>
          </a:solidFill>
          <a:ln w="12700">
            <a:solidFill>
              <a:srgbClr val="EE835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確認済み（八光LR・事務局）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478505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資金の流れ：最終的に八光LRから建築会社へ支払われれば補助金上問題なし。</a:t>
            </a:r>
            <a:endParaRPr lang="en-US" sz="1000" dirty="0"/>
          </a:p>
          <a:p>
            <a:pPr marL="177800" indent="-1778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担保：補助事業遂行に必要な資金調達に限り、事前承認を得れば抵当権設定は可能（担保権実行時に補助金納付が条件）。</a:t>
            </a:r>
            <a:endParaRPr lang="en-US" sz="1000" dirty="0"/>
          </a:p>
          <a:p>
            <a:pPr marL="177800" indent="-1778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手続：担保権設定契約の1〜2ヶ月前に承認申請（参考様式32）を提出。</a:t>
            </a:r>
            <a:endParaRPr lang="en-US" sz="1000" dirty="0"/>
          </a:p>
          <a:p>
            <a:pPr marL="177800" indent="-1778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議決権：八光LRが50％超を保有すれば、第三者資本参入があってもみなし大企業規定に直接抵触しない。</a:t>
            </a:r>
            <a:endParaRPr lang="en-US" sz="1000" dirty="0"/>
          </a:p>
          <a:p>
            <a:pPr marL="177800" indent="-177800">
              <a:lnSpc>
                <a:spcPct val="103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STO設計：補助対象外資産に限定した組成、借地権の裏付け資産化はいずれも可能。</a:t>
            </a:r>
            <a:endParaRPr lang="en-US" sz="1000" dirty="0"/>
          </a:p>
        </p:txBody>
      </p:sp>
      <p:pic>
        <p:nvPicPr>
          <p:cNvPr id="10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solidFill>
            <a:srgbClr val="EE83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6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3960" dirty="0"/>
          </a:p>
        </p:txBody>
      </p:sp>
      <p:sp>
        <p:nvSpPr>
          <p:cNvPr id="4" name="Text 2"/>
          <p:cNvSpPr/>
          <p:nvPr/>
        </p:nvSpPr>
        <p:spPr>
          <a:xfrm>
            <a:off x="1783080" y="2651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5カ年スケジュールと決裁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783080" y="3611880"/>
            <a:ext cx="50292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E835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/ 10</a:t>
            </a:r>
            <a:endParaRPr lang="en-US" sz="1100" dirty="0"/>
          </a:p>
        </p:txBody>
      </p:sp>
      <p:pic>
        <p:nvPicPr>
          <p:cNvPr id="7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5カ年スケジュール（ざっくり）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STO組成から開校後の運営・安定化までの大枠。起点はKC社内判断（Year 0）。六甲山キャンパス開校は2028年8月予定。</a:t>
            </a:r>
            <a:endParaRPr lang="en-US" sz="11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1153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7068312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年度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フェーズ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主な内容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B8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Year 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検討・設計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KC社内判断、八光LR確認、デジタル証券相談、スキーム仮決定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Year 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組成・資金調達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SPC／信託／STO設計、契約、投資家募集、資金実行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Year 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建設・開校準備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寮・学校施設整備、運営体制整備、入寮募集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Year 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開校・初年度運営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稼働率検証、収支実績確認、投資家分配開始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Year 4〜5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安定運営・拡張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稼働率安定化、追加施設検討、Foundation／寄付連動、次案件展開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6235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起点・年次は「開校基準」か「STO組成基準」かを擦り合わせて確定する（現状はKC社内判断＝Year 0で仮置き）。</a:t>
            </a:r>
            <a:endParaRPr lang="en-US" sz="900" dirty="0"/>
          </a:p>
        </p:txBody>
      </p:sp>
      <p:pic>
        <p:nvPicPr>
          <p:cNvPr id="7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次のアクションと決裁のお願い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本稟議のご承認後、STO事業者ヒアリングと八光LR・リート側への確認を並行し、7月下旬に関与方針を判断する第2版を作成する。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00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7/7週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1645920"/>
            <a:ext cx="9311335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164592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STO事業者ヒアリング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212080" y="1645920"/>
            <a:ext cx="5516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デジタル証券・Progmat・BOOSTRY等へ問い合わせ・初回ヒアリング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45059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00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7/10目途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40280" y="2450592"/>
            <a:ext cx="9311335" cy="713232"/>
          </a:xfrm>
          <a:prstGeom prst="rect">
            <a:avLst/>
          </a:prstGeom>
          <a:solidFill>
            <a:srgbClr val="F2F2F2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450592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初期スキーム案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12080" y="2450592"/>
            <a:ext cx="5516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A〜D案（アレンジャー／ブリッジ／貸付・出資）の初期スキーム案を作成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25526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00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7/14週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40280" y="3255264"/>
            <a:ext cx="9311335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3255264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八光LR追加確認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12080" y="3255264"/>
            <a:ext cx="5516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施工費・収入内訳・土地権利・担保設定可否・Foundation状況を確認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4059936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00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7月下旬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40280" y="4059936"/>
            <a:ext cx="9311335" cy="713232"/>
          </a:xfrm>
          <a:prstGeom prst="rect">
            <a:avLst/>
          </a:prstGeom>
          <a:solidFill>
            <a:srgbClr val="F2F2F2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405993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第2版・方針判断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12080" y="4059936"/>
            <a:ext cx="5516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ヒアリング結果を反映した第2版を作成し、KCの関与方針を判断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86460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00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次段階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40280" y="4864608"/>
            <a:ext cx="9311335" cy="713232"/>
          </a:xfrm>
          <a:prstGeom prst="rect">
            <a:avLst/>
          </a:prstGeom>
          <a:solidFill>
            <a:srgbClr val="FBEDE7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4864608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投資判断の付議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12080" y="4864608"/>
            <a:ext cx="55165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CF・担保・補助金・販売可否の明確化後、投資・貸付を別途付議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5687568"/>
            <a:ext cx="10911535" cy="658368"/>
          </a:xfrm>
          <a:prstGeom prst="roundRect">
            <a:avLst>
              <a:gd name="adj" fmla="val 6944"/>
            </a:avLst>
          </a:prstGeom>
          <a:solidFill>
            <a:srgbClr val="E50012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687568"/>
            <a:ext cx="104543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緒方様へのお願い：本件を新規事業案件として推進し、アレンジャー参画とヒアリング・専門家相談の実施を今月中にご判断いただきたい。</a:t>
            </a:r>
            <a:endParaRPr lang="en-US" sz="1200" dirty="0"/>
          </a:p>
        </p:txBody>
      </p:sp>
      <p:pic>
        <p:nvPicPr>
          <p:cNvPr id="27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Appendix ― 表現上の注意・免責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91153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33272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対外発信時の表現、および本資料の位置付けに関する注記。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00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「日本初」表現についての注意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ST市場では住宅・物流・ホテル・温泉等に加え、学生レジデンスを対象とした不動産STも2024年1月に既発（約35億円／AM=DREAM・三菱UFJ信託・大和証券）。「学生寮STOが日本初」との断定は避け、「国内先進事例」と位置付ける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推奨表現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国内でも先進的な教育施設STO</a:t>
            </a:r>
            <a:endParaRPr lang="en-US" sz="105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国際ボーディングスクール学生寮を対象とした希少なSTO案件</a:t>
            </a:r>
            <a:endParaRPr lang="en-US" sz="105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教育×不動産×STOの新たな取り組み／Foundation構想と連動した教育インフラ投資モデル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販売面の留意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22452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動産STは金商法上「電子記録移転有価証券表示権利等」（第一項有価証券）に該当し、第一種金融商品取引業者を通じ一般投資家へ公募可能（発行開示・勧誘規制の対象）。ただし特定の保護者・富裕層への個別勧誘は私募規制・スキーム設計の検討を要する。可否は初回ヒアリング・法務で確認する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5029200"/>
            <a:ext cx="10911535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1663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i="1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免責：本資料は社内稟議・検討用の初期資料であり、投資実行の決裁や投資勧誘を目的とするものではない。案件規模・利回り・収益等の数値は初期情報に基づく仮置きであり、STO事業者・八光エルアールへの確認により変更される。</a:t>
            </a:r>
            <a:endParaRPr lang="en-US" sz="900" dirty="0"/>
          </a:p>
        </p:txBody>
      </p:sp>
      <p:pic>
        <p:nvPicPr>
          <p:cNvPr id="13" name="Image 0" descr="kc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19088"/>
            <a:ext cx="155448" cy="18562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41248" y="6382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KASUMIGASEKI CAPITAL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522415" y="63825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E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社外秘 ／ Copyright © Kasumigaseki Capital Co., Ltd. All Rights Reserved.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597335" y="63825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Kasumigaseki Capital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NLCS神戸 学生寮STOプロジェクト KC参画 稟議資料</dc:title>
  <dc:subject>PptxGenJS Presentation</dc:subject>
  <dc:creator>霞ヶ関キャピタル株式会社</dc:creator>
  <cp:lastModifiedBy>霞ヶ関キャピタル株式会社</cp:lastModifiedBy>
  <cp:revision>1</cp:revision>
  <dcterms:created xsi:type="dcterms:W3CDTF">2026-07-08T08:13:07Z</dcterms:created>
  <dcterms:modified xsi:type="dcterms:W3CDTF">2026-07-08T08:13:07Z</dcterms:modified>
</cp:coreProperties>
</file>
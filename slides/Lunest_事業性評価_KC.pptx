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利用率</c:v>
                </c:pt>
              </c:strCache>
            </c:strRef>
          </c:tx>
          <c:spPr>
            <a:solidFill>
              <a:srgbClr val="EE835C"/>
            </a:solidFill>
            <a:effectLst/>
          </c:spPr>
          <c:invertIfNegative val="0"/>
          <c:dLbls>
            <c:numFmt formatCode="0&quot;%&quot;" sourceLinked="0"/>
            <c:txPr>
              <a:bodyPr/>
              <a:lstStyle/>
              <a:p>
                <a:pPr>
                  <a:defRPr b="0" i="0" strike="noStrike" sz="1100" u="none">
                    <a:solidFill>
                      <a:srgbClr val="1A1A1A"/>
                    </a:solidFill>
                    <a:latin typeface="Meiryo"/>
                  </a:defRPr>
                </a:pPr>
              </a:p>
            </c:txPr>
            <c:showLegendKey val="0"/>
            <c:showVal val="1"/>
            <c:showCatName val="0"/>
            <c:showSerName val="0"/>
            <c:showPercent val="0"/>
            <c:showBubbleSize val="0"/>
            <c:showLeaderLines val="0"/>
          </c:dLbls>
          <c:cat>
            <c:multiLvlStrRef>
              <c:f>Sheet1!$A$2:$A$3</c:f>
              <c:multiLvlStrCache>
                <c:ptCount val="2"/>
                <c:lvl>
                  <c:pt idx="0">
                    <c:v>日本</c:v>
                  </c:pt>
                  <c:pt idx="1">
                    <c:v>韓国</c:v>
                  </c:pt>
                </c:lvl>
              </c:multiLvlStrCache>
            </c:multiLvlStrRef>
          </c:cat>
          <c:val>
            <c:numRef>
              <c:f>Sheet1!$B$2:$B$3</c:f>
              <c:numCache>
                <c:formatCode>General</c:formatCode>
                <c:ptCount val="2"/>
                <c:pt idx="0">
                  <c:v>3</c:v>
                </c:pt>
                <c:pt idx="1">
                  <c:v>75</c:v>
                </c:pt>
              </c:numCache>
            </c:numRef>
          </c:val>
        </c:ser>
        <c:dLbls>
          <c:numFmt formatCode="0&quot;%&quot;" sourceLinked="0"/>
          <c:txPr>
            <a:bodyPr/>
            <a:lstStyle/>
            <a:p>
              <a:pPr>
                <a:defRPr b="0" i="0" strike="noStrike" sz="1100" u="none">
                  <a:solidFill>
                    <a:srgbClr val="1A1A1A"/>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オーナー報酬（万円/月）</c:v>
                </c:pt>
              </c:strCache>
            </c:strRef>
          </c:tx>
          <c:spPr>
            <a:solidFill>
              <a:srgbClr val="EE835C"/>
            </a:solidFill>
            <a:effectLst/>
          </c:spPr>
          <c:invertIfNegative val="0"/>
          <c:dLbls>
            <c:numFmt formatCode="#,##0" sourceLinked="0"/>
            <c:txPr>
              <a:bodyPr/>
              <a:lstStyle/>
              <a:p>
                <a:pPr>
                  <a:defRPr b="0" i="0" strike="noStrike" sz="900" u="none">
                    <a:solidFill>
                      <a:srgbClr val="1A1A1A"/>
                    </a:solidFill>
                    <a:latin typeface="Meiryo"/>
                  </a:defRPr>
                </a:pPr>
              </a:p>
            </c:txPr>
            <c:showLegendKey val="0"/>
            <c:showVal val="1"/>
            <c:showCatName val="0"/>
            <c:showSerName val="0"/>
            <c:showPercent val="0"/>
            <c:showBubbleSize val="0"/>
            <c:showLeaderLines val="0"/>
          </c:dLbls>
          <c:cat>
            <c:multiLvlStrRef>
              <c:f>Sheet1!$A$2:$A$8</c:f>
              <c:multiLvlStrCache>
                <c:ptCount val="7"/>
                <c:lvl>
                  <c:pt idx="0">
                    <c:v>40%</c:v>
                  </c:pt>
                  <c:pt idx="1">
                    <c:v>50%</c:v>
                  </c:pt>
                  <c:pt idx="2">
                    <c:v>60%</c:v>
                  </c:pt>
                  <c:pt idx="3">
                    <c:v>70%</c:v>
                  </c:pt>
                  <c:pt idx="4">
                    <c:v>80%</c:v>
                  </c:pt>
                  <c:pt idx="5">
                    <c:v>90%</c:v>
                  </c:pt>
                  <c:pt idx="6">
                    <c:v>100%</c:v>
                  </c:pt>
                </c:lvl>
              </c:multiLvlStrCache>
            </c:multiLvlStrRef>
          </c:cat>
          <c:val>
            <c:numRef>
              <c:f>Sheet1!$B$2:$B$8</c:f>
              <c:numCache>
                <c:formatCode>General</c:formatCode>
                <c:ptCount val="7"/>
                <c:pt idx="0">
                  <c:v>216</c:v>
                </c:pt>
                <c:pt idx="1">
                  <c:v>270</c:v>
                </c:pt>
                <c:pt idx="2">
                  <c:v>324</c:v>
                </c:pt>
                <c:pt idx="3">
                  <c:v>378</c:v>
                </c:pt>
                <c:pt idx="4">
                  <c:v>432</c:v>
                </c:pt>
                <c:pt idx="5">
                  <c:v>486</c:v>
                </c:pt>
                <c:pt idx="6">
                  <c:v>540</c:v>
                </c:pt>
              </c:numCache>
            </c:numRef>
          </c:val>
        </c:ser>
        <c:dLbls>
          <c:numFmt formatCode="#,##0" sourceLinked="0"/>
          <c:txPr>
            <a:bodyPr/>
            <a:lstStyle/>
            <a:p>
              <a:pPr>
                <a:defRPr b="0" i="0" strike="noStrike" sz="900" u="none">
                  <a:solidFill>
                    <a:srgbClr val="1A1A1A"/>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月次純損益（万円）</c:v>
                </c:pt>
              </c:strCache>
            </c:strRef>
          </c:tx>
          <c:spPr>
            <a:solidFill>
              <a:srgbClr val="EE835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4月</c:v>
                  </c:pt>
                  <c:pt idx="1">
                    <c:v>5月</c:v>
                  </c:pt>
                  <c:pt idx="2">
                    <c:v>6月</c:v>
                  </c:pt>
                  <c:pt idx="3">
                    <c:v>7月</c:v>
                  </c:pt>
                  <c:pt idx="4">
                    <c:v>8月</c:v>
                  </c:pt>
                  <c:pt idx="5">
                    <c:v>9月</c:v>
                  </c:pt>
                  <c:pt idx="6">
                    <c:v>10月</c:v>
                  </c:pt>
                  <c:pt idx="7">
                    <c:v>11月</c:v>
                  </c:pt>
                  <c:pt idx="8">
                    <c:v>12月</c:v>
                  </c:pt>
                  <c:pt idx="9">
                    <c:v>1月</c:v>
                  </c:pt>
                  <c:pt idx="10">
                    <c:v>2月</c:v>
                  </c:pt>
                  <c:pt idx="11">
                    <c:v>3月</c:v>
                  </c:pt>
                </c:lvl>
              </c:multiLvlStrCache>
            </c:multiLvlStrRef>
          </c:cat>
          <c:val>
            <c:numRef>
              <c:f>Sheet1!$B$2:$B$13</c:f>
              <c:numCache>
                <c:formatCode>General</c:formatCode>
                <c:ptCount val="12"/>
                <c:pt idx="0">
                  <c:v>-201</c:v>
                </c:pt>
                <c:pt idx="1">
                  <c:v>-186</c:v>
                </c:pt>
                <c:pt idx="2">
                  <c:v>-172</c:v>
                </c:pt>
                <c:pt idx="3">
                  <c:v>-164</c:v>
                </c:pt>
                <c:pt idx="4">
                  <c:v>-157</c:v>
                </c:pt>
                <c:pt idx="5">
                  <c:v>-150</c:v>
                </c:pt>
                <c:pt idx="6">
                  <c:v>-143</c:v>
                </c:pt>
                <c:pt idx="7">
                  <c:v>-140</c:v>
                </c:pt>
                <c:pt idx="8">
                  <c:v>-135</c:v>
                </c:pt>
                <c:pt idx="9">
                  <c:v>-131</c:v>
                </c:pt>
                <c:pt idx="10">
                  <c:v>-128</c:v>
                </c:pt>
                <c:pt idx="11">
                  <c:v>-128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累計純損益（万円）</c:v>
                </c:pt>
              </c:strCache>
            </c:strRef>
          </c:tx>
          <c:spPr>
            <a:solidFill>
              <a:srgbClr val="E50012"/>
            </a:solidFill>
            <a:ln w="31750" cap="flat">
              <a:solidFill>
                <a:srgbClr val="E500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50012"/>
              </a:solidFill>
              <a:ln w="9525" cap="flat">
                <a:solidFill>
                  <a:srgbClr val="E50012"/>
                </a:solidFill>
                <a:prstDash val="solid"/>
                <a:round/>
              </a:ln>
              <a:effectLst/>
            </c:spPr>
          </c:marker>
          <c:cat>
            <c:multiLvlStrRef>
              <c:f>Sheet1!$A$2:$A$13</c:f>
              <c:multiLvlStrCache>
                <c:ptCount val="12"/>
                <c:lvl>
                  <c:pt idx="0">
                    <c:v>4月</c:v>
                  </c:pt>
                  <c:pt idx="1">
                    <c:v>5月</c:v>
                  </c:pt>
                  <c:pt idx="2">
                    <c:v>6月</c:v>
                  </c:pt>
                  <c:pt idx="3">
                    <c:v>7月</c:v>
                  </c:pt>
                  <c:pt idx="4">
                    <c:v>8月</c:v>
                  </c:pt>
                  <c:pt idx="5">
                    <c:v>9月</c:v>
                  </c:pt>
                  <c:pt idx="6">
                    <c:v>10月</c:v>
                  </c:pt>
                  <c:pt idx="7">
                    <c:v>11月</c:v>
                  </c:pt>
                  <c:pt idx="8">
                    <c:v>12月</c:v>
                  </c:pt>
                  <c:pt idx="9">
                    <c:v>1月</c:v>
                  </c:pt>
                  <c:pt idx="10">
                    <c:v>2月</c:v>
                  </c:pt>
                  <c:pt idx="11">
                    <c:v>3月</c:v>
                  </c:pt>
                </c:lvl>
              </c:multiLvlStrCache>
            </c:multiLvlStrRef>
          </c:cat>
          <c:val>
            <c:numRef>
              <c:f>Sheet1!$C$2:$C$13</c:f>
              <c:numCache>
                <c:formatCode>General</c:formatCode>
                <c:ptCount val="12"/>
                <c:pt idx="0">
                  <c:v>-201</c:v>
                </c:pt>
                <c:pt idx="1">
                  <c:v>-387</c:v>
                </c:pt>
                <c:pt idx="2">
                  <c:v>-559</c:v>
                </c:pt>
                <c:pt idx="3">
                  <c:v>-724</c:v>
                </c:pt>
                <c:pt idx="4">
                  <c:v>-881</c:v>
                </c:pt>
                <c:pt idx="5">
                  <c:v>-1030</c:v>
                </c:pt>
                <c:pt idx="6">
                  <c:v>-1173</c:v>
                </c:pt>
                <c:pt idx="7">
                  <c:v>-1313</c:v>
                </c:pt>
                <c:pt idx="8">
                  <c:v>-1448</c:v>
                </c:pt>
                <c:pt idx="9">
                  <c:v>-1579</c:v>
                </c:pt>
                <c:pt idx="10">
                  <c:v>-1707</c:v>
                </c:pt>
                <c:pt idx="11">
                  <c:v>-1835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A1A1A"/>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F2F2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E6E"/>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1000">
              <a:latin typeface="Meiryo"/>
              <a:cs typeface="Meiryo"/>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kc_logo.png">    </p:cNvPr>
          <p:cNvPicPr>
            <a:picLocks noChangeAspect="1"/>
          </p:cNvPicPr>
          <p:nvPr/>
        </p:nvPicPr>
        <p:blipFill>
          <a:blip r:embed="rId1"/>
          <a:stretch>
            <a:fillRect/>
          </a:stretch>
        </p:blipFill>
        <p:spPr>
          <a:xfrm>
            <a:off x="640080" y="457200"/>
            <a:ext cx="2148840" cy="576072"/>
          </a:xfrm>
          <a:prstGeom prst="rect">
            <a:avLst/>
          </a:prstGeom>
        </p:spPr>
      </p:pic>
      <p:sp>
        <p:nvSpPr>
          <p:cNvPr id="3" name="Text 0"/>
          <p:cNvSpPr/>
          <p:nvPr/>
        </p:nvSpPr>
        <p:spPr>
          <a:xfrm>
            <a:off x="640080" y="2331720"/>
            <a:ext cx="10911535" cy="365760"/>
          </a:xfrm>
          <a:prstGeom prst="rect">
            <a:avLst/>
          </a:prstGeom>
          <a:noFill/>
          <a:ln/>
        </p:spPr>
        <p:txBody>
          <a:bodyPr wrap="square" lIns="0" tIns="0" rIns="0" bIns="0" rtlCol="0" anchor="ctr"/>
          <a:lstStyle/>
          <a:p>
            <a:pPr indent="0" marL="0">
              <a:buNone/>
            </a:pPr>
            <a:r>
              <a:rPr lang="en-US" sz="1300" b="1" dirty="0">
                <a:solidFill>
                  <a:srgbClr val="EE835C"/>
                </a:solidFill>
                <a:latin typeface="Meiryo" pitchFamily="34" charset="0"/>
                <a:ea typeface="Meiryo" pitchFamily="34" charset="-122"/>
                <a:cs typeface="Meiryo" pitchFamily="34" charset="-120"/>
              </a:rPr>
              <a:t>社内検討資料 ／ 投資委員会付議前 事前評価</a:t>
            </a:r>
            <a:endParaRPr lang="en-US" sz="1300" dirty="0"/>
          </a:p>
        </p:txBody>
      </p:sp>
      <p:sp>
        <p:nvSpPr>
          <p:cNvPr id="4" name="Text 1"/>
          <p:cNvSpPr/>
          <p:nvPr/>
        </p:nvSpPr>
        <p:spPr>
          <a:xfrm>
            <a:off x="640080" y="2743200"/>
            <a:ext cx="10911535" cy="822960"/>
          </a:xfrm>
          <a:prstGeom prst="rect">
            <a:avLst/>
          </a:prstGeom>
          <a:noFill/>
          <a:ln/>
        </p:spPr>
        <p:txBody>
          <a:bodyPr wrap="square" lIns="0" tIns="0" rIns="0" bIns="0" rtlCol="0" anchor="ctr"/>
          <a:lstStyle/>
          <a:p>
            <a:pPr indent="0" marL="0">
              <a:buNone/>
            </a:pPr>
            <a:r>
              <a:rPr lang="en-US" sz="4000" b="1" dirty="0">
                <a:solidFill>
                  <a:srgbClr val="1A1A1A"/>
                </a:solidFill>
                <a:latin typeface="Meiryo" pitchFamily="34" charset="0"/>
                <a:ea typeface="Meiryo" pitchFamily="34" charset="-122"/>
                <a:cs typeface="Meiryo" pitchFamily="34" charset="-120"/>
              </a:rPr>
              <a:t>産後ケアホテル「Lunest」</a:t>
            </a:r>
            <a:endParaRPr lang="en-US" sz="4000" dirty="0"/>
          </a:p>
        </p:txBody>
      </p:sp>
      <p:sp>
        <p:nvSpPr>
          <p:cNvPr id="5" name="Text 2"/>
          <p:cNvSpPr/>
          <p:nvPr/>
        </p:nvSpPr>
        <p:spPr>
          <a:xfrm>
            <a:off x="640080" y="3611880"/>
            <a:ext cx="10911535" cy="548640"/>
          </a:xfrm>
          <a:prstGeom prst="rect">
            <a:avLst/>
          </a:prstGeom>
          <a:noFill/>
          <a:ln/>
        </p:spPr>
        <p:txBody>
          <a:bodyPr wrap="square" lIns="0" tIns="0" rIns="0" bIns="0" rtlCol="0" anchor="ctr"/>
          <a:lstStyle/>
          <a:p>
            <a:pPr indent="0" marL="0">
              <a:buNone/>
            </a:pPr>
            <a:r>
              <a:rPr lang="en-US" sz="2000" dirty="0">
                <a:solidFill>
                  <a:srgbClr val="1A1A1A"/>
                </a:solidFill>
                <a:latin typeface="Meiryo" pitchFamily="34" charset="0"/>
                <a:ea typeface="Meiryo" pitchFamily="34" charset="-122"/>
                <a:cs typeface="Meiryo" pitchFamily="34" charset="-120"/>
              </a:rPr>
              <a:t>事業性評価 ― Hotel-in-Hotel スキームの経済性と論点</a:t>
            </a:r>
            <a:endParaRPr lang="en-US" sz="2000" dirty="0"/>
          </a:p>
        </p:txBody>
      </p:sp>
      <p:sp>
        <p:nvSpPr>
          <p:cNvPr id="6" name="Shape 3"/>
          <p:cNvSpPr/>
          <p:nvPr/>
        </p:nvSpPr>
        <p:spPr>
          <a:xfrm>
            <a:off x="640080" y="4343400"/>
            <a:ext cx="3840480" cy="0"/>
          </a:xfrm>
          <a:prstGeom prst="line">
            <a:avLst/>
          </a:prstGeom>
          <a:noFill/>
          <a:ln w="25400">
            <a:solidFill>
              <a:srgbClr val="E50012"/>
            </a:solidFill>
            <a:prstDash val="solid"/>
          </a:ln>
        </p:spPr>
      </p:sp>
      <p:sp>
        <p:nvSpPr>
          <p:cNvPr id="7" name="Text 4"/>
          <p:cNvSpPr/>
          <p:nvPr/>
        </p:nvSpPr>
        <p:spPr>
          <a:xfrm>
            <a:off x="7711135" y="5623560"/>
            <a:ext cx="3840480" cy="822960"/>
          </a:xfrm>
          <a:prstGeom prst="rect">
            <a:avLst/>
          </a:prstGeom>
          <a:noFill/>
          <a:ln/>
        </p:spPr>
        <p:txBody>
          <a:bodyPr wrap="square" lIns="0" tIns="0" rIns="0" bIns="0" rtlCol="0" anchor="ctr"/>
          <a:lstStyle/>
          <a:p>
            <a:pPr algn="r" indent="0" marL="0">
              <a:lnSpc>
                <a:spcPct val="115000"/>
              </a:lnSpc>
              <a:buNone/>
            </a:pPr>
            <a:r>
              <a:rPr lang="en-US" sz="1100" b="1" dirty="0">
                <a:solidFill>
                  <a:srgbClr val="1A1A1A"/>
                </a:solidFill>
                <a:latin typeface="Meiryo" pitchFamily="34" charset="0"/>
                <a:ea typeface="Meiryo" pitchFamily="34" charset="-122"/>
                <a:cs typeface="Meiryo" pitchFamily="34" charset="-120"/>
              </a:rPr>
              <a:t>2026年7月6日</a:t>
            </a:r>
            <a:endParaRPr lang="en-US" sz="1100" dirty="0"/>
          </a:p>
          <a:p>
            <a:pPr algn="r" indent="0" marL="0">
              <a:lnSpc>
                <a:spcPct val="115000"/>
              </a:lnSpc>
              <a:buNone/>
            </a:pPr>
            <a:r>
              <a:rPr lang="en-US" sz="1050" dirty="0">
                <a:solidFill>
                  <a:srgbClr val="1A1A1A"/>
                </a:solidFill>
                <a:latin typeface="Meiryo" pitchFamily="34" charset="0"/>
                <a:ea typeface="Meiryo" pitchFamily="34" charset="-122"/>
                <a:cs typeface="Meiryo" pitchFamily="34" charset="-120"/>
              </a:rPr>
              <a:t>霞ヶ関キャピタル株式会社</a:t>
            </a:r>
            <a:endParaRPr lang="en-US" sz="1100" dirty="0"/>
          </a:p>
          <a:p>
            <a:pPr algn="r" indent="0" marL="0">
              <a:lnSpc>
                <a:spcPct val="115000"/>
              </a:lnSpc>
              <a:buNone/>
            </a:pPr>
            <a:r>
              <a:rPr lang="en-US" sz="900" dirty="0">
                <a:solidFill>
                  <a:srgbClr val="6E6E6E"/>
                </a:solidFill>
                <a:latin typeface="Meiryo" pitchFamily="34" charset="0"/>
                <a:ea typeface="Meiryo" pitchFamily="34" charset="-122"/>
                <a:cs typeface="Meiryo" pitchFamily="34" charset="-120"/>
              </a:rPr>
              <a:t>東証プライム（証券コード：3498）</a:t>
            </a:r>
            <a:endParaRPr lang="en-US" sz="1100" dirty="0"/>
          </a:p>
        </p:txBody>
      </p:sp>
      <p:sp>
        <p:nvSpPr>
          <p:cNvPr id="8" name="Text 5"/>
          <p:cNvSpPr/>
          <p:nvPr/>
        </p:nvSpPr>
        <p:spPr>
          <a:xfrm>
            <a:off x="640080" y="5943600"/>
            <a:ext cx="4572000" cy="320040"/>
          </a:xfrm>
          <a:prstGeom prst="rect">
            <a:avLst/>
          </a:prstGeom>
          <a:noFill/>
          <a:ln/>
        </p:spPr>
        <p:txBody>
          <a:bodyPr wrap="square" lIns="0" tIns="0" rIns="0" bIns="0" rtlCol="0" anchor="ctr"/>
          <a:lstStyle/>
          <a:p>
            <a:pPr indent="0" marL="0">
              <a:buNone/>
            </a:pPr>
            <a:r>
              <a:rPr lang="en-US" sz="1100" i="1" dirty="0">
                <a:solidFill>
                  <a:srgbClr val="6E6E6E"/>
                </a:solidFill>
                <a:latin typeface="Meiryo" pitchFamily="34" charset="0"/>
                <a:ea typeface="Meiryo" pitchFamily="34" charset="-122"/>
                <a:cs typeface="Meiryo" pitchFamily="34" charset="-120"/>
              </a:rPr>
              <a:t>その課題を、価値へ。</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640080"/>
          </a:xfrm>
          <a:prstGeom prst="rect">
            <a:avLst/>
          </a:prstGeom>
          <a:noFill/>
          <a:ln/>
        </p:spPr>
        <p:txBody>
          <a:bodyPr wrap="square" lIns="0" tIns="0" rIns="0" bIns="0" rtlCol="0" anchor="ctr"/>
          <a:lstStyle/>
          <a:p>
            <a:pPr indent="0" marL="0">
              <a:buNone/>
            </a:pPr>
            <a:r>
              <a:rPr lang="en-US" sz="3000" b="1" dirty="0">
                <a:solidFill>
                  <a:srgbClr val="1A1A1A"/>
                </a:solidFill>
                <a:latin typeface="Times New Roman" pitchFamily="34" charset="0"/>
                <a:ea typeface="Times New Roman" pitchFamily="34" charset="-122"/>
                <a:cs typeface="Times New Roman" pitchFamily="34" charset="-120"/>
              </a:rPr>
              <a:t>Index</a:t>
            </a:r>
            <a:endParaRPr lang="en-US" sz="3000" dirty="0"/>
          </a:p>
        </p:txBody>
      </p:sp>
      <p:sp>
        <p:nvSpPr>
          <p:cNvPr id="3" name="Shape 1"/>
          <p:cNvSpPr/>
          <p:nvPr/>
        </p:nvSpPr>
        <p:spPr>
          <a:xfrm>
            <a:off x="640080" y="1207008"/>
            <a:ext cx="10911535" cy="0"/>
          </a:xfrm>
          <a:prstGeom prst="line">
            <a:avLst/>
          </a:prstGeom>
          <a:noFill/>
          <a:ln w="12700">
            <a:solidFill>
              <a:srgbClr val="D6D6D6"/>
            </a:solidFill>
            <a:prstDash val="solid"/>
          </a:ln>
        </p:spPr>
      </p:sp>
      <p:sp>
        <p:nvSpPr>
          <p:cNvPr id="4" name="Shape 2"/>
          <p:cNvSpPr/>
          <p:nvPr/>
        </p:nvSpPr>
        <p:spPr>
          <a:xfrm>
            <a:off x="640080" y="1600200"/>
            <a:ext cx="457200" cy="457200"/>
          </a:xfrm>
          <a:prstGeom prst="rect">
            <a:avLst/>
          </a:prstGeom>
          <a:solidFill>
            <a:srgbClr val="EE835C"/>
          </a:solidFill>
          <a:ln/>
        </p:spPr>
      </p:sp>
      <p:sp>
        <p:nvSpPr>
          <p:cNvPr id="5" name="Text 3"/>
          <p:cNvSpPr/>
          <p:nvPr/>
        </p:nvSpPr>
        <p:spPr>
          <a:xfrm>
            <a:off x="640080" y="16002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01</a:t>
            </a:r>
            <a:endParaRPr lang="en-US" sz="2200" dirty="0"/>
          </a:p>
        </p:txBody>
      </p:sp>
      <p:sp>
        <p:nvSpPr>
          <p:cNvPr id="6" name="Text 4"/>
          <p:cNvSpPr/>
          <p:nvPr/>
        </p:nvSpPr>
        <p:spPr>
          <a:xfrm>
            <a:off x="1325880" y="1600200"/>
            <a:ext cx="7772400" cy="457200"/>
          </a:xfrm>
          <a:prstGeom prst="rect">
            <a:avLst/>
          </a:prstGeom>
          <a:noFill/>
          <a:ln/>
        </p:spPr>
        <p:txBody>
          <a:bodyPr wrap="square" lIns="0" tIns="0" rIns="0" bIns="0" rtlCol="0" anchor="ctr"/>
          <a:lstStyle/>
          <a:p>
            <a:pPr indent="0" marL="0">
              <a:buNone/>
            </a:pPr>
            <a:r>
              <a:rPr lang="en-US" sz="1600" b="1" dirty="0">
                <a:solidFill>
                  <a:srgbClr val="1A1A1A"/>
                </a:solidFill>
                <a:latin typeface="Meiryo" pitchFamily="34" charset="0"/>
                <a:ea typeface="Meiryo" pitchFamily="34" charset="-122"/>
                <a:cs typeface="Meiryo" pitchFamily="34" charset="-120"/>
              </a:rPr>
              <a:t>エグゼクティブ・サマリー</a:t>
            </a:r>
            <a:endParaRPr lang="en-US" sz="1600" dirty="0"/>
          </a:p>
        </p:txBody>
      </p:sp>
      <p:sp>
        <p:nvSpPr>
          <p:cNvPr id="7" name="Text 5"/>
          <p:cNvSpPr/>
          <p:nvPr/>
        </p:nvSpPr>
        <p:spPr>
          <a:xfrm>
            <a:off x="10911535" y="1600200"/>
            <a:ext cx="640080" cy="457200"/>
          </a:xfrm>
          <a:prstGeom prst="rect">
            <a:avLst/>
          </a:prstGeom>
          <a:noFill/>
          <a:ln/>
        </p:spPr>
        <p:txBody>
          <a:bodyPr wrap="square" lIns="0" tIns="0" rIns="0" bIns="0" rtlCol="0" anchor="ctr"/>
          <a:lstStyle/>
          <a:p>
            <a:pPr algn="r" indent="0" marL="0">
              <a:buNone/>
            </a:pPr>
            <a:r>
              <a:rPr lang="en-US" sz="1300" dirty="0">
                <a:solidFill>
                  <a:srgbClr val="6E6E6E"/>
                </a:solidFill>
                <a:latin typeface="Times New Roman" pitchFamily="34" charset="0"/>
                <a:ea typeface="Times New Roman" pitchFamily="34" charset="-122"/>
                <a:cs typeface="Times New Roman" pitchFamily="34" charset="-120"/>
              </a:rPr>
              <a:t>03</a:t>
            </a:r>
            <a:endParaRPr lang="en-US" sz="1300" dirty="0"/>
          </a:p>
        </p:txBody>
      </p:sp>
      <p:sp>
        <p:nvSpPr>
          <p:cNvPr id="8" name="Shape 6"/>
          <p:cNvSpPr/>
          <p:nvPr/>
        </p:nvSpPr>
        <p:spPr>
          <a:xfrm>
            <a:off x="640080" y="2167128"/>
            <a:ext cx="10911535" cy="0"/>
          </a:xfrm>
          <a:prstGeom prst="line">
            <a:avLst/>
          </a:prstGeom>
          <a:noFill/>
          <a:ln w="9525">
            <a:solidFill>
              <a:srgbClr val="F2F2F2"/>
            </a:solidFill>
            <a:prstDash val="solid"/>
          </a:ln>
        </p:spPr>
      </p:sp>
      <p:sp>
        <p:nvSpPr>
          <p:cNvPr id="9" name="Shape 7"/>
          <p:cNvSpPr/>
          <p:nvPr/>
        </p:nvSpPr>
        <p:spPr>
          <a:xfrm>
            <a:off x="640080" y="2258568"/>
            <a:ext cx="457200" cy="457200"/>
          </a:xfrm>
          <a:prstGeom prst="rect">
            <a:avLst/>
          </a:prstGeom>
          <a:solidFill>
            <a:srgbClr val="EE835C"/>
          </a:solidFill>
          <a:ln/>
        </p:spPr>
      </p:sp>
      <p:sp>
        <p:nvSpPr>
          <p:cNvPr id="10" name="Text 8"/>
          <p:cNvSpPr/>
          <p:nvPr/>
        </p:nvSpPr>
        <p:spPr>
          <a:xfrm>
            <a:off x="640080" y="2258568"/>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02</a:t>
            </a:r>
            <a:endParaRPr lang="en-US" sz="2200" dirty="0"/>
          </a:p>
        </p:txBody>
      </p:sp>
      <p:sp>
        <p:nvSpPr>
          <p:cNvPr id="11" name="Text 9"/>
          <p:cNvSpPr/>
          <p:nvPr/>
        </p:nvSpPr>
        <p:spPr>
          <a:xfrm>
            <a:off x="1325880" y="2258568"/>
            <a:ext cx="7772400" cy="457200"/>
          </a:xfrm>
          <a:prstGeom prst="rect">
            <a:avLst/>
          </a:prstGeom>
          <a:noFill/>
          <a:ln/>
        </p:spPr>
        <p:txBody>
          <a:bodyPr wrap="square" lIns="0" tIns="0" rIns="0" bIns="0" rtlCol="0" anchor="ctr"/>
          <a:lstStyle/>
          <a:p>
            <a:pPr indent="0" marL="0">
              <a:buNone/>
            </a:pPr>
            <a:r>
              <a:rPr lang="en-US" sz="1600" b="1" dirty="0">
                <a:solidFill>
                  <a:srgbClr val="1A1A1A"/>
                </a:solidFill>
                <a:latin typeface="Meiryo" pitchFamily="34" charset="0"/>
                <a:ea typeface="Meiryo" pitchFamily="34" charset="-122"/>
                <a:cs typeface="Meiryo" pitchFamily="34" charset="-120"/>
              </a:rPr>
              <a:t>事業概要とスキーム</a:t>
            </a:r>
            <a:endParaRPr lang="en-US" sz="1600" dirty="0"/>
          </a:p>
        </p:txBody>
      </p:sp>
      <p:sp>
        <p:nvSpPr>
          <p:cNvPr id="12" name="Text 10"/>
          <p:cNvSpPr/>
          <p:nvPr/>
        </p:nvSpPr>
        <p:spPr>
          <a:xfrm>
            <a:off x="10911535" y="2258568"/>
            <a:ext cx="640080" cy="457200"/>
          </a:xfrm>
          <a:prstGeom prst="rect">
            <a:avLst/>
          </a:prstGeom>
          <a:noFill/>
          <a:ln/>
        </p:spPr>
        <p:txBody>
          <a:bodyPr wrap="square" lIns="0" tIns="0" rIns="0" bIns="0" rtlCol="0" anchor="ctr"/>
          <a:lstStyle/>
          <a:p>
            <a:pPr algn="r" indent="0" marL="0">
              <a:buNone/>
            </a:pPr>
            <a:r>
              <a:rPr lang="en-US" sz="1300" dirty="0">
                <a:solidFill>
                  <a:srgbClr val="6E6E6E"/>
                </a:solidFill>
                <a:latin typeface="Times New Roman" pitchFamily="34" charset="0"/>
                <a:ea typeface="Times New Roman" pitchFamily="34" charset="-122"/>
                <a:cs typeface="Times New Roman" pitchFamily="34" charset="-120"/>
              </a:rPr>
              <a:t>05</a:t>
            </a:r>
            <a:endParaRPr lang="en-US" sz="1300" dirty="0"/>
          </a:p>
        </p:txBody>
      </p:sp>
      <p:sp>
        <p:nvSpPr>
          <p:cNvPr id="13" name="Shape 11"/>
          <p:cNvSpPr/>
          <p:nvPr/>
        </p:nvSpPr>
        <p:spPr>
          <a:xfrm>
            <a:off x="640080" y="2825496"/>
            <a:ext cx="10911535" cy="0"/>
          </a:xfrm>
          <a:prstGeom prst="line">
            <a:avLst/>
          </a:prstGeom>
          <a:noFill/>
          <a:ln w="9525">
            <a:solidFill>
              <a:srgbClr val="F2F2F2"/>
            </a:solidFill>
            <a:prstDash val="solid"/>
          </a:ln>
        </p:spPr>
      </p:sp>
      <p:sp>
        <p:nvSpPr>
          <p:cNvPr id="14" name="Shape 12"/>
          <p:cNvSpPr/>
          <p:nvPr/>
        </p:nvSpPr>
        <p:spPr>
          <a:xfrm>
            <a:off x="640080" y="2916936"/>
            <a:ext cx="457200" cy="457200"/>
          </a:xfrm>
          <a:prstGeom prst="rect">
            <a:avLst/>
          </a:prstGeom>
          <a:solidFill>
            <a:srgbClr val="EE835C"/>
          </a:solidFill>
          <a:ln/>
        </p:spPr>
      </p:sp>
      <p:sp>
        <p:nvSpPr>
          <p:cNvPr id="15" name="Text 13"/>
          <p:cNvSpPr/>
          <p:nvPr/>
        </p:nvSpPr>
        <p:spPr>
          <a:xfrm>
            <a:off x="640080" y="2916936"/>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03</a:t>
            </a:r>
            <a:endParaRPr lang="en-US" sz="2200" dirty="0"/>
          </a:p>
        </p:txBody>
      </p:sp>
      <p:sp>
        <p:nvSpPr>
          <p:cNvPr id="16" name="Text 14"/>
          <p:cNvSpPr/>
          <p:nvPr/>
        </p:nvSpPr>
        <p:spPr>
          <a:xfrm>
            <a:off x="1325880" y="2916936"/>
            <a:ext cx="7772400" cy="457200"/>
          </a:xfrm>
          <a:prstGeom prst="rect">
            <a:avLst/>
          </a:prstGeom>
          <a:noFill/>
          <a:ln/>
        </p:spPr>
        <p:txBody>
          <a:bodyPr wrap="square" lIns="0" tIns="0" rIns="0" bIns="0" rtlCol="0" anchor="ctr"/>
          <a:lstStyle/>
          <a:p>
            <a:pPr indent="0" marL="0">
              <a:buNone/>
            </a:pPr>
            <a:r>
              <a:rPr lang="en-US" sz="1600" b="1" dirty="0">
                <a:solidFill>
                  <a:srgbClr val="1A1A1A"/>
                </a:solidFill>
                <a:latin typeface="Meiryo" pitchFamily="34" charset="0"/>
                <a:ea typeface="Meiryo" pitchFamily="34" charset="-122"/>
                <a:cs typeface="Meiryo" pitchFamily="34" charset="-120"/>
              </a:rPr>
              <a:t>市場環境</a:t>
            </a:r>
            <a:endParaRPr lang="en-US" sz="1600" dirty="0"/>
          </a:p>
        </p:txBody>
      </p:sp>
      <p:sp>
        <p:nvSpPr>
          <p:cNvPr id="17" name="Text 15"/>
          <p:cNvSpPr/>
          <p:nvPr/>
        </p:nvSpPr>
        <p:spPr>
          <a:xfrm>
            <a:off x="10911535" y="2916936"/>
            <a:ext cx="640080" cy="457200"/>
          </a:xfrm>
          <a:prstGeom prst="rect">
            <a:avLst/>
          </a:prstGeom>
          <a:noFill/>
          <a:ln/>
        </p:spPr>
        <p:txBody>
          <a:bodyPr wrap="square" lIns="0" tIns="0" rIns="0" bIns="0" rtlCol="0" anchor="ctr"/>
          <a:lstStyle/>
          <a:p>
            <a:pPr algn="r" indent="0" marL="0">
              <a:buNone/>
            </a:pPr>
            <a:r>
              <a:rPr lang="en-US" sz="1300" dirty="0">
                <a:solidFill>
                  <a:srgbClr val="6E6E6E"/>
                </a:solidFill>
                <a:latin typeface="Times New Roman" pitchFamily="34" charset="0"/>
                <a:ea typeface="Times New Roman" pitchFamily="34" charset="-122"/>
                <a:cs typeface="Times New Roman" pitchFamily="34" charset="-120"/>
              </a:rPr>
              <a:t>07</a:t>
            </a:r>
            <a:endParaRPr lang="en-US" sz="1300" dirty="0"/>
          </a:p>
        </p:txBody>
      </p:sp>
      <p:sp>
        <p:nvSpPr>
          <p:cNvPr id="18" name="Shape 16"/>
          <p:cNvSpPr/>
          <p:nvPr/>
        </p:nvSpPr>
        <p:spPr>
          <a:xfrm>
            <a:off x="640080" y="3483864"/>
            <a:ext cx="10911535" cy="0"/>
          </a:xfrm>
          <a:prstGeom prst="line">
            <a:avLst/>
          </a:prstGeom>
          <a:noFill/>
          <a:ln w="9525">
            <a:solidFill>
              <a:srgbClr val="F2F2F2"/>
            </a:solidFill>
            <a:prstDash val="solid"/>
          </a:ln>
        </p:spPr>
      </p:sp>
      <p:sp>
        <p:nvSpPr>
          <p:cNvPr id="19" name="Shape 17"/>
          <p:cNvSpPr/>
          <p:nvPr/>
        </p:nvSpPr>
        <p:spPr>
          <a:xfrm>
            <a:off x="640080" y="3575304"/>
            <a:ext cx="457200" cy="457200"/>
          </a:xfrm>
          <a:prstGeom prst="rect">
            <a:avLst/>
          </a:prstGeom>
          <a:solidFill>
            <a:srgbClr val="EE835C"/>
          </a:solidFill>
          <a:ln/>
        </p:spPr>
      </p:sp>
      <p:sp>
        <p:nvSpPr>
          <p:cNvPr id="20" name="Text 18"/>
          <p:cNvSpPr/>
          <p:nvPr/>
        </p:nvSpPr>
        <p:spPr>
          <a:xfrm>
            <a:off x="640080" y="3575304"/>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04</a:t>
            </a:r>
            <a:endParaRPr lang="en-US" sz="2200" dirty="0"/>
          </a:p>
        </p:txBody>
      </p:sp>
      <p:sp>
        <p:nvSpPr>
          <p:cNvPr id="21" name="Text 19"/>
          <p:cNvSpPr/>
          <p:nvPr/>
        </p:nvSpPr>
        <p:spPr>
          <a:xfrm>
            <a:off x="1325880" y="3575304"/>
            <a:ext cx="7772400" cy="457200"/>
          </a:xfrm>
          <a:prstGeom prst="rect">
            <a:avLst/>
          </a:prstGeom>
          <a:noFill/>
          <a:ln/>
        </p:spPr>
        <p:txBody>
          <a:bodyPr wrap="square" lIns="0" tIns="0" rIns="0" bIns="0" rtlCol="0" anchor="ctr"/>
          <a:lstStyle/>
          <a:p>
            <a:pPr indent="0" marL="0">
              <a:buNone/>
            </a:pPr>
            <a:r>
              <a:rPr lang="en-US" sz="1600" b="1" dirty="0">
                <a:solidFill>
                  <a:srgbClr val="1A1A1A"/>
                </a:solidFill>
                <a:latin typeface="Meiryo" pitchFamily="34" charset="0"/>
                <a:ea typeface="Meiryo" pitchFamily="34" charset="-122"/>
                <a:cs typeface="Meiryo" pitchFamily="34" charset="-120"/>
              </a:rPr>
              <a:t>当社（KC）経済性</a:t>
            </a:r>
            <a:endParaRPr lang="en-US" sz="1600" dirty="0"/>
          </a:p>
        </p:txBody>
      </p:sp>
      <p:sp>
        <p:nvSpPr>
          <p:cNvPr id="22" name="Text 20"/>
          <p:cNvSpPr/>
          <p:nvPr/>
        </p:nvSpPr>
        <p:spPr>
          <a:xfrm>
            <a:off x="10911535" y="3575304"/>
            <a:ext cx="640080" cy="457200"/>
          </a:xfrm>
          <a:prstGeom prst="rect">
            <a:avLst/>
          </a:prstGeom>
          <a:noFill/>
          <a:ln/>
        </p:spPr>
        <p:txBody>
          <a:bodyPr wrap="square" lIns="0" tIns="0" rIns="0" bIns="0" rtlCol="0" anchor="ctr"/>
          <a:lstStyle/>
          <a:p>
            <a:pPr algn="r" indent="0" marL="0">
              <a:buNone/>
            </a:pPr>
            <a:r>
              <a:rPr lang="en-US" sz="1300" dirty="0">
                <a:solidFill>
                  <a:srgbClr val="6E6E6E"/>
                </a:solidFill>
                <a:latin typeface="Times New Roman" pitchFamily="34" charset="0"/>
                <a:ea typeface="Times New Roman" pitchFamily="34" charset="-122"/>
                <a:cs typeface="Times New Roman" pitchFamily="34" charset="-120"/>
              </a:rPr>
              <a:t>09</a:t>
            </a:r>
            <a:endParaRPr lang="en-US" sz="1300" dirty="0"/>
          </a:p>
        </p:txBody>
      </p:sp>
      <p:sp>
        <p:nvSpPr>
          <p:cNvPr id="23" name="Shape 21"/>
          <p:cNvSpPr/>
          <p:nvPr/>
        </p:nvSpPr>
        <p:spPr>
          <a:xfrm>
            <a:off x="640080" y="4142232"/>
            <a:ext cx="10911535" cy="0"/>
          </a:xfrm>
          <a:prstGeom prst="line">
            <a:avLst/>
          </a:prstGeom>
          <a:noFill/>
          <a:ln w="9525">
            <a:solidFill>
              <a:srgbClr val="F2F2F2"/>
            </a:solidFill>
            <a:prstDash val="solid"/>
          </a:ln>
        </p:spPr>
      </p:sp>
      <p:sp>
        <p:nvSpPr>
          <p:cNvPr id="24" name="Shape 22"/>
          <p:cNvSpPr/>
          <p:nvPr/>
        </p:nvSpPr>
        <p:spPr>
          <a:xfrm>
            <a:off x="640080" y="4233672"/>
            <a:ext cx="457200" cy="457200"/>
          </a:xfrm>
          <a:prstGeom prst="rect">
            <a:avLst/>
          </a:prstGeom>
          <a:solidFill>
            <a:srgbClr val="EE835C"/>
          </a:solidFill>
          <a:ln/>
        </p:spPr>
      </p:sp>
      <p:sp>
        <p:nvSpPr>
          <p:cNvPr id="25" name="Text 23"/>
          <p:cNvSpPr/>
          <p:nvPr/>
        </p:nvSpPr>
        <p:spPr>
          <a:xfrm>
            <a:off x="640080" y="4233672"/>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05</a:t>
            </a:r>
            <a:endParaRPr lang="en-US" sz="2200" dirty="0"/>
          </a:p>
        </p:txBody>
      </p:sp>
      <p:sp>
        <p:nvSpPr>
          <p:cNvPr id="26" name="Text 24"/>
          <p:cNvSpPr/>
          <p:nvPr/>
        </p:nvSpPr>
        <p:spPr>
          <a:xfrm>
            <a:off x="1325880" y="4233672"/>
            <a:ext cx="7772400" cy="457200"/>
          </a:xfrm>
          <a:prstGeom prst="rect">
            <a:avLst/>
          </a:prstGeom>
          <a:noFill/>
          <a:ln/>
        </p:spPr>
        <p:txBody>
          <a:bodyPr wrap="square" lIns="0" tIns="0" rIns="0" bIns="0" rtlCol="0" anchor="ctr"/>
          <a:lstStyle/>
          <a:p>
            <a:pPr indent="0" marL="0">
              <a:buNone/>
            </a:pPr>
            <a:r>
              <a:rPr lang="en-US" sz="1600" b="1" dirty="0">
                <a:solidFill>
                  <a:srgbClr val="1A1A1A"/>
                </a:solidFill>
                <a:latin typeface="Meiryo" pitchFamily="34" charset="0"/>
                <a:ea typeface="Meiryo" pitchFamily="34" charset="-122"/>
                <a:cs typeface="Meiryo" pitchFamily="34" charset="-120"/>
              </a:rPr>
              <a:t>オペレーター損益と収益構造</a:t>
            </a:r>
            <a:endParaRPr lang="en-US" sz="1600" dirty="0"/>
          </a:p>
        </p:txBody>
      </p:sp>
      <p:sp>
        <p:nvSpPr>
          <p:cNvPr id="27" name="Text 25"/>
          <p:cNvSpPr/>
          <p:nvPr/>
        </p:nvSpPr>
        <p:spPr>
          <a:xfrm>
            <a:off x="10911535" y="4233672"/>
            <a:ext cx="640080" cy="457200"/>
          </a:xfrm>
          <a:prstGeom prst="rect">
            <a:avLst/>
          </a:prstGeom>
          <a:noFill/>
          <a:ln/>
        </p:spPr>
        <p:txBody>
          <a:bodyPr wrap="square" lIns="0" tIns="0" rIns="0" bIns="0" rtlCol="0" anchor="ctr"/>
          <a:lstStyle/>
          <a:p>
            <a:pPr algn="r" indent="0" marL="0">
              <a:buNone/>
            </a:pPr>
            <a:r>
              <a:rPr lang="en-US" sz="1300" dirty="0">
                <a:solidFill>
                  <a:srgbClr val="6E6E6E"/>
                </a:solidFill>
                <a:latin typeface="Times New Roman" pitchFamily="34" charset="0"/>
                <a:ea typeface="Times New Roman" pitchFamily="34" charset="-122"/>
                <a:cs typeface="Times New Roman" pitchFamily="34" charset="-120"/>
              </a:rPr>
              <a:t>11</a:t>
            </a:r>
            <a:endParaRPr lang="en-US" sz="1300" dirty="0"/>
          </a:p>
        </p:txBody>
      </p:sp>
      <p:sp>
        <p:nvSpPr>
          <p:cNvPr id="28" name="Shape 26"/>
          <p:cNvSpPr/>
          <p:nvPr/>
        </p:nvSpPr>
        <p:spPr>
          <a:xfrm>
            <a:off x="640080" y="4800600"/>
            <a:ext cx="10911535" cy="0"/>
          </a:xfrm>
          <a:prstGeom prst="line">
            <a:avLst/>
          </a:prstGeom>
          <a:noFill/>
          <a:ln w="9525">
            <a:solidFill>
              <a:srgbClr val="F2F2F2"/>
            </a:solidFill>
            <a:prstDash val="solid"/>
          </a:ln>
        </p:spPr>
      </p:sp>
      <p:sp>
        <p:nvSpPr>
          <p:cNvPr id="29" name="Shape 27"/>
          <p:cNvSpPr/>
          <p:nvPr/>
        </p:nvSpPr>
        <p:spPr>
          <a:xfrm>
            <a:off x="640080" y="4892040"/>
            <a:ext cx="457200" cy="457200"/>
          </a:xfrm>
          <a:prstGeom prst="rect">
            <a:avLst/>
          </a:prstGeom>
          <a:solidFill>
            <a:srgbClr val="EE835C"/>
          </a:solidFill>
          <a:ln/>
        </p:spPr>
      </p:sp>
      <p:sp>
        <p:nvSpPr>
          <p:cNvPr id="30" name="Text 28"/>
          <p:cNvSpPr/>
          <p:nvPr/>
        </p:nvSpPr>
        <p:spPr>
          <a:xfrm>
            <a:off x="640080" y="48920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06</a:t>
            </a:r>
            <a:endParaRPr lang="en-US" sz="2200" dirty="0"/>
          </a:p>
        </p:txBody>
      </p:sp>
      <p:sp>
        <p:nvSpPr>
          <p:cNvPr id="31" name="Text 29"/>
          <p:cNvSpPr/>
          <p:nvPr/>
        </p:nvSpPr>
        <p:spPr>
          <a:xfrm>
            <a:off x="1325880" y="4892040"/>
            <a:ext cx="7772400" cy="457200"/>
          </a:xfrm>
          <a:prstGeom prst="rect">
            <a:avLst/>
          </a:prstGeom>
          <a:noFill/>
          <a:ln/>
        </p:spPr>
        <p:txBody>
          <a:bodyPr wrap="square" lIns="0" tIns="0" rIns="0" bIns="0" rtlCol="0" anchor="ctr"/>
          <a:lstStyle/>
          <a:p>
            <a:pPr indent="0" marL="0">
              <a:buNone/>
            </a:pPr>
            <a:r>
              <a:rPr lang="en-US" sz="1600" b="1" dirty="0">
                <a:solidFill>
                  <a:srgbClr val="1A1A1A"/>
                </a:solidFill>
                <a:latin typeface="Meiryo" pitchFamily="34" charset="0"/>
                <a:ea typeface="Meiryo" pitchFamily="34" charset="-122"/>
                <a:cs typeface="Meiryo" pitchFamily="34" charset="-120"/>
              </a:rPr>
              <a:t>論点・リスクと提案</a:t>
            </a:r>
            <a:endParaRPr lang="en-US" sz="1600" dirty="0"/>
          </a:p>
        </p:txBody>
      </p:sp>
      <p:sp>
        <p:nvSpPr>
          <p:cNvPr id="32" name="Text 30"/>
          <p:cNvSpPr/>
          <p:nvPr/>
        </p:nvSpPr>
        <p:spPr>
          <a:xfrm>
            <a:off x="10911535" y="4892040"/>
            <a:ext cx="640080" cy="457200"/>
          </a:xfrm>
          <a:prstGeom prst="rect">
            <a:avLst/>
          </a:prstGeom>
          <a:noFill/>
          <a:ln/>
        </p:spPr>
        <p:txBody>
          <a:bodyPr wrap="square" lIns="0" tIns="0" rIns="0" bIns="0" rtlCol="0" anchor="ctr"/>
          <a:lstStyle/>
          <a:p>
            <a:pPr algn="r" indent="0" marL="0">
              <a:buNone/>
            </a:pPr>
            <a:r>
              <a:rPr lang="en-US" sz="1300" dirty="0">
                <a:solidFill>
                  <a:srgbClr val="6E6E6E"/>
                </a:solidFill>
                <a:latin typeface="Times New Roman" pitchFamily="34" charset="0"/>
                <a:ea typeface="Times New Roman" pitchFamily="34" charset="-122"/>
                <a:cs typeface="Times New Roman" pitchFamily="34" charset="-120"/>
              </a:rPr>
              <a:t>13</a:t>
            </a:r>
            <a:endParaRPr lang="en-US" sz="1300" dirty="0"/>
          </a:p>
        </p:txBody>
      </p:sp>
      <p:sp>
        <p:nvSpPr>
          <p:cNvPr id="33" name="Shape 31"/>
          <p:cNvSpPr/>
          <p:nvPr/>
        </p:nvSpPr>
        <p:spPr>
          <a:xfrm>
            <a:off x="640080" y="5458968"/>
            <a:ext cx="10911535" cy="0"/>
          </a:xfrm>
          <a:prstGeom prst="line">
            <a:avLst/>
          </a:prstGeom>
          <a:noFill/>
          <a:ln w="9525">
            <a:solidFill>
              <a:srgbClr val="F2F2F2"/>
            </a:solidFill>
            <a:prstDash val="solid"/>
          </a:ln>
        </p:spPr>
      </p:sp>
      <p:sp>
        <p:nvSpPr>
          <p:cNvPr id="34" name="Shape 32"/>
          <p:cNvSpPr/>
          <p:nvPr/>
        </p:nvSpPr>
        <p:spPr>
          <a:xfrm>
            <a:off x="640080" y="5550408"/>
            <a:ext cx="457200" cy="457200"/>
          </a:xfrm>
          <a:prstGeom prst="rect">
            <a:avLst/>
          </a:prstGeom>
          <a:solidFill>
            <a:srgbClr val="EE835C"/>
          </a:solidFill>
          <a:ln/>
        </p:spPr>
      </p:sp>
      <p:sp>
        <p:nvSpPr>
          <p:cNvPr id="35" name="Text 33"/>
          <p:cNvSpPr/>
          <p:nvPr/>
        </p:nvSpPr>
        <p:spPr>
          <a:xfrm>
            <a:off x="640080" y="5550408"/>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07</a:t>
            </a:r>
            <a:endParaRPr lang="en-US" sz="2200" dirty="0"/>
          </a:p>
        </p:txBody>
      </p:sp>
      <p:sp>
        <p:nvSpPr>
          <p:cNvPr id="36" name="Text 34"/>
          <p:cNvSpPr/>
          <p:nvPr/>
        </p:nvSpPr>
        <p:spPr>
          <a:xfrm>
            <a:off x="1325880" y="5550408"/>
            <a:ext cx="7772400" cy="457200"/>
          </a:xfrm>
          <a:prstGeom prst="rect">
            <a:avLst/>
          </a:prstGeom>
          <a:noFill/>
          <a:ln/>
        </p:spPr>
        <p:txBody>
          <a:bodyPr wrap="square" lIns="0" tIns="0" rIns="0" bIns="0" rtlCol="0" anchor="ctr"/>
          <a:lstStyle/>
          <a:p>
            <a:pPr indent="0" marL="0">
              <a:buNone/>
            </a:pPr>
            <a:r>
              <a:rPr lang="en-US" sz="1600" b="1" dirty="0">
                <a:solidFill>
                  <a:srgbClr val="1A1A1A"/>
                </a:solidFill>
                <a:latin typeface="Meiryo" pitchFamily="34" charset="0"/>
                <a:ea typeface="Meiryo" pitchFamily="34" charset="-122"/>
                <a:cs typeface="Meiryo" pitchFamily="34" charset="-120"/>
              </a:rPr>
              <a:t>次のアクション</a:t>
            </a:r>
            <a:endParaRPr lang="en-US" sz="1600" dirty="0"/>
          </a:p>
        </p:txBody>
      </p:sp>
      <p:sp>
        <p:nvSpPr>
          <p:cNvPr id="37" name="Text 35"/>
          <p:cNvSpPr/>
          <p:nvPr/>
        </p:nvSpPr>
        <p:spPr>
          <a:xfrm>
            <a:off x="10911535" y="5550408"/>
            <a:ext cx="640080" cy="457200"/>
          </a:xfrm>
          <a:prstGeom prst="rect">
            <a:avLst/>
          </a:prstGeom>
          <a:noFill/>
          <a:ln/>
        </p:spPr>
        <p:txBody>
          <a:bodyPr wrap="square" lIns="0" tIns="0" rIns="0" bIns="0" rtlCol="0" anchor="ctr"/>
          <a:lstStyle/>
          <a:p>
            <a:pPr algn="r" indent="0" marL="0">
              <a:buNone/>
            </a:pPr>
            <a:r>
              <a:rPr lang="en-US" sz="1300" dirty="0">
                <a:solidFill>
                  <a:srgbClr val="6E6E6E"/>
                </a:solidFill>
                <a:latin typeface="Times New Roman" pitchFamily="34" charset="0"/>
                <a:ea typeface="Times New Roman" pitchFamily="34" charset="-122"/>
                <a:cs typeface="Times New Roman" pitchFamily="34" charset="-120"/>
              </a:rPr>
              <a:t>15</a:t>
            </a:r>
            <a:endParaRPr lang="en-US" sz="1300" dirty="0"/>
          </a:p>
        </p:txBody>
      </p:sp>
      <p:sp>
        <p:nvSpPr>
          <p:cNvPr id="38" name="Shape 36"/>
          <p:cNvSpPr/>
          <p:nvPr/>
        </p:nvSpPr>
        <p:spPr>
          <a:xfrm>
            <a:off x="640080" y="6117336"/>
            <a:ext cx="10911535" cy="0"/>
          </a:xfrm>
          <a:prstGeom prst="line">
            <a:avLst/>
          </a:prstGeom>
          <a:noFill/>
          <a:ln w="9525">
            <a:solidFill>
              <a:srgbClr val="F2F2F2"/>
            </a:solidFill>
            <a:prstDash val="solid"/>
          </a:ln>
        </p:spPr>
      </p:sp>
      <p:pic>
        <p:nvPicPr>
          <p:cNvPr id="39"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40" name="Text 37"/>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41" name="Text 38"/>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42" name="Text 39"/>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651760"/>
            <a:ext cx="822960" cy="822960"/>
          </a:xfrm>
          <a:prstGeom prst="rect">
            <a:avLst/>
          </a:prstGeom>
          <a:solidFill>
            <a:srgbClr val="EE835C"/>
          </a:solidFill>
          <a:ln/>
        </p:spPr>
      </p:sp>
      <p:sp>
        <p:nvSpPr>
          <p:cNvPr id="3" name="Text 1"/>
          <p:cNvSpPr/>
          <p:nvPr/>
        </p:nvSpPr>
        <p:spPr>
          <a:xfrm>
            <a:off x="640080" y="2651760"/>
            <a:ext cx="822960" cy="822960"/>
          </a:xfrm>
          <a:prstGeom prst="rect">
            <a:avLst/>
          </a:prstGeom>
          <a:noFill/>
          <a:ln/>
        </p:spPr>
        <p:txBody>
          <a:bodyPr wrap="square" lIns="0" tIns="0" rIns="0" bIns="0" rtlCol="0" anchor="ctr"/>
          <a:lstStyle/>
          <a:p>
            <a:pPr algn="ctr" indent="0" marL="0">
              <a:buNone/>
            </a:pPr>
            <a:r>
              <a:rPr lang="en-US" sz="3960" b="1" dirty="0">
                <a:solidFill>
                  <a:srgbClr val="FFFFFF"/>
                </a:solidFill>
                <a:latin typeface="Times New Roman" pitchFamily="34" charset="0"/>
                <a:ea typeface="Times New Roman" pitchFamily="34" charset="-122"/>
                <a:cs typeface="Times New Roman" pitchFamily="34" charset="-120"/>
              </a:rPr>
              <a:t>01</a:t>
            </a:r>
            <a:endParaRPr lang="en-US" sz="3960" dirty="0"/>
          </a:p>
        </p:txBody>
      </p:sp>
      <p:sp>
        <p:nvSpPr>
          <p:cNvPr id="4" name="Text 2"/>
          <p:cNvSpPr/>
          <p:nvPr/>
        </p:nvSpPr>
        <p:spPr>
          <a:xfrm>
            <a:off x="1783080" y="2651760"/>
            <a:ext cx="8686800" cy="822960"/>
          </a:xfrm>
          <a:prstGeom prst="rect">
            <a:avLst/>
          </a:prstGeom>
          <a:noFill/>
          <a:ln/>
        </p:spPr>
        <p:txBody>
          <a:bodyPr wrap="square" lIns="0" tIns="0" rIns="0" bIns="0" rtlCol="0" anchor="ctr"/>
          <a:lstStyle/>
          <a:p>
            <a:pPr indent="0" marL="0">
              <a:buNone/>
            </a:pPr>
            <a:r>
              <a:rPr lang="en-US" sz="2800" b="1" dirty="0">
                <a:solidFill>
                  <a:srgbClr val="1A1A1A"/>
                </a:solidFill>
                <a:latin typeface="Meiryo" pitchFamily="34" charset="0"/>
                <a:ea typeface="Meiryo" pitchFamily="34" charset="-122"/>
                <a:cs typeface="Meiryo" pitchFamily="34" charset="-120"/>
              </a:rPr>
              <a:t>エグゼクティブ・サマリー</a:t>
            </a:r>
            <a:endParaRPr lang="en-US" sz="2800" dirty="0"/>
          </a:p>
        </p:txBody>
      </p:sp>
      <p:sp>
        <p:nvSpPr>
          <p:cNvPr id="5" name="Shape 3"/>
          <p:cNvSpPr/>
          <p:nvPr/>
        </p:nvSpPr>
        <p:spPr>
          <a:xfrm>
            <a:off x="1783080" y="3611880"/>
            <a:ext cx="5029200" cy="0"/>
          </a:xfrm>
          <a:prstGeom prst="line">
            <a:avLst/>
          </a:prstGeom>
          <a:noFill/>
          <a:ln w="12700">
            <a:solidFill>
              <a:srgbClr val="D6D6D6"/>
            </a:solidFill>
            <a:prstDash val="solid"/>
          </a:ln>
        </p:spPr>
      </p:sp>
      <p:sp>
        <p:nvSpPr>
          <p:cNvPr id="6" name="Text 4"/>
          <p:cNvSpPr/>
          <p:nvPr/>
        </p:nvSpPr>
        <p:spPr>
          <a:xfrm>
            <a:off x="1783080" y="3675888"/>
            <a:ext cx="2743200" cy="320040"/>
          </a:xfrm>
          <a:prstGeom prst="rect">
            <a:avLst/>
          </a:prstGeom>
          <a:noFill/>
          <a:ln/>
        </p:spPr>
        <p:txBody>
          <a:bodyPr wrap="square" lIns="0" tIns="0" rIns="0" bIns="0" rtlCol="0" anchor="ctr"/>
          <a:lstStyle/>
          <a:p>
            <a:pPr indent="0" marL="0">
              <a:buNone/>
            </a:pPr>
            <a:r>
              <a:rPr lang="en-US" sz="1100" dirty="0">
                <a:solidFill>
                  <a:srgbClr val="EE835C"/>
                </a:solidFill>
                <a:latin typeface="Times New Roman" pitchFamily="34" charset="0"/>
                <a:ea typeface="Times New Roman" pitchFamily="34" charset="-122"/>
                <a:cs typeface="Times New Roman" pitchFamily="34" charset="-120"/>
              </a:rPr>
              <a:t>01 / 07</a:t>
            </a:r>
            <a:endParaRPr lang="en-US" sz="11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7"/>
          <p:cNvSpPr/>
          <p:nvPr/>
        </p:nvSpPr>
        <p:spPr>
          <a:xfrm>
            <a:off x="11597335" y="6382512"/>
            <a:ext cx="320040" cy="256032"/>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エグゼクティブ・サマリー</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本件は当社にとって高い賃料アップリフトが見込める一方、オペレーター側の採算に構造的な論点があり、契約条件の再設計を前提に推進を提案する。</a:t>
            </a:r>
            <a:endParaRPr lang="en-US" sz="1150" dirty="0"/>
          </a:p>
        </p:txBody>
      </p:sp>
      <p:sp>
        <p:nvSpPr>
          <p:cNvPr id="5" name="Shape 3"/>
          <p:cNvSpPr/>
          <p:nvPr/>
        </p:nvSpPr>
        <p:spPr>
          <a:xfrm>
            <a:off x="640080" y="1600200"/>
            <a:ext cx="5074920" cy="2743200"/>
          </a:xfrm>
          <a:prstGeom prst="roundRect">
            <a:avLst>
              <a:gd name="adj" fmla="val 2000"/>
            </a:avLst>
          </a:prstGeom>
          <a:solidFill>
            <a:srgbClr val="FBEDE7"/>
          </a:solidFill>
          <a:ln w="12700">
            <a:solidFill>
              <a:srgbClr val="EE835C"/>
            </a:solidFill>
            <a:prstDash val="solid"/>
          </a:ln>
          <a:effectLst>
            <a:outerShdw sx="100000" sy="100000" kx="0" ky="0" algn="bl" rotWithShape="0" blurRad="88900" dist="38100" dir="5400000">
              <a:srgbClr val="000000">
                <a:alpha val="12000"/>
              </a:srgbClr>
            </a:outerShdw>
          </a:effectLst>
        </p:spPr>
      </p:sp>
      <p:sp>
        <p:nvSpPr>
          <p:cNvPr id="6" name="Text 4"/>
          <p:cNvSpPr/>
          <p:nvPr/>
        </p:nvSpPr>
        <p:spPr>
          <a:xfrm>
            <a:off x="868680" y="1737360"/>
            <a:ext cx="4572000" cy="320040"/>
          </a:xfrm>
          <a:prstGeom prst="rect">
            <a:avLst/>
          </a:prstGeom>
          <a:noFill/>
          <a:ln/>
        </p:spPr>
        <p:txBody>
          <a:bodyPr wrap="square" lIns="0" tIns="0" rIns="0" bIns="0" rtlCol="0" anchor="ctr"/>
          <a:lstStyle/>
          <a:p>
            <a:pPr indent="0" marL="0">
              <a:buNone/>
            </a:pPr>
            <a:r>
              <a:rPr lang="en-US" sz="1300" b="1" dirty="0">
                <a:solidFill>
                  <a:srgbClr val="E50012"/>
                </a:solidFill>
                <a:latin typeface="Meiryo" pitchFamily="34" charset="0"/>
                <a:ea typeface="Meiryo" pitchFamily="34" charset="-122"/>
                <a:cs typeface="Meiryo" pitchFamily="34" charset="-120"/>
              </a:rPr>
              <a:t>結論（提案）</a:t>
            </a:r>
            <a:endParaRPr lang="en-US" sz="1300" dirty="0"/>
          </a:p>
        </p:txBody>
      </p:sp>
      <p:sp>
        <p:nvSpPr>
          <p:cNvPr id="7" name="Text 5"/>
          <p:cNvSpPr/>
          <p:nvPr/>
        </p:nvSpPr>
        <p:spPr>
          <a:xfrm>
            <a:off x="868680" y="2103120"/>
            <a:ext cx="4617720" cy="2148840"/>
          </a:xfrm>
          <a:prstGeom prst="rect">
            <a:avLst/>
          </a:prstGeom>
          <a:noFill/>
          <a:ln/>
        </p:spPr>
        <p:txBody>
          <a:bodyPr wrap="square" lIns="0" tIns="0" rIns="0" bIns="0" rtlCol="0" anchor="t"/>
          <a:lstStyle/>
          <a:p>
            <a:pPr indent="0" marL="0">
              <a:lnSpc>
                <a:spcPct val="105000"/>
              </a:lnSpc>
              <a:spcAft>
                <a:spcPts val="600"/>
              </a:spcAft>
              <a:buNone/>
            </a:pPr>
            <a:r>
              <a:rPr lang="en-US" sz="1500" b="1" dirty="0">
                <a:solidFill>
                  <a:srgbClr val="1A1A1A"/>
                </a:solidFill>
                <a:latin typeface="Meiryo" pitchFamily="34" charset="0"/>
                <a:ea typeface="Meiryo" pitchFamily="34" charset="-122"/>
                <a:cs typeface="Meiryo" pitchFamily="34" charset="-120"/>
              </a:rPr>
              <a:t>条件付きで推進を提案</a:t>
            </a:r>
            <a:endParaRPr lang="en-US" sz="1500" dirty="0"/>
          </a:p>
          <a:p>
            <a:pPr marL="177800" indent="-177800">
              <a:lnSpc>
                <a:spcPct val="105000"/>
              </a:lnSpc>
              <a:buSzPct val="100000"/>
              <a:buChar char="•"/>
            </a:pPr>
            <a:r>
              <a:rPr lang="en-US" sz="1150" dirty="0">
                <a:solidFill>
                  <a:srgbClr val="1A1A1A"/>
                </a:solidFill>
                <a:latin typeface="Meiryo" pitchFamily="34" charset="0"/>
                <a:ea typeface="Meiryo" pitchFamily="34" charset="-122"/>
                <a:cs typeface="Meiryo" pitchFamily="34" charset="-120"/>
              </a:rPr>
              <a:t>当社の賃料収入は魅力的（FAV LUX通常ADR比＋約80〜100%）。</a:t>
            </a:r>
            <a:endParaRPr lang="en-US" sz="1500" dirty="0"/>
          </a:p>
          <a:p>
            <a:pPr marL="177800" indent="-177800">
              <a:lnSpc>
                <a:spcPct val="105000"/>
              </a:lnSpc>
              <a:buSzPct val="100000"/>
              <a:buChar char="•"/>
            </a:pPr>
            <a:r>
              <a:rPr lang="en-US" sz="1150" dirty="0">
                <a:solidFill>
                  <a:srgbClr val="1A1A1A"/>
                </a:solidFill>
                <a:latin typeface="Meiryo" pitchFamily="34" charset="0"/>
                <a:ea typeface="Meiryo" pitchFamily="34" charset="-122"/>
                <a:cs typeface="Meiryo" pitchFamily="34" charset="-120"/>
              </a:rPr>
              <a:t>ただし現行条件ではオペレーター採算が成立せず、収入源の持続性にリスク。</a:t>
            </a:r>
            <a:endParaRPr lang="en-US" sz="1500" dirty="0"/>
          </a:p>
          <a:p>
            <a:pPr marL="177800" indent="-177800">
              <a:lnSpc>
                <a:spcPct val="105000"/>
              </a:lnSpc>
              <a:buSzPct val="100000"/>
              <a:buChar char="•"/>
            </a:pPr>
            <a:r>
              <a:rPr lang="en-US" sz="1150" dirty="0">
                <a:solidFill>
                  <a:srgbClr val="1A1A1A"/>
                </a:solidFill>
                <a:latin typeface="Meiryo" pitchFamily="34" charset="0"/>
                <a:ea typeface="Meiryo" pitchFamily="34" charset="-122"/>
                <a:cs typeface="Meiryo" pitchFamily="34" charset="-120"/>
              </a:rPr>
              <a:t>報酬体系のハイブリッド化（最低保証＋レベニューシェア）を前提に付議を推奨。</a:t>
            </a:r>
            <a:endParaRPr lang="en-US" sz="1500" dirty="0"/>
          </a:p>
        </p:txBody>
      </p:sp>
      <p:sp>
        <p:nvSpPr>
          <p:cNvPr id="8" name="Shape 6"/>
          <p:cNvSpPr/>
          <p:nvPr/>
        </p:nvSpPr>
        <p:spPr>
          <a:xfrm>
            <a:off x="5989320" y="1600200"/>
            <a:ext cx="2880360" cy="12984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6126480" y="1709928"/>
            <a:ext cx="2606040"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当社 年間賃料収入</a:t>
            </a:r>
            <a:endParaRPr lang="en-US" sz="1000" dirty="0"/>
          </a:p>
        </p:txBody>
      </p:sp>
      <p:sp>
        <p:nvSpPr>
          <p:cNvPr id="10" name="Text 8"/>
          <p:cNvSpPr/>
          <p:nvPr/>
        </p:nvSpPr>
        <p:spPr>
          <a:xfrm>
            <a:off x="6108192" y="1965960"/>
            <a:ext cx="2642616" cy="548640"/>
          </a:xfrm>
          <a:prstGeom prst="rect">
            <a:avLst/>
          </a:prstGeom>
          <a:noFill/>
          <a:ln/>
        </p:spPr>
        <p:txBody>
          <a:bodyPr wrap="square" lIns="0" tIns="0" rIns="0" bIns="0" rtlCol="0" anchor="ctr"/>
          <a:lstStyle/>
          <a:p>
            <a:pPr indent="0" marL="0">
              <a:buNone/>
            </a:pPr>
            <a:r>
              <a:rPr lang="en-US" sz="3000" b="1" dirty="0">
                <a:solidFill>
                  <a:srgbClr val="E50012"/>
                </a:solidFill>
                <a:latin typeface="Meiryo" pitchFamily="34" charset="0"/>
                <a:ea typeface="Meiryo" pitchFamily="34" charset="-122"/>
                <a:cs typeface="Meiryo" pitchFamily="34" charset="-120"/>
              </a:rPr>
              <a:t>¥51.8</a:t>
            </a:r>
            <a:endParaRPr lang="en-US" sz="3000" dirty="0"/>
          </a:p>
        </p:txBody>
      </p:sp>
      <p:sp>
        <p:nvSpPr>
          <p:cNvPr id="11" name="Text 9"/>
          <p:cNvSpPr/>
          <p:nvPr/>
        </p:nvSpPr>
        <p:spPr>
          <a:xfrm>
            <a:off x="6126480" y="2505456"/>
            <a:ext cx="2606040" cy="320040"/>
          </a:xfrm>
          <a:prstGeom prst="rect">
            <a:avLst/>
          </a:prstGeom>
          <a:noFill/>
          <a:ln/>
        </p:spPr>
        <p:txBody>
          <a:bodyPr wrap="square" lIns="0" tIns="0" rIns="0" bIns="0" rtlCol="0" anchor="ctr"/>
          <a:lstStyle/>
          <a:p>
            <a:pPr indent="0" marL="0">
              <a:buNone/>
            </a:pPr>
            <a:r>
              <a:rPr lang="en-US" sz="850" dirty="0">
                <a:solidFill>
                  <a:srgbClr val="6E6E6E"/>
                </a:solidFill>
                <a:latin typeface="Meiryo" pitchFamily="34" charset="0"/>
                <a:ea typeface="Meiryo" pitchFamily="34" charset="-122"/>
                <a:cs typeface="Meiryo" pitchFamily="34" charset="-120"/>
              </a:rPr>
              <a:t>百万円 ／ 稼働80%・6室・¥30,000/室泊</a:t>
            </a:r>
            <a:endParaRPr lang="en-US" sz="850" dirty="0"/>
          </a:p>
        </p:txBody>
      </p:sp>
      <p:sp>
        <p:nvSpPr>
          <p:cNvPr id="12" name="Shape 10"/>
          <p:cNvSpPr/>
          <p:nvPr/>
        </p:nvSpPr>
        <p:spPr>
          <a:xfrm>
            <a:off x="9125712" y="1600200"/>
            <a:ext cx="2880360" cy="12984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3" name="Text 11"/>
          <p:cNvSpPr/>
          <p:nvPr/>
        </p:nvSpPr>
        <p:spPr>
          <a:xfrm>
            <a:off x="9262872" y="1709928"/>
            <a:ext cx="2606040"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賃料アップリフト</a:t>
            </a:r>
            <a:endParaRPr lang="en-US" sz="1000" dirty="0"/>
          </a:p>
        </p:txBody>
      </p:sp>
      <p:sp>
        <p:nvSpPr>
          <p:cNvPr id="14" name="Text 12"/>
          <p:cNvSpPr/>
          <p:nvPr/>
        </p:nvSpPr>
        <p:spPr>
          <a:xfrm>
            <a:off x="9244584" y="1965960"/>
            <a:ext cx="2642616" cy="548640"/>
          </a:xfrm>
          <a:prstGeom prst="rect">
            <a:avLst/>
          </a:prstGeom>
          <a:noFill/>
          <a:ln/>
        </p:spPr>
        <p:txBody>
          <a:bodyPr wrap="square" lIns="0" tIns="0" rIns="0" bIns="0" rtlCol="0" anchor="ctr"/>
          <a:lstStyle/>
          <a:p>
            <a:pPr indent="0" marL="0">
              <a:buNone/>
            </a:pPr>
            <a:r>
              <a:rPr lang="en-US" sz="3000" b="1" dirty="0">
                <a:solidFill>
                  <a:srgbClr val="EE835C"/>
                </a:solidFill>
                <a:latin typeface="Meiryo" pitchFamily="34" charset="0"/>
                <a:ea typeface="Meiryo" pitchFamily="34" charset="-122"/>
                <a:cs typeface="Meiryo" pitchFamily="34" charset="-120"/>
              </a:rPr>
              <a:t>+約87</a:t>
            </a:r>
            <a:endParaRPr lang="en-US" sz="3000" dirty="0"/>
          </a:p>
        </p:txBody>
      </p:sp>
      <p:sp>
        <p:nvSpPr>
          <p:cNvPr id="15" name="Text 13"/>
          <p:cNvSpPr/>
          <p:nvPr/>
        </p:nvSpPr>
        <p:spPr>
          <a:xfrm>
            <a:off x="9262872" y="2505456"/>
            <a:ext cx="2606040" cy="320040"/>
          </a:xfrm>
          <a:prstGeom prst="rect">
            <a:avLst/>
          </a:prstGeom>
          <a:noFill/>
          <a:ln/>
        </p:spPr>
        <p:txBody>
          <a:bodyPr wrap="square" lIns="0" tIns="0" rIns="0" bIns="0" rtlCol="0" anchor="ctr"/>
          <a:lstStyle/>
          <a:p>
            <a:pPr indent="0" marL="0">
              <a:buNone/>
            </a:pPr>
            <a:r>
              <a:rPr lang="en-US" sz="850" dirty="0">
                <a:solidFill>
                  <a:srgbClr val="6E6E6E"/>
                </a:solidFill>
                <a:latin typeface="Meiryo" pitchFamily="34" charset="0"/>
                <a:ea typeface="Meiryo" pitchFamily="34" charset="-122"/>
                <a:cs typeface="Meiryo" pitchFamily="34" charset="-120"/>
              </a:rPr>
              <a:t>％（FAV LUX通常ADR比）</a:t>
            </a:r>
            <a:endParaRPr lang="en-US" sz="850" dirty="0"/>
          </a:p>
        </p:txBody>
      </p:sp>
      <p:sp>
        <p:nvSpPr>
          <p:cNvPr id="16" name="Shape 14"/>
          <p:cNvSpPr/>
          <p:nvPr/>
        </p:nvSpPr>
        <p:spPr>
          <a:xfrm>
            <a:off x="5989320" y="3063240"/>
            <a:ext cx="2880360" cy="12984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7" name="Text 15"/>
          <p:cNvSpPr/>
          <p:nvPr/>
        </p:nvSpPr>
        <p:spPr>
          <a:xfrm>
            <a:off x="6126480" y="3172968"/>
            <a:ext cx="2606040"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オペレーター Y1損益</a:t>
            </a:r>
            <a:endParaRPr lang="en-US" sz="1000" dirty="0"/>
          </a:p>
        </p:txBody>
      </p:sp>
      <p:sp>
        <p:nvSpPr>
          <p:cNvPr id="18" name="Text 16"/>
          <p:cNvSpPr/>
          <p:nvPr/>
        </p:nvSpPr>
        <p:spPr>
          <a:xfrm>
            <a:off x="6108192" y="3429000"/>
            <a:ext cx="2642616" cy="548640"/>
          </a:xfrm>
          <a:prstGeom prst="rect">
            <a:avLst/>
          </a:prstGeom>
          <a:noFill/>
          <a:ln/>
        </p:spPr>
        <p:txBody>
          <a:bodyPr wrap="square" lIns="0" tIns="0" rIns="0" bIns="0" rtlCol="0" anchor="ctr"/>
          <a:lstStyle/>
          <a:p>
            <a:pPr indent="0" marL="0">
              <a:buNone/>
            </a:pPr>
            <a:r>
              <a:rPr lang="en-US" sz="3000" b="1" dirty="0">
                <a:solidFill>
                  <a:srgbClr val="1A1A1A"/>
                </a:solidFill>
                <a:latin typeface="Meiryo" pitchFamily="34" charset="0"/>
                <a:ea typeface="Meiryo" pitchFamily="34" charset="-122"/>
                <a:cs typeface="Meiryo" pitchFamily="34" charset="-120"/>
              </a:rPr>
              <a:t>▲18.3</a:t>
            </a:r>
            <a:endParaRPr lang="en-US" sz="3000" dirty="0"/>
          </a:p>
        </p:txBody>
      </p:sp>
      <p:sp>
        <p:nvSpPr>
          <p:cNvPr id="19" name="Text 17"/>
          <p:cNvSpPr/>
          <p:nvPr/>
        </p:nvSpPr>
        <p:spPr>
          <a:xfrm>
            <a:off x="6126480" y="3968496"/>
            <a:ext cx="2606040" cy="320040"/>
          </a:xfrm>
          <a:prstGeom prst="rect">
            <a:avLst/>
          </a:prstGeom>
          <a:noFill/>
          <a:ln/>
        </p:spPr>
        <p:txBody>
          <a:bodyPr wrap="square" lIns="0" tIns="0" rIns="0" bIns="0" rtlCol="0" anchor="ctr"/>
          <a:lstStyle/>
          <a:p>
            <a:pPr indent="0" marL="0">
              <a:buNone/>
            </a:pPr>
            <a:r>
              <a:rPr lang="en-US" sz="850" dirty="0">
                <a:solidFill>
                  <a:srgbClr val="6E6E6E"/>
                </a:solidFill>
                <a:latin typeface="Meiryo" pitchFamily="34" charset="0"/>
                <a:ea typeface="Meiryo" pitchFamily="34" charset="-122"/>
                <a:cs typeface="Meiryo" pitchFamily="34" charset="-120"/>
              </a:rPr>
              <a:t>百万円 ／ 立ち上がり期の累計</a:t>
            </a:r>
            <a:endParaRPr lang="en-US" sz="850" dirty="0"/>
          </a:p>
        </p:txBody>
      </p:sp>
      <p:sp>
        <p:nvSpPr>
          <p:cNvPr id="20" name="Shape 18"/>
          <p:cNvSpPr/>
          <p:nvPr/>
        </p:nvSpPr>
        <p:spPr>
          <a:xfrm>
            <a:off x="9125712" y="3063240"/>
            <a:ext cx="2880360" cy="12984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21" name="Text 19"/>
          <p:cNvSpPr/>
          <p:nvPr/>
        </p:nvSpPr>
        <p:spPr>
          <a:xfrm>
            <a:off x="9262872" y="3172968"/>
            <a:ext cx="2606040"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損益分岐稼働率</a:t>
            </a:r>
            <a:endParaRPr lang="en-US" sz="1000" dirty="0"/>
          </a:p>
        </p:txBody>
      </p:sp>
      <p:sp>
        <p:nvSpPr>
          <p:cNvPr id="22" name="Text 20"/>
          <p:cNvSpPr/>
          <p:nvPr/>
        </p:nvSpPr>
        <p:spPr>
          <a:xfrm>
            <a:off x="9244584" y="3429000"/>
            <a:ext cx="2642616" cy="548640"/>
          </a:xfrm>
          <a:prstGeom prst="rect">
            <a:avLst/>
          </a:prstGeom>
          <a:noFill/>
          <a:ln/>
        </p:spPr>
        <p:txBody>
          <a:bodyPr wrap="square" lIns="0" tIns="0" rIns="0" bIns="0" rtlCol="0" anchor="ctr"/>
          <a:lstStyle/>
          <a:p>
            <a:pPr indent="0" marL="0">
              <a:buNone/>
            </a:pPr>
            <a:r>
              <a:rPr lang="en-US" sz="3000" b="1" dirty="0">
                <a:solidFill>
                  <a:srgbClr val="E50012"/>
                </a:solidFill>
                <a:latin typeface="Meiryo" pitchFamily="34" charset="0"/>
                <a:ea typeface="Meiryo" pitchFamily="34" charset="-122"/>
                <a:cs typeface="Meiryo" pitchFamily="34" charset="-120"/>
              </a:rPr>
              <a:t>86.8</a:t>
            </a:r>
            <a:endParaRPr lang="en-US" sz="3000" dirty="0"/>
          </a:p>
        </p:txBody>
      </p:sp>
      <p:sp>
        <p:nvSpPr>
          <p:cNvPr id="23" name="Text 21"/>
          <p:cNvSpPr/>
          <p:nvPr/>
        </p:nvSpPr>
        <p:spPr>
          <a:xfrm>
            <a:off x="9262872" y="3968496"/>
            <a:ext cx="2606040" cy="320040"/>
          </a:xfrm>
          <a:prstGeom prst="rect">
            <a:avLst/>
          </a:prstGeom>
          <a:noFill/>
          <a:ln/>
        </p:spPr>
        <p:txBody>
          <a:bodyPr wrap="square" lIns="0" tIns="0" rIns="0" bIns="0" rtlCol="0" anchor="ctr"/>
          <a:lstStyle/>
          <a:p>
            <a:pPr indent="0" marL="0">
              <a:buNone/>
            </a:pPr>
            <a:r>
              <a:rPr lang="en-US" sz="850" dirty="0">
                <a:solidFill>
                  <a:srgbClr val="6E6E6E"/>
                </a:solidFill>
                <a:latin typeface="Meiryo" pitchFamily="34" charset="0"/>
                <a:ea typeface="Meiryo" pitchFamily="34" charset="-122"/>
                <a:cs typeface="Meiryo" pitchFamily="34" charset="-120"/>
              </a:rPr>
              <a:t>％（オペレーター・目標60%超）</a:t>
            </a:r>
            <a:endParaRPr lang="en-US" sz="850" dirty="0"/>
          </a:p>
        </p:txBody>
      </p:sp>
      <p:sp>
        <p:nvSpPr>
          <p:cNvPr id="24" name="Text 22"/>
          <p:cNvSpPr/>
          <p:nvPr/>
        </p:nvSpPr>
        <p:spPr>
          <a:xfrm>
            <a:off x="640080" y="4617720"/>
            <a:ext cx="10911535" cy="320040"/>
          </a:xfrm>
          <a:prstGeom prst="rect">
            <a:avLst/>
          </a:prstGeom>
          <a:noFill/>
          <a:ln/>
        </p:spPr>
        <p:txBody>
          <a:bodyPr wrap="square" lIns="0" tIns="0" rIns="0" bIns="0" rtlCol="0" anchor="ctr"/>
          <a:lstStyle/>
          <a:p>
            <a:pPr indent="0" marL="0">
              <a:buNone/>
            </a:pPr>
            <a:r>
              <a:rPr lang="en-US" sz="900" dirty="0">
                <a:solidFill>
                  <a:srgbClr val="6E6E6E"/>
                </a:solidFill>
                <a:latin typeface="Meiryo" pitchFamily="34" charset="0"/>
                <a:ea typeface="Meiryo" pitchFamily="34" charset="-122"/>
                <a:cs typeface="Meiryo" pitchFamily="34" charset="-120"/>
              </a:rPr>
              <a:t>※ 数値は事業シミュレーター基準ケース（本リポジトリ既定値）に基づく試算。詳細と前提は各章・Appendix参照。</a:t>
            </a:r>
            <a:endParaRPr lang="en-US" sz="900" dirty="0"/>
          </a:p>
        </p:txBody>
      </p:sp>
      <p:pic>
        <p:nvPicPr>
          <p:cNvPr id="25"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26" name="Text 23"/>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27" name="Text 24"/>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28" name="Text 25"/>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651760"/>
            <a:ext cx="822960" cy="822960"/>
          </a:xfrm>
          <a:prstGeom prst="rect">
            <a:avLst/>
          </a:prstGeom>
          <a:solidFill>
            <a:srgbClr val="EE835C"/>
          </a:solidFill>
          <a:ln/>
        </p:spPr>
      </p:sp>
      <p:sp>
        <p:nvSpPr>
          <p:cNvPr id="3" name="Text 1"/>
          <p:cNvSpPr/>
          <p:nvPr/>
        </p:nvSpPr>
        <p:spPr>
          <a:xfrm>
            <a:off x="640080" y="2651760"/>
            <a:ext cx="822960" cy="822960"/>
          </a:xfrm>
          <a:prstGeom prst="rect">
            <a:avLst/>
          </a:prstGeom>
          <a:noFill/>
          <a:ln/>
        </p:spPr>
        <p:txBody>
          <a:bodyPr wrap="square" lIns="0" tIns="0" rIns="0" bIns="0" rtlCol="0" anchor="ctr"/>
          <a:lstStyle/>
          <a:p>
            <a:pPr algn="ctr" indent="0" marL="0">
              <a:buNone/>
            </a:pPr>
            <a:r>
              <a:rPr lang="en-US" sz="3960" b="1" dirty="0">
                <a:solidFill>
                  <a:srgbClr val="FFFFFF"/>
                </a:solidFill>
                <a:latin typeface="Times New Roman" pitchFamily="34" charset="0"/>
                <a:ea typeface="Times New Roman" pitchFamily="34" charset="-122"/>
                <a:cs typeface="Times New Roman" pitchFamily="34" charset="-120"/>
              </a:rPr>
              <a:t>02</a:t>
            </a:r>
            <a:endParaRPr lang="en-US" sz="3960" dirty="0"/>
          </a:p>
        </p:txBody>
      </p:sp>
      <p:sp>
        <p:nvSpPr>
          <p:cNvPr id="4" name="Text 2"/>
          <p:cNvSpPr/>
          <p:nvPr/>
        </p:nvSpPr>
        <p:spPr>
          <a:xfrm>
            <a:off x="1783080" y="2651760"/>
            <a:ext cx="8686800" cy="822960"/>
          </a:xfrm>
          <a:prstGeom prst="rect">
            <a:avLst/>
          </a:prstGeom>
          <a:noFill/>
          <a:ln/>
        </p:spPr>
        <p:txBody>
          <a:bodyPr wrap="square" lIns="0" tIns="0" rIns="0" bIns="0" rtlCol="0" anchor="ctr"/>
          <a:lstStyle/>
          <a:p>
            <a:pPr indent="0" marL="0">
              <a:buNone/>
            </a:pPr>
            <a:r>
              <a:rPr lang="en-US" sz="2800" b="1" dirty="0">
                <a:solidFill>
                  <a:srgbClr val="1A1A1A"/>
                </a:solidFill>
                <a:latin typeface="Meiryo" pitchFamily="34" charset="0"/>
                <a:ea typeface="Meiryo" pitchFamily="34" charset="-122"/>
                <a:cs typeface="Meiryo" pitchFamily="34" charset="-120"/>
              </a:rPr>
              <a:t>事業概要とスキーム</a:t>
            </a:r>
            <a:endParaRPr lang="en-US" sz="2800" dirty="0"/>
          </a:p>
        </p:txBody>
      </p:sp>
      <p:sp>
        <p:nvSpPr>
          <p:cNvPr id="5" name="Shape 3"/>
          <p:cNvSpPr/>
          <p:nvPr/>
        </p:nvSpPr>
        <p:spPr>
          <a:xfrm>
            <a:off x="1783080" y="3611880"/>
            <a:ext cx="5029200" cy="0"/>
          </a:xfrm>
          <a:prstGeom prst="line">
            <a:avLst/>
          </a:prstGeom>
          <a:noFill/>
          <a:ln w="12700">
            <a:solidFill>
              <a:srgbClr val="D6D6D6"/>
            </a:solidFill>
            <a:prstDash val="solid"/>
          </a:ln>
        </p:spPr>
      </p:sp>
      <p:sp>
        <p:nvSpPr>
          <p:cNvPr id="6" name="Text 4"/>
          <p:cNvSpPr/>
          <p:nvPr/>
        </p:nvSpPr>
        <p:spPr>
          <a:xfrm>
            <a:off x="1783080" y="3675888"/>
            <a:ext cx="2743200" cy="320040"/>
          </a:xfrm>
          <a:prstGeom prst="rect">
            <a:avLst/>
          </a:prstGeom>
          <a:noFill/>
          <a:ln/>
        </p:spPr>
        <p:txBody>
          <a:bodyPr wrap="square" lIns="0" tIns="0" rIns="0" bIns="0" rtlCol="0" anchor="ctr"/>
          <a:lstStyle/>
          <a:p>
            <a:pPr indent="0" marL="0">
              <a:buNone/>
            </a:pPr>
            <a:r>
              <a:rPr lang="en-US" sz="1100" dirty="0">
                <a:solidFill>
                  <a:srgbClr val="EE835C"/>
                </a:solidFill>
                <a:latin typeface="Times New Roman" pitchFamily="34" charset="0"/>
                <a:ea typeface="Times New Roman" pitchFamily="34" charset="-122"/>
                <a:cs typeface="Times New Roman" pitchFamily="34" charset="-120"/>
              </a:rPr>
              <a:t>02 / 07</a:t>
            </a:r>
            <a:endParaRPr lang="en-US" sz="11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7"/>
          <p:cNvSpPr/>
          <p:nvPr/>
        </p:nvSpPr>
        <p:spPr>
          <a:xfrm>
            <a:off x="11597335" y="6382512"/>
            <a:ext cx="320040" cy="256032"/>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事業概要とスキーム</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FAV LUX 両国の一部客室を産後ケアホテルへ転用する Hotel-in-Hotel（HiH）モデル。当社は物件オーナーとして稼働連動の賃料（オーナー報酬）を受領する。</a:t>
            </a:r>
            <a:endParaRPr lang="en-US" sz="1150" dirty="0"/>
          </a:p>
        </p:txBody>
      </p:sp>
      <p:sp>
        <p:nvSpPr>
          <p:cNvPr id="5" name="Text 3"/>
          <p:cNvSpPr/>
          <p:nvPr/>
        </p:nvSpPr>
        <p:spPr>
          <a:xfrm>
            <a:off x="640080" y="1691640"/>
            <a:ext cx="1737360" cy="457200"/>
          </a:xfrm>
          <a:prstGeom prst="rect">
            <a:avLst/>
          </a:prstGeom>
          <a:noFill/>
          <a:ln/>
        </p:spPr>
        <p:txBody>
          <a:bodyPr wrap="square" lIns="0" tIns="0" rIns="0" bIns="0" rtlCol="0" anchor="ctr"/>
          <a:lstStyle/>
          <a:p>
            <a:pPr indent="0" marL="0">
              <a:buNone/>
            </a:pPr>
            <a:r>
              <a:rPr lang="en-US" sz="1100" b="1" dirty="0">
                <a:solidFill>
                  <a:srgbClr val="E50012"/>
                </a:solidFill>
                <a:latin typeface="Meiryo" pitchFamily="34" charset="0"/>
                <a:ea typeface="Meiryo" pitchFamily="34" charset="-122"/>
                <a:cs typeface="Meiryo" pitchFamily="34" charset="-120"/>
              </a:rPr>
              <a:t>ブランド</a:t>
            </a:r>
            <a:endParaRPr lang="en-US" sz="1100" dirty="0"/>
          </a:p>
        </p:txBody>
      </p:sp>
      <p:sp>
        <p:nvSpPr>
          <p:cNvPr id="6" name="Text 4"/>
          <p:cNvSpPr/>
          <p:nvPr/>
        </p:nvSpPr>
        <p:spPr>
          <a:xfrm>
            <a:off x="2423160" y="1691640"/>
            <a:ext cx="3749040" cy="45720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Lunest（産後ケアホテル）</a:t>
            </a:r>
            <a:endParaRPr lang="en-US" sz="1150" dirty="0"/>
          </a:p>
        </p:txBody>
      </p:sp>
      <p:sp>
        <p:nvSpPr>
          <p:cNvPr id="7" name="Shape 5"/>
          <p:cNvSpPr/>
          <p:nvPr/>
        </p:nvSpPr>
        <p:spPr>
          <a:xfrm>
            <a:off x="640080" y="2167128"/>
            <a:ext cx="5486400" cy="0"/>
          </a:xfrm>
          <a:prstGeom prst="line">
            <a:avLst/>
          </a:prstGeom>
          <a:noFill/>
          <a:ln w="9525">
            <a:solidFill>
              <a:srgbClr val="F2F2F2"/>
            </a:solidFill>
            <a:prstDash val="solid"/>
          </a:ln>
        </p:spPr>
      </p:sp>
      <p:sp>
        <p:nvSpPr>
          <p:cNvPr id="8" name="Text 6"/>
          <p:cNvSpPr/>
          <p:nvPr/>
        </p:nvSpPr>
        <p:spPr>
          <a:xfrm>
            <a:off x="640080" y="2258568"/>
            <a:ext cx="1737360" cy="457200"/>
          </a:xfrm>
          <a:prstGeom prst="rect">
            <a:avLst/>
          </a:prstGeom>
          <a:noFill/>
          <a:ln/>
        </p:spPr>
        <p:txBody>
          <a:bodyPr wrap="square" lIns="0" tIns="0" rIns="0" bIns="0" rtlCol="0" anchor="ctr"/>
          <a:lstStyle/>
          <a:p>
            <a:pPr indent="0" marL="0">
              <a:buNone/>
            </a:pPr>
            <a:r>
              <a:rPr lang="en-US" sz="1100" b="1" dirty="0">
                <a:solidFill>
                  <a:srgbClr val="E50012"/>
                </a:solidFill>
                <a:latin typeface="Meiryo" pitchFamily="34" charset="0"/>
                <a:ea typeface="Meiryo" pitchFamily="34" charset="-122"/>
                <a:cs typeface="Meiryo" pitchFamily="34" charset="-120"/>
              </a:rPr>
              <a:t>立地・物件</a:t>
            </a:r>
            <a:endParaRPr lang="en-US" sz="1100" dirty="0"/>
          </a:p>
        </p:txBody>
      </p:sp>
      <p:sp>
        <p:nvSpPr>
          <p:cNvPr id="9" name="Text 7"/>
          <p:cNvSpPr/>
          <p:nvPr/>
        </p:nvSpPr>
        <p:spPr>
          <a:xfrm>
            <a:off x="2423160" y="2258568"/>
            <a:ext cx="3749040" cy="45720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FAV LUX 両国（当社グループ保有ホテル内）</a:t>
            </a:r>
            <a:endParaRPr lang="en-US" sz="1150" dirty="0"/>
          </a:p>
        </p:txBody>
      </p:sp>
      <p:sp>
        <p:nvSpPr>
          <p:cNvPr id="10" name="Shape 8"/>
          <p:cNvSpPr/>
          <p:nvPr/>
        </p:nvSpPr>
        <p:spPr>
          <a:xfrm>
            <a:off x="640080" y="2734056"/>
            <a:ext cx="5486400" cy="0"/>
          </a:xfrm>
          <a:prstGeom prst="line">
            <a:avLst/>
          </a:prstGeom>
          <a:noFill/>
          <a:ln w="9525">
            <a:solidFill>
              <a:srgbClr val="F2F2F2"/>
            </a:solidFill>
            <a:prstDash val="solid"/>
          </a:ln>
        </p:spPr>
      </p:sp>
      <p:sp>
        <p:nvSpPr>
          <p:cNvPr id="11" name="Text 9"/>
          <p:cNvSpPr/>
          <p:nvPr/>
        </p:nvSpPr>
        <p:spPr>
          <a:xfrm>
            <a:off x="640080" y="2825496"/>
            <a:ext cx="1737360" cy="457200"/>
          </a:xfrm>
          <a:prstGeom prst="rect">
            <a:avLst/>
          </a:prstGeom>
          <a:noFill/>
          <a:ln/>
        </p:spPr>
        <p:txBody>
          <a:bodyPr wrap="square" lIns="0" tIns="0" rIns="0" bIns="0" rtlCol="0" anchor="ctr"/>
          <a:lstStyle/>
          <a:p>
            <a:pPr indent="0" marL="0">
              <a:buNone/>
            </a:pPr>
            <a:r>
              <a:rPr lang="en-US" sz="1100" b="1" dirty="0">
                <a:solidFill>
                  <a:srgbClr val="E50012"/>
                </a:solidFill>
                <a:latin typeface="Meiryo" pitchFamily="34" charset="0"/>
                <a:ea typeface="Meiryo" pitchFamily="34" charset="-122"/>
                <a:cs typeface="Meiryo" pitchFamily="34" charset="-120"/>
              </a:rPr>
              <a:t>客室規模</a:t>
            </a:r>
            <a:endParaRPr lang="en-US" sz="1100" dirty="0"/>
          </a:p>
        </p:txBody>
      </p:sp>
      <p:sp>
        <p:nvSpPr>
          <p:cNvPr id="12" name="Text 10"/>
          <p:cNvSpPr/>
          <p:nvPr/>
        </p:nvSpPr>
        <p:spPr>
          <a:xfrm>
            <a:off x="2423160" y="2825496"/>
            <a:ext cx="3749040" cy="45720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ゲスト5室＋スタッフ室（報酬対象6室）</a:t>
            </a:r>
            <a:endParaRPr lang="en-US" sz="1150" dirty="0"/>
          </a:p>
        </p:txBody>
      </p:sp>
      <p:sp>
        <p:nvSpPr>
          <p:cNvPr id="13" name="Shape 11"/>
          <p:cNvSpPr/>
          <p:nvPr/>
        </p:nvSpPr>
        <p:spPr>
          <a:xfrm>
            <a:off x="640080" y="3300984"/>
            <a:ext cx="5486400" cy="0"/>
          </a:xfrm>
          <a:prstGeom prst="line">
            <a:avLst/>
          </a:prstGeom>
          <a:noFill/>
          <a:ln w="9525">
            <a:solidFill>
              <a:srgbClr val="F2F2F2"/>
            </a:solidFill>
            <a:prstDash val="solid"/>
          </a:ln>
        </p:spPr>
      </p:sp>
      <p:sp>
        <p:nvSpPr>
          <p:cNvPr id="14" name="Text 12"/>
          <p:cNvSpPr/>
          <p:nvPr/>
        </p:nvSpPr>
        <p:spPr>
          <a:xfrm>
            <a:off x="640080" y="3392424"/>
            <a:ext cx="1737360" cy="457200"/>
          </a:xfrm>
          <a:prstGeom prst="rect">
            <a:avLst/>
          </a:prstGeom>
          <a:noFill/>
          <a:ln/>
        </p:spPr>
        <p:txBody>
          <a:bodyPr wrap="square" lIns="0" tIns="0" rIns="0" bIns="0" rtlCol="0" anchor="ctr"/>
          <a:lstStyle/>
          <a:p>
            <a:pPr indent="0" marL="0">
              <a:buNone/>
            </a:pPr>
            <a:r>
              <a:rPr lang="en-US" sz="1100" b="1" dirty="0">
                <a:solidFill>
                  <a:srgbClr val="E50012"/>
                </a:solidFill>
                <a:latin typeface="Meiryo" pitchFamily="34" charset="0"/>
                <a:ea typeface="Meiryo" pitchFamily="34" charset="-122"/>
                <a:cs typeface="Meiryo" pitchFamily="34" charset="-120"/>
              </a:rPr>
              <a:t>提供価値</a:t>
            </a:r>
            <a:endParaRPr lang="en-US" sz="1100" dirty="0"/>
          </a:p>
        </p:txBody>
      </p:sp>
      <p:sp>
        <p:nvSpPr>
          <p:cNvPr id="15" name="Text 13"/>
          <p:cNvSpPr/>
          <p:nvPr/>
        </p:nvSpPr>
        <p:spPr>
          <a:xfrm>
            <a:off x="2423160" y="3392424"/>
            <a:ext cx="3749040" cy="45720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母子の宿泊＋助産師による産後ケア</a:t>
            </a:r>
            <a:endParaRPr lang="en-US" sz="1150" dirty="0"/>
          </a:p>
        </p:txBody>
      </p:sp>
      <p:sp>
        <p:nvSpPr>
          <p:cNvPr id="16" name="Shape 14"/>
          <p:cNvSpPr/>
          <p:nvPr/>
        </p:nvSpPr>
        <p:spPr>
          <a:xfrm>
            <a:off x="640080" y="3867912"/>
            <a:ext cx="5486400" cy="0"/>
          </a:xfrm>
          <a:prstGeom prst="line">
            <a:avLst/>
          </a:prstGeom>
          <a:noFill/>
          <a:ln w="9525">
            <a:solidFill>
              <a:srgbClr val="F2F2F2"/>
            </a:solidFill>
            <a:prstDash val="solid"/>
          </a:ln>
        </p:spPr>
      </p:sp>
      <p:sp>
        <p:nvSpPr>
          <p:cNvPr id="17" name="Text 15"/>
          <p:cNvSpPr/>
          <p:nvPr/>
        </p:nvSpPr>
        <p:spPr>
          <a:xfrm>
            <a:off x="640080" y="3959352"/>
            <a:ext cx="1737360" cy="457200"/>
          </a:xfrm>
          <a:prstGeom prst="rect">
            <a:avLst/>
          </a:prstGeom>
          <a:noFill/>
          <a:ln/>
        </p:spPr>
        <p:txBody>
          <a:bodyPr wrap="square" lIns="0" tIns="0" rIns="0" bIns="0" rtlCol="0" anchor="ctr"/>
          <a:lstStyle/>
          <a:p>
            <a:pPr indent="0" marL="0">
              <a:buNone/>
            </a:pPr>
            <a:r>
              <a:rPr lang="en-US" sz="1100" b="1" dirty="0">
                <a:solidFill>
                  <a:srgbClr val="E50012"/>
                </a:solidFill>
                <a:latin typeface="Meiryo" pitchFamily="34" charset="0"/>
                <a:ea typeface="Meiryo" pitchFamily="34" charset="-122"/>
                <a:cs typeface="Meiryo" pitchFamily="34" charset="-120"/>
              </a:rPr>
              <a:t>当社の役割</a:t>
            </a:r>
            <a:endParaRPr lang="en-US" sz="1100" dirty="0"/>
          </a:p>
        </p:txBody>
      </p:sp>
      <p:sp>
        <p:nvSpPr>
          <p:cNvPr id="18" name="Text 16"/>
          <p:cNvSpPr/>
          <p:nvPr/>
        </p:nvSpPr>
        <p:spPr>
          <a:xfrm>
            <a:off x="2423160" y="3959352"/>
            <a:ext cx="3749040" cy="45720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物件オーナー（賃料＝オーナー報酬を受領）</a:t>
            </a:r>
            <a:endParaRPr lang="en-US" sz="1150" dirty="0"/>
          </a:p>
        </p:txBody>
      </p:sp>
      <p:sp>
        <p:nvSpPr>
          <p:cNvPr id="19" name="Shape 17"/>
          <p:cNvSpPr/>
          <p:nvPr/>
        </p:nvSpPr>
        <p:spPr>
          <a:xfrm>
            <a:off x="640080" y="4434840"/>
            <a:ext cx="5486400" cy="0"/>
          </a:xfrm>
          <a:prstGeom prst="line">
            <a:avLst/>
          </a:prstGeom>
          <a:noFill/>
          <a:ln w="9525">
            <a:solidFill>
              <a:srgbClr val="F2F2F2"/>
            </a:solidFill>
            <a:prstDash val="solid"/>
          </a:ln>
        </p:spPr>
      </p:sp>
      <p:sp>
        <p:nvSpPr>
          <p:cNvPr id="20" name="Text 18"/>
          <p:cNvSpPr/>
          <p:nvPr/>
        </p:nvSpPr>
        <p:spPr>
          <a:xfrm>
            <a:off x="640080" y="4526280"/>
            <a:ext cx="1737360" cy="457200"/>
          </a:xfrm>
          <a:prstGeom prst="rect">
            <a:avLst/>
          </a:prstGeom>
          <a:noFill/>
          <a:ln/>
        </p:spPr>
        <p:txBody>
          <a:bodyPr wrap="square" lIns="0" tIns="0" rIns="0" bIns="0" rtlCol="0" anchor="ctr"/>
          <a:lstStyle/>
          <a:p>
            <a:pPr indent="0" marL="0">
              <a:buNone/>
            </a:pPr>
            <a:r>
              <a:rPr lang="en-US" sz="1100" b="1" dirty="0">
                <a:solidFill>
                  <a:srgbClr val="E50012"/>
                </a:solidFill>
                <a:latin typeface="Meiryo" pitchFamily="34" charset="0"/>
                <a:ea typeface="Meiryo" pitchFamily="34" charset="-122"/>
                <a:cs typeface="Meiryo" pitchFamily="34" charset="-120"/>
              </a:rPr>
              <a:t>報酬形態</a:t>
            </a:r>
            <a:endParaRPr lang="en-US" sz="1100" dirty="0"/>
          </a:p>
        </p:txBody>
      </p:sp>
      <p:sp>
        <p:nvSpPr>
          <p:cNvPr id="21" name="Text 19"/>
          <p:cNvSpPr/>
          <p:nvPr/>
        </p:nvSpPr>
        <p:spPr>
          <a:xfrm>
            <a:off x="2423160" y="4526280"/>
            <a:ext cx="3749040" cy="45720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レベニューシェア型　¥30,000／室泊</a:t>
            </a:r>
            <a:endParaRPr lang="en-US" sz="1150" dirty="0"/>
          </a:p>
        </p:txBody>
      </p:sp>
      <p:sp>
        <p:nvSpPr>
          <p:cNvPr id="22" name="Shape 20"/>
          <p:cNvSpPr/>
          <p:nvPr/>
        </p:nvSpPr>
        <p:spPr>
          <a:xfrm>
            <a:off x="640080" y="5001768"/>
            <a:ext cx="5486400" cy="0"/>
          </a:xfrm>
          <a:prstGeom prst="line">
            <a:avLst/>
          </a:prstGeom>
          <a:noFill/>
          <a:ln w="9525">
            <a:solidFill>
              <a:srgbClr val="F2F2F2"/>
            </a:solidFill>
            <a:prstDash val="solid"/>
          </a:ln>
        </p:spPr>
      </p:sp>
      <p:sp>
        <p:nvSpPr>
          <p:cNvPr id="23" name="Shape 21"/>
          <p:cNvSpPr/>
          <p:nvPr/>
        </p:nvSpPr>
        <p:spPr>
          <a:xfrm>
            <a:off x="8046720" y="1691640"/>
            <a:ext cx="2377440" cy="868680"/>
          </a:xfrm>
          <a:prstGeom prst="roundRect">
            <a:avLst>
              <a:gd name="adj" fmla="val 5263"/>
            </a:avLst>
          </a:prstGeom>
          <a:solidFill>
            <a:srgbClr val="E50012"/>
          </a:solidFill>
          <a:ln w="15875">
            <a:solidFill>
              <a:srgbClr val="E50012"/>
            </a:solidFill>
            <a:prstDash val="solid"/>
          </a:ln>
          <a:effectLst>
            <a:outerShdw sx="100000" sy="100000" kx="0" ky="0" algn="bl" rotWithShape="0" blurRad="88900" dist="38100" dir="5400000">
              <a:srgbClr val="000000">
                <a:alpha val="12000"/>
              </a:srgbClr>
            </a:outerShdw>
          </a:effectLst>
        </p:spPr>
      </p:sp>
      <p:sp>
        <p:nvSpPr>
          <p:cNvPr id="24" name="Text 22"/>
          <p:cNvSpPr/>
          <p:nvPr/>
        </p:nvSpPr>
        <p:spPr>
          <a:xfrm>
            <a:off x="8046720" y="1691640"/>
            <a:ext cx="2377440" cy="8686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霞ヶ関キャピタル</a:t>
            </a:r>
            <a:endParaRPr lang="en-US" sz="1100" dirty="0"/>
          </a:p>
          <a:p>
            <a:pPr algn="ctr" indent="0" marL="0">
              <a:buNone/>
            </a:pPr>
            <a:r>
              <a:rPr lang="en-US" sz="850" b="1" dirty="0">
                <a:solidFill>
                  <a:srgbClr val="FFFFFF"/>
                </a:solidFill>
                <a:latin typeface="Meiryo" pitchFamily="34" charset="0"/>
                <a:ea typeface="Meiryo" pitchFamily="34" charset="-122"/>
                <a:cs typeface="Meiryo" pitchFamily="34" charset="-120"/>
              </a:rPr>
              <a:t>物件オーナー（FAV LUX 両国）</a:t>
            </a:r>
            <a:endParaRPr lang="en-US" sz="1100" dirty="0"/>
          </a:p>
        </p:txBody>
      </p:sp>
      <p:sp>
        <p:nvSpPr>
          <p:cNvPr id="25" name="Shape 23"/>
          <p:cNvSpPr/>
          <p:nvPr/>
        </p:nvSpPr>
        <p:spPr>
          <a:xfrm>
            <a:off x="8046720" y="3246120"/>
            <a:ext cx="2377440" cy="868680"/>
          </a:xfrm>
          <a:prstGeom prst="roundRect">
            <a:avLst>
              <a:gd name="adj" fmla="val 5263"/>
            </a:avLst>
          </a:prstGeom>
          <a:solidFill>
            <a:srgbClr val="FBEDE7"/>
          </a:solidFill>
          <a:ln w="15875">
            <a:solidFill>
              <a:srgbClr val="EE835C"/>
            </a:solidFill>
            <a:prstDash val="solid"/>
          </a:ln>
          <a:effectLst>
            <a:outerShdw sx="100000" sy="100000" kx="0" ky="0" algn="bl" rotWithShape="0" blurRad="88900" dist="38100" dir="5400000">
              <a:srgbClr val="000000">
                <a:alpha val="12000"/>
              </a:srgbClr>
            </a:outerShdw>
          </a:effectLst>
        </p:spPr>
      </p:sp>
      <p:sp>
        <p:nvSpPr>
          <p:cNvPr id="26" name="Text 24"/>
          <p:cNvSpPr/>
          <p:nvPr/>
        </p:nvSpPr>
        <p:spPr>
          <a:xfrm>
            <a:off x="8046720" y="3246120"/>
            <a:ext cx="2377440" cy="868680"/>
          </a:xfrm>
          <a:prstGeom prst="rect">
            <a:avLst/>
          </a:prstGeom>
          <a:noFill/>
          <a:ln/>
        </p:spPr>
        <p:txBody>
          <a:bodyPr wrap="square" lIns="25400" tIns="25400" rIns="25400" bIns="25400" rtlCol="0" anchor="ctr"/>
          <a:lstStyle/>
          <a:p>
            <a:pPr algn="ctr" indent="0" marL="0">
              <a:buNone/>
            </a:pPr>
            <a:r>
              <a:rPr lang="en-US" sz="1200" b="1" dirty="0">
                <a:solidFill>
                  <a:srgbClr val="1A1A1A"/>
                </a:solidFill>
                <a:latin typeface="Meiryo" pitchFamily="34" charset="0"/>
                <a:ea typeface="Meiryo" pitchFamily="34" charset="-122"/>
                <a:cs typeface="Meiryo" pitchFamily="34" charset="-120"/>
              </a:rPr>
              <a:t>オペレーター（Lunest）</a:t>
            </a:r>
            <a:endParaRPr lang="en-US" sz="1100" dirty="0"/>
          </a:p>
          <a:p>
            <a:pPr algn="ctr" indent="0" marL="0">
              <a:buNone/>
            </a:pPr>
            <a:r>
              <a:rPr lang="en-US" sz="850" b="1" dirty="0">
                <a:solidFill>
                  <a:srgbClr val="6E6E6E"/>
                </a:solidFill>
                <a:latin typeface="Meiryo" pitchFamily="34" charset="0"/>
                <a:ea typeface="Meiryo" pitchFamily="34" charset="-122"/>
                <a:cs typeface="Meiryo" pitchFamily="34" charset="-120"/>
              </a:rPr>
              <a:t>産後ケア運営</a:t>
            </a:r>
            <a:endParaRPr lang="en-US" sz="1100" dirty="0"/>
          </a:p>
        </p:txBody>
      </p:sp>
      <p:sp>
        <p:nvSpPr>
          <p:cNvPr id="27" name="Shape 25"/>
          <p:cNvSpPr/>
          <p:nvPr/>
        </p:nvSpPr>
        <p:spPr>
          <a:xfrm>
            <a:off x="6492240" y="4800600"/>
            <a:ext cx="1965960" cy="777240"/>
          </a:xfrm>
          <a:prstGeom prst="roundRect">
            <a:avLst>
              <a:gd name="adj" fmla="val 5882"/>
            </a:avLst>
          </a:prstGeom>
          <a:solidFill>
            <a:srgbClr val="FFFFFF"/>
          </a:solidFill>
          <a:ln w="15875">
            <a:solidFill>
              <a:srgbClr val="6E6E6E"/>
            </a:solidFill>
            <a:prstDash val="solid"/>
          </a:ln>
          <a:effectLst>
            <a:outerShdw sx="100000" sy="100000" kx="0" ky="0" algn="bl" rotWithShape="0" blurRad="88900" dist="38100" dir="5400000">
              <a:srgbClr val="000000">
                <a:alpha val="12000"/>
              </a:srgbClr>
            </a:outerShdw>
          </a:effectLst>
        </p:spPr>
      </p:sp>
      <p:sp>
        <p:nvSpPr>
          <p:cNvPr id="28" name="Text 26"/>
          <p:cNvSpPr/>
          <p:nvPr/>
        </p:nvSpPr>
        <p:spPr>
          <a:xfrm>
            <a:off x="6492240" y="4800600"/>
            <a:ext cx="1965960" cy="777240"/>
          </a:xfrm>
          <a:prstGeom prst="rect">
            <a:avLst/>
          </a:prstGeom>
          <a:noFill/>
          <a:ln/>
        </p:spPr>
        <p:txBody>
          <a:bodyPr wrap="square" lIns="25400" tIns="25400" rIns="25400" bIns="25400" rtlCol="0" anchor="ctr"/>
          <a:lstStyle/>
          <a:p>
            <a:pPr algn="ctr" indent="0" marL="0">
              <a:buNone/>
            </a:pPr>
            <a:r>
              <a:rPr lang="en-US" sz="1100" b="1" dirty="0">
                <a:solidFill>
                  <a:srgbClr val="1A1A1A"/>
                </a:solidFill>
                <a:latin typeface="Meiryo" pitchFamily="34" charset="0"/>
                <a:ea typeface="Meiryo" pitchFamily="34" charset="-122"/>
                <a:cs typeface="Meiryo" pitchFamily="34" charset="-120"/>
              </a:rPr>
              <a:t>提携産院</a:t>
            </a:r>
            <a:endParaRPr lang="en-US" sz="1100" dirty="0"/>
          </a:p>
          <a:p>
            <a:pPr algn="ctr" indent="0" marL="0">
              <a:buNone/>
            </a:pPr>
            <a:r>
              <a:rPr lang="en-US" sz="850" b="1" dirty="0">
                <a:solidFill>
                  <a:srgbClr val="6E6E6E"/>
                </a:solidFill>
                <a:latin typeface="Meiryo" pitchFamily="34" charset="0"/>
                <a:ea typeface="Meiryo" pitchFamily="34" charset="-122"/>
                <a:cs typeface="Meiryo" pitchFamily="34" charset="-120"/>
              </a:rPr>
              <a:t>送客</a:t>
            </a:r>
            <a:endParaRPr lang="en-US" sz="1100" dirty="0"/>
          </a:p>
        </p:txBody>
      </p:sp>
      <p:sp>
        <p:nvSpPr>
          <p:cNvPr id="29" name="Shape 27"/>
          <p:cNvSpPr/>
          <p:nvPr/>
        </p:nvSpPr>
        <p:spPr>
          <a:xfrm>
            <a:off x="10012680" y="4800600"/>
            <a:ext cx="1965960" cy="777240"/>
          </a:xfrm>
          <a:prstGeom prst="roundRect">
            <a:avLst>
              <a:gd name="adj" fmla="val 5882"/>
            </a:avLst>
          </a:prstGeom>
          <a:solidFill>
            <a:srgbClr val="FFFFFF"/>
          </a:solidFill>
          <a:ln w="15875">
            <a:solidFill>
              <a:srgbClr val="6E6E6E"/>
            </a:solidFill>
            <a:prstDash val="solid"/>
          </a:ln>
          <a:effectLst>
            <a:outerShdw sx="100000" sy="100000" kx="0" ky="0" algn="bl" rotWithShape="0" blurRad="88900" dist="38100" dir="5400000">
              <a:srgbClr val="000000">
                <a:alpha val="12000"/>
              </a:srgbClr>
            </a:outerShdw>
          </a:effectLst>
        </p:spPr>
      </p:sp>
      <p:sp>
        <p:nvSpPr>
          <p:cNvPr id="30" name="Text 28"/>
          <p:cNvSpPr/>
          <p:nvPr/>
        </p:nvSpPr>
        <p:spPr>
          <a:xfrm>
            <a:off x="10012680" y="4800600"/>
            <a:ext cx="1965960" cy="777240"/>
          </a:xfrm>
          <a:prstGeom prst="rect">
            <a:avLst/>
          </a:prstGeom>
          <a:noFill/>
          <a:ln/>
        </p:spPr>
        <p:txBody>
          <a:bodyPr wrap="square" lIns="25400" tIns="25400" rIns="25400" bIns="25400" rtlCol="0" anchor="ctr"/>
          <a:lstStyle/>
          <a:p>
            <a:pPr algn="ctr" indent="0" marL="0">
              <a:buNone/>
            </a:pPr>
            <a:r>
              <a:rPr lang="en-US" sz="1100" b="1" dirty="0">
                <a:solidFill>
                  <a:srgbClr val="1A1A1A"/>
                </a:solidFill>
                <a:latin typeface="Meiryo" pitchFamily="34" charset="0"/>
                <a:ea typeface="Meiryo" pitchFamily="34" charset="-122"/>
                <a:cs typeface="Meiryo" pitchFamily="34" charset="-120"/>
              </a:rPr>
              <a:t>利用者</a:t>
            </a:r>
            <a:endParaRPr lang="en-US" sz="1100" dirty="0"/>
          </a:p>
          <a:p>
            <a:pPr algn="ctr" indent="0" marL="0">
              <a:buNone/>
            </a:pPr>
            <a:r>
              <a:rPr lang="en-US" sz="850" b="1" dirty="0">
                <a:solidFill>
                  <a:srgbClr val="6E6E6E"/>
                </a:solidFill>
                <a:latin typeface="Meiryo" pitchFamily="34" charset="0"/>
                <a:ea typeface="Meiryo" pitchFamily="34" charset="-122"/>
                <a:cs typeface="Meiryo" pitchFamily="34" charset="-120"/>
              </a:rPr>
              <a:t>産後の母子</a:t>
            </a:r>
            <a:endParaRPr lang="en-US" sz="1100" dirty="0"/>
          </a:p>
        </p:txBody>
      </p:sp>
      <p:sp>
        <p:nvSpPr>
          <p:cNvPr id="31" name="Shape 29"/>
          <p:cNvSpPr/>
          <p:nvPr/>
        </p:nvSpPr>
        <p:spPr>
          <a:xfrm>
            <a:off x="8915400" y="3246120"/>
            <a:ext cx="0" cy="-685800"/>
          </a:xfrm>
          <a:prstGeom prst="line">
            <a:avLst/>
          </a:prstGeom>
          <a:noFill/>
          <a:ln w="25400">
            <a:solidFill>
              <a:srgbClr val="EE835C"/>
            </a:solidFill>
            <a:prstDash val="solid"/>
            <a:tailEnd type="triangle"/>
          </a:ln>
        </p:spPr>
      </p:sp>
      <p:sp>
        <p:nvSpPr>
          <p:cNvPr id="32" name="Text 30"/>
          <p:cNvSpPr/>
          <p:nvPr/>
        </p:nvSpPr>
        <p:spPr>
          <a:xfrm>
            <a:off x="5394960" y="2651760"/>
            <a:ext cx="1737360" cy="457200"/>
          </a:xfrm>
          <a:prstGeom prst="rect">
            <a:avLst/>
          </a:prstGeom>
          <a:noFill/>
          <a:ln/>
        </p:spPr>
        <p:txBody>
          <a:bodyPr wrap="square" lIns="0" tIns="0" rIns="0" bIns="0" rtlCol="0" anchor="ctr"/>
          <a:lstStyle/>
          <a:p>
            <a:pPr algn="r" indent="0" marL="0">
              <a:buNone/>
            </a:pPr>
            <a:r>
              <a:rPr lang="en-US" sz="850" b="1" dirty="0">
                <a:solidFill>
                  <a:srgbClr val="EE835C"/>
                </a:solidFill>
                <a:latin typeface="Meiryo" pitchFamily="34" charset="0"/>
                <a:ea typeface="Meiryo" pitchFamily="34" charset="-122"/>
                <a:cs typeface="Meiryo" pitchFamily="34" charset="-120"/>
              </a:rPr>
              <a:t>賃料（¥30,000/室泊）</a:t>
            </a:r>
            <a:endParaRPr lang="en-US" sz="850" dirty="0"/>
          </a:p>
        </p:txBody>
      </p:sp>
      <p:sp>
        <p:nvSpPr>
          <p:cNvPr id="33" name="Shape 31"/>
          <p:cNvSpPr/>
          <p:nvPr/>
        </p:nvSpPr>
        <p:spPr>
          <a:xfrm>
            <a:off x="9555480" y="2560320"/>
            <a:ext cx="0" cy="685800"/>
          </a:xfrm>
          <a:prstGeom prst="line">
            <a:avLst/>
          </a:prstGeom>
          <a:noFill/>
          <a:ln w="25400">
            <a:solidFill>
              <a:srgbClr val="E50012"/>
            </a:solidFill>
            <a:prstDash val="solid"/>
            <a:tailEnd type="triangle"/>
          </a:ln>
        </p:spPr>
      </p:sp>
      <p:sp>
        <p:nvSpPr>
          <p:cNvPr id="34" name="Text 32"/>
          <p:cNvSpPr/>
          <p:nvPr/>
        </p:nvSpPr>
        <p:spPr>
          <a:xfrm>
            <a:off x="9692640" y="2651760"/>
            <a:ext cx="1371600" cy="457200"/>
          </a:xfrm>
          <a:prstGeom prst="rect">
            <a:avLst/>
          </a:prstGeom>
          <a:noFill/>
          <a:ln/>
        </p:spPr>
        <p:txBody>
          <a:bodyPr wrap="square" lIns="0" tIns="0" rIns="0" bIns="0" rtlCol="0" anchor="ctr"/>
          <a:lstStyle/>
          <a:p>
            <a:pPr indent="0" marL="0">
              <a:buNone/>
            </a:pPr>
            <a:r>
              <a:rPr lang="en-US" sz="850" b="1" dirty="0">
                <a:solidFill>
                  <a:srgbClr val="E50012"/>
                </a:solidFill>
                <a:latin typeface="Meiryo" pitchFamily="34" charset="0"/>
                <a:ea typeface="Meiryo" pitchFamily="34" charset="-122"/>
                <a:cs typeface="Meiryo" pitchFamily="34" charset="-120"/>
              </a:rPr>
              <a:t>物件提供</a:t>
            </a:r>
            <a:endParaRPr lang="en-US" sz="850" dirty="0"/>
          </a:p>
        </p:txBody>
      </p:sp>
      <p:sp>
        <p:nvSpPr>
          <p:cNvPr id="35" name="Shape 33"/>
          <p:cNvSpPr/>
          <p:nvPr/>
        </p:nvSpPr>
        <p:spPr>
          <a:xfrm>
            <a:off x="7543800" y="4800600"/>
            <a:ext cx="822960" cy="-640080"/>
          </a:xfrm>
          <a:prstGeom prst="line">
            <a:avLst/>
          </a:prstGeom>
          <a:noFill/>
          <a:ln w="19050">
            <a:solidFill>
              <a:srgbClr val="6E6E6E"/>
            </a:solidFill>
            <a:prstDash val="solid"/>
            <a:tailEnd type="triangle"/>
          </a:ln>
        </p:spPr>
      </p:sp>
      <p:sp>
        <p:nvSpPr>
          <p:cNvPr id="36" name="Shape 34"/>
          <p:cNvSpPr/>
          <p:nvPr/>
        </p:nvSpPr>
        <p:spPr>
          <a:xfrm>
            <a:off x="10104120" y="4160520"/>
            <a:ext cx="822960" cy="640080"/>
          </a:xfrm>
          <a:prstGeom prst="line">
            <a:avLst/>
          </a:prstGeom>
          <a:noFill/>
          <a:ln w="19050">
            <a:solidFill>
              <a:srgbClr val="6E6E6E"/>
            </a:solidFill>
            <a:prstDash val="solid"/>
            <a:tailEnd type="triangle"/>
          </a:ln>
        </p:spPr>
      </p:sp>
      <p:pic>
        <p:nvPicPr>
          <p:cNvPr id="3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38" name="Text 3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39" name="Text 3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40" name="Text 37"/>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651760"/>
            <a:ext cx="822960" cy="822960"/>
          </a:xfrm>
          <a:prstGeom prst="rect">
            <a:avLst/>
          </a:prstGeom>
          <a:solidFill>
            <a:srgbClr val="EE835C"/>
          </a:solidFill>
          <a:ln/>
        </p:spPr>
      </p:sp>
      <p:sp>
        <p:nvSpPr>
          <p:cNvPr id="3" name="Text 1"/>
          <p:cNvSpPr/>
          <p:nvPr/>
        </p:nvSpPr>
        <p:spPr>
          <a:xfrm>
            <a:off x="640080" y="2651760"/>
            <a:ext cx="822960" cy="822960"/>
          </a:xfrm>
          <a:prstGeom prst="rect">
            <a:avLst/>
          </a:prstGeom>
          <a:noFill/>
          <a:ln/>
        </p:spPr>
        <p:txBody>
          <a:bodyPr wrap="square" lIns="0" tIns="0" rIns="0" bIns="0" rtlCol="0" anchor="ctr"/>
          <a:lstStyle/>
          <a:p>
            <a:pPr algn="ctr" indent="0" marL="0">
              <a:buNone/>
            </a:pPr>
            <a:r>
              <a:rPr lang="en-US" sz="3960" b="1" dirty="0">
                <a:solidFill>
                  <a:srgbClr val="FFFFFF"/>
                </a:solidFill>
                <a:latin typeface="Times New Roman" pitchFamily="34" charset="0"/>
                <a:ea typeface="Times New Roman" pitchFamily="34" charset="-122"/>
                <a:cs typeface="Times New Roman" pitchFamily="34" charset="-120"/>
              </a:rPr>
              <a:t>03</a:t>
            </a:r>
            <a:endParaRPr lang="en-US" sz="3960" dirty="0"/>
          </a:p>
        </p:txBody>
      </p:sp>
      <p:sp>
        <p:nvSpPr>
          <p:cNvPr id="4" name="Text 2"/>
          <p:cNvSpPr/>
          <p:nvPr/>
        </p:nvSpPr>
        <p:spPr>
          <a:xfrm>
            <a:off x="1783080" y="2651760"/>
            <a:ext cx="8686800" cy="822960"/>
          </a:xfrm>
          <a:prstGeom prst="rect">
            <a:avLst/>
          </a:prstGeom>
          <a:noFill/>
          <a:ln/>
        </p:spPr>
        <p:txBody>
          <a:bodyPr wrap="square" lIns="0" tIns="0" rIns="0" bIns="0" rtlCol="0" anchor="ctr"/>
          <a:lstStyle/>
          <a:p>
            <a:pPr indent="0" marL="0">
              <a:buNone/>
            </a:pPr>
            <a:r>
              <a:rPr lang="en-US" sz="2800" b="1" dirty="0">
                <a:solidFill>
                  <a:srgbClr val="1A1A1A"/>
                </a:solidFill>
                <a:latin typeface="Meiryo" pitchFamily="34" charset="0"/>
                <a:ea typeface="Meiryo" pitchFamily="34" charset="-122"/>
                <a:cs typeface="Meiryo" pitchFamily="34" charset="-120"/>
              </a:rPr>
              <a:t>市場環境</a:t>
            </a:r>
            <a:endParaRPr lang="en-US" sz="2800" dirty="0"/>
          </a:p>
        </p:txBody>
      </p:sp>
      <p:sp>
        <p:nvSpPr>
          <p:cNvPr id="5" name="Shape 3"/>
          <p:cNvSpPr/>
          <p:nvPr/>
        </p:nvSpPr>
        <p:spPr>
          <a:xfrm>
            <a:off x="1783080" y="3611880"/>
            <a:ext cx="5029200" cy="0"/>
          </a:xfrm>
          <a:prstGeom prst="line">
            <a:avLst/>
          </a:prstGeom>
          <a:noFill/>
          <a:ln w="12700">
            <a:solidFill>
              <a:srgbClr val="D6D6D6"/>
            </a:solidFill>
            <a:prstDash val="solid"/>
          </a:ln>
        </p:spPr>
      </p:sp>
      <p:sp>
        <p:nvSpPr>
          <p:cNvPr id="6" name="Text 4"/>
          <p:cNvSpPr/>
          <p:nvPr/>
        </p:nvSpPr>
        <p:spPr>
          <a:xfrm>
            <a:off x="1783080" y="3675888"/>
            <a:ext cx="2743200" cy="320040"/>
          </a:xfrm>
          <a:prstGeom prst="rect">
            <a:avLst/>
          </a:prstGeom>
          <a:noFill/>
          <a:ln/>
        </p:spPr>
        <p:txBody>
          <a:bodyPr wrap="square" lIns="0" tIns="0" rIns="0" bIns="0" rtlCol="0" anchor="ctr"/>
          <a:lstStyle/>
          <a:p>
            <a:pPr indent="0" marL="0">
              <a:buNone/>
            </a:pPr>
            <a:r>
              <a:rPr lang="en-US" sz="1100" dirty="0">
                <a:solidFill>
                  <a:srgbClr val="EE835C"/>
                </a:solidFill>
                <a:latin typeface="Times New Roman" pitchFamily="34" charset="0"/>
                <a:ea typeface="Times New Roman" pitchFamily="34" charset="-122"/>
                <a:cs typeface="Times New Roman" pitchFamily="34" charset="-120"/>
              </a:rPr>
              <a:t>03 / 07</a:t>
            </a:r>
            <a:endParaRPr lang="en-US" sz="11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7"/>
          <p:cNvSpPr/>
          <p:nvPr/>
        </p:nvSpPr>
        <p:spPr>
          <a:xfrm>
            <a:off x="11597335" y="6382512"/>
            <a:ext cx="320040" cy="256032"/>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市場環境</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国内の産後ケア利用率は諸外国比で著しく低く、潜在需要は大きい。都市部の中価格帯には供給空白が存在する。</a:t>
            </a:r>
            <a:endParaRPr lang="en-US" sz="1150" dirty="0"/>
          </a:p>
        </p:txBody>
      </p:sp>
      <p:sp>
        <p:nvSpPr>
          <p:cNvPr id="5" name="Shape 3"/>
          <p:cNvSpPr/>
          <p:nvPr/>
        </p:nvSpPr>
        <p:spPr>
          <a:xfrm>
            <a:off x="640080" y="1645920"/>
            <a:ext cx="2606040" cy="1417320"/>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6" name="Text 4"/>
          <p:cNvSpPr/>
          <p:nvPr/>
        </p:nvSpPr>
        <p:spPr>
          <a:xfrm>
            <a:off x="777240" y="1810512"/>
            <a:ext cx="2331720" cy="685800"/>
          </a:xfrm>
          <a:prstGeom prst="rect">
            <a:avLst/>
          </a:prstGeom>
          <a:noFill/>
          <a:ln/>
        </p:spPr>
        <p:txBody>
          <a:bodyPr wrap="square" lIns="0" tIns="0" rIns="0" bIns="0" rtlCol="0" anchor="ctr"/>
          <a:lstStyle/>
          <a:p>
            <a:pPr indent="0" marL="0">
              <a:buNone/>
            </a:pPr>
            <a:r>
              <a:rPr lang="en-US" sz="3400" b="1" dirty="0">
                <a:solidFill>
                  <a:srgbClr val="E50012"/>
                </a:solidFill>
                <a:latin typeface="Meiryo" pitchFamily="34" charset="0"/>
                <a:ea typeface="Meiryo" pitchFamily="34" charset="-122"/>
                <a:cs typeface="Meiryo" pitchFamily="34" charset="-120"/>
              </a:rPr>
              <a:t>約619</a:t>
            </a:r>
            <a:pPr indent="0" marL="0">
              <a:buNone/>
            </a:pPr>
            <a:r>
              <a:rPr lang="en-US" sz="1300" b="1" dirty="0">
                <a:solidFill>
                  <a:srgbClr val="E50012"/>
                </a:solidFill>
                <a:latin typeface="Meiryo" pitchFamily="34" charset="0"/>
                <a:ea typeface="Meiryo" pitchFamily="34" charset="-122"/>
                <a:cs typeface="Meiryo" pitchFamily="34" charset="-120"/>
              </a:rPr>
              <a:t> 億円</a:t>
            </a:r>
            <a:endParaRPr lang="en-US" sz="3400" dirty="0"/>
          </a:p>
        </p:txBody>
      </p:sp>
      <p:sp>
        <p:nvSpPr>
          <p:cNvPr id="7" name="Text 5"/>
          <p:cNvSpPr/>
          <p:nvPr/>
        </p:nvSpPr>
        <p:spPr>
          <a:xfrm>
            <a:off x="777240" y="2542032"/>
            <a:ext cx="2331720" cy="41148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産後ケア市場 TAM（推計）</a:t>
            </a:r>
            <a:endParaRPr lang="en-US" sz="1000" dirty="0"/>
          </a:p>
        </p:txBody>
      </p:sp>
      <p:sp>
        <p:nvSpPr>
          <p:cNvPr id="8" name="Shape 6"/>
          <p:cNvSpPr/>
          <p:nvPr/>
        </p:nvSpPr>
        <p:spPr>
          <a:xfrm>
            <a:off x="3410712" y="1645920"/>
            <a:ext cx="2606040" cy="1417320"/>
          </a:xfrm>
          <a:prstGeom prst="rect">
            <a:avLst/>
          </a:prstGeom>
          <a:solidFill>
            <a:srgbClr val="FBEDE7"/>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9" name="Text 7"/>
          <p:cNvSpPr/>
          <p:nvPr/>
        </p:nvSpPr>
        <p:spPr>
          <a:xfrm>
            <a:off x="3547872" y="1810512"/>
            <a:ext cx="2331720" cy="685800"/>
          </a:xfrm>
          <a:prstGeom prst="rect">
            <a:avLst/>
          </a:prstGeom>
          <a:noFill/>
          <a:ln/>
        </p:spPr>
        <p:txBody>
          <a:bodyPr wrap="square" lIns="0" tIns="0" rIns="0" bIns="0" rtlCol="0" anchor="ctr"/>
          <a:lstStyle/>
          <a:p>
            <a:pPr indent="0" marL="0">
              <a:buNone/>
            </a:pPr>
            <a:r>
              <a:rPr lang="en-US" sz="3400" b="1" dirty="0">
                <a:solidFill>
                  <a:srgbClr val="EE835C"/>
                </a:solidFill>
                <a:latin typeface="Meiryo" pitchFamily="34" charset="0"/>
                <a:ea typeface="Meiryo" pitchFamily="34" charset="-122"/>
                <a:cs typeface="Meiryo" pitchFamily="34" charset="-120"/>
              </a:rPr>
              <a:t>約3</a:t>
            </a:r>
            <a:pPr indent="0" marL="0">
              <a:buNone/>
            </a:pPr>
            <a:r>
              <a:rPr lang="en-US" sz="1300" b="1" dirty="0">
                <a:solidFill>
                  <a:srgbClr val="EE835C"/>
                </a:solidFill>
                <a:latin typeface="Meiryo" pitchFamily="34" charset="0"/>
                <a:ea typeface="Meiryo" pitchFamily="34" charset="-122"/>
                <a:cs typeface="Meiryo" pitchFamily="34" charset="-120"/>
              </a:rPr>
              <a:t> ％</a:t>
            </a:r>
            <a:endParaRPr lang="en-US" sz="3400" dirty="0"/>
          </a:p>
        </p:txBody>
      </p:sp>
      <p:sp>
        <p:nvSpPr>
          <p:cNvPr id="10" name="Text 8"/>
          <p:cNvSpPr/>
          <p:nvPr/>
        </p:nvSpPr>
        <p:spPr>
          <a:xfrm>
            <a:off x="3547872" y="2542032"/>
            <a:ext cx="2331720" cy="41148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日本の産後ケア利用率</a:t>
            </a:r>
            <a:endParaRPr lang="en-US" sz="1000" dirty="0"/>
          </a:p>
        </p:txBody>
      </p:sp>
      <p:sp>
        <p:nvSpPr>
          <p:cNvPr id="11" name="Shape 9"/>
          <p:cNvSpPr/>
          <p:nvPr/>
        </p:nvSpPr>
        <p:spPr>
          <a:xfrm>
            <a:off x="6181344" y="1645920"/>
            <a:ext cx="2606040" cy="1417320"/>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2" name="Text 10"/>
          <p:cNvSpPr/>
          <p:nvPr/>
        </p:nvSpPr>
        <p:spPr>
          <a:xfrm>
            <a:off x="6318504" y="1810512"/>
            <a:ext cx="2331720" cy="685800"/>
          </a:xfrm>
          <a:prstGeom prst="rect">
            <a:avLst/>
          </a:prstGeom>
          <a:noFill/>
          <a:ln/>
        </p:spPr>
        <p:txBody>
          <a:bodyPr wrap="square" lIns="0" tIns="0" rIns="0" bIns="0" rtlCol="0" anchor="ctr"/>
          <a:lstStyle/>
          <a:p>
            <a:pPr indent="0" marL="0">
              <a:buNone/>
            </a:pPr>
            <a:r>
              <a:rPr lang="en-US" sz="3400" b="1" dirty="0">
                <a:solidFill>
                  <a:srgbClr val="6E6E6E"/>
                </a:solidFill>
                <a:latin typeface="Meiryo" pitchFamily="34" charset="0"/>
                <a:ea typeface="Meiryo" pitchFamily="34" charset="-122"/>
                <a:cs typeface="Meiryo" pitchFamily="34" charset="-120"/>
              </a:rPr>
              <a:t>75</a:t>
            </a:r>
            <a:pPr indent="0" marL="0">
              <a:buNone/>
            </a:pPr>
            <a:r>
              <a:rPr lang="en-US" sz="1300" b="1" dirty="0">
                <a:solidFill>
                  <a:srgbClr val="6E6E6E"/>
                </a:solidFill>
                <a:latin typeface="Meiryo" pitchFamily="34" charset="0"/>
                <a:ea typeface="Meiryo" pitchFamily="34" charset="-122"/>
                <a:cs typeface="Meiryo" pitchFamily="34" charset="-120"/>
              </a:rPr>
              <a:t> ％</a:t>
            </a:r>
            <a:endParaRPr lang="en-US" sz="3400" dirty="0"/>
          </a:p>
        </p:txBody>
      </p:sp>
      <p:sp>
        <p:nvSpPr>
          <p:cNvPr id="13" name="Text 11"/>
          <p:cNvSpPr/>
          <p:nvPr/>
        </p:nvSpPr>
        <p:spPr>
          <a:xfrm>
            <a:off x="6318504" y="2542032"/>
            <a:ext cx="2331720" cy="41148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韓国の産後ケア利用率</a:t>
            </a:r>
            <a:endParaRPr lang="en-US" sz="1000" dirty="0"/>
          </a:p>
        </p:txBody>
      </p:sp>
      <p:sp>
        <p:nvSpPr>
          <p:cNvPr id="14" name="Shape 12"/>
          <p:cNvSpPr/>
          <p:nvPr/>
        </p:nvSpPr>
        <p:spPr>
          <a:xfrm>
            <a:off x="8951976" y="1645920"/>
            <a:ext cx="2606040" cy="1417320"/>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5" name="Text 13"/>
          <p:cNvSpPr/>
          <p:nvPr/>
        </p:nvSpPr>
        <p:spPr>
          <a:xfrm>
            <a:off x="9089136" y="1810512"/>
            <a:ext cx="2331720" cy="685800"/>
          </a:xfrm>
          <a:prstGeom prst="rect">
            <a:avLst/>
          </a:prstGeom>
          <a:noFill/>
          <a:ln/>
        </p:spPr>
        <p:txBody>
          <a:bodyPr wrap="square" lIns="0" tIns="0" rIns="0" bIns="0" rtlCol="0" anchor="ctr"/>
          <a:lstStyle/>
          <a:p>
            <a:pPr indent="0" marL="0">
              <a:buNone/>
            </a:pPr>
            <a:r>
              <a:rPr lang="en-US" sz="3400" b="1" dirty="0">
                <a:solidFill>
                  <a:srgbClr val="1A1A1A"/>
                </a:solidFill>
                <a:latin typeface="Meiryo" pitchFamily="34" charset="0"/>
                <a:ea typeface="Meiryo" pitchFamily="34" charset="-122"/>
                <a:cs typeface="Meiryo" pitchFamily="34" charset="-120"/>
              </a:rPr>
              <a:t>約73</a:t>
            </a:r>
            <a:pPr indent="0" marL="0">
              <a:buNone/>
            </a:pPr>
            <a:r>
              <a:rPr lang="en-US" sz="1300" b="1" dirty="0">
                <a:solidFill>
                  <a:srgbClr val="1A1A1A"/>
                </a:solidFill>
                <a:latin typeface="Meiryo" pitchFamily="34" charset="0"/>
                <a:ea typeface="Meiryo" pitchFamily="34" charset="-122"/>
                <a:cs typeface="Meiryo" pitchFamily="34" charset="-120"/>
              </a:rPr>
              <a:t> 万人</a:t>
            </a:r>
            <a:endParaRPr lang="en-US" sz="3400" dirty="0"/>
          </a:p>
        </p:txBody>
      </p:sp>
      <p:sp>
        <p:nvSpPr>
          <p:cNvPr id="16" name="Text 14"/>
          <p:cNvSpPr/>
          <p:nvPr/>
        </p:nvSpPr>
        <p:spPr>
          <a:xfrm>
            <a:off x="9089136" y="2542032"/>
            <a:ext cx="2331720" cy="41148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国内 年間出生数（2023）</a:t>
            </a:r>
            <a:endParaRPr lang="en-US" sz="1000" dirty="0"/>
          </a:p>
        </p:txBody>
      </p:sp>
      <p:sp>
        <p:nvSpPr>
          <p:cNvPr id="17" name="Text 15"/>
          <p:cNvSpPr/>
          <p:nvPr/>
        </p:nvSpPr>
        <p:spPr>
          <a:xfrm>
            <a:off x="640080" y="3383280"/>
            <a:ext cx="5486400" cy="320040"/>
          </a:xfrm>
          <a:prstGeom prst="rect">
            <a:avLst/>
          </a:prstGeom>
          <a:noFill/>
          <a:ln/>
        </p:spPr>
        <p:txBody>
          <a:bodyPr wrap="square" lIns="0" tIns="0" rIns="0" bIns="0" rtlCol="0" anchor="ctr"/>
          <a:lstStyle/>
          <a:p>
            <a:pPr indent="0" marL="0">
              <a:buNone/>
            </a:pPr>
            <a:r>
              <a:rPr lang="en-US" sz="1200" b="1" dirty="0">
                <a:solidFill>
                  <a:srgbClr val="1A1A1A"/>
                </a:solidFill>
                <a:latin typeface="Meiryo" pitchFamily="34" charset="0"/>
                <a:ea typeface="Meiryo" pitchFamily="34" charset="-122"/>
                <a:cs typeface="Meiryo" pitchFamily="34" charset="-120"/>
              </a:rPr>
              <a:t>産後ケア利用率の国際比較</a:t>
            </a:r>
            <a:endParaRPr lang="en-US" sz="1200" dirty="0"/>
          </a:p>
        </p:txBody>
      </p:sp>
      <p:graphicFrame>
        <p:nvGraphicFramePr>
          <p:cNvPr id="18" name="Chart 0" descr=""/>
          <p:cNvGraphicFramePr/>
          <p:nvPr/>
        </p:nvGraphicFramePr>
        <p:xfrm>
          <a:off x="640080" y="3749040"/>
          <a:ext cx="5120640" cy="228600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6172200" y="3383280"/>
            <a:ext cx="5379415" cy="2651760"/>
          </a:xfrm>
          <a:prstGeom prst="roundRect">
            <a:avLst>
              <a:gd name="adj" fmla="val 2069"/>
            </a:avLst>
          </a:prstGeom>
          <a:solidFill>
            <a:srgbClr val="F2F2F2"/>
          </a:solidFill>
          <a:ln w="12700">
            <a:solidFill>
              <a:srgbClr val="D6D6D6"/>
            </a:solidFill>
            <a:prstDash val="solid"/>
          </a:ln>
        </p:spPr>
      </p:sp>
      <p:sp>
        <p:nvSpPr>
          <p:cNvPr id="20" name="Text 17"/>
          <p:cNvSpPr/>
          <p:nvPr/>
        </p:nvSpPr>
        <p:spPr>
          <a:xfrm>
            <a:off x="6400800" y="3520440"/>
            <a:ext cx="4572000" cy="320040"/>
          </a:xfrm>
          <a:prstGeom prst="rect">
            <a:avLst/>
          </a:prstGeom>
          <a:noFill/>
          <a:ln/>
        </p:spPr>
        <p:txBody>
          <a:bodyPr wrap="square" lIns="0" tIns="0" rIns="0" bIns="0" rtlCol="0" anchor="ctr"/>
          <a:lstStyle/>
          <a:p>
            <a:pPr indent="0" marL="0">
              <a:buNone/>
            </a:pPr>
            <a:r>
              <a:rPr lang="en-US" sz="1200" b="1" dirty="0">
                <a:solidFill>
                  <a:srgbClr val="E50012"/>
                </a:solidFill>
                <a:latin typeface="Meiryo" pitchFamily="34" charset="0"/>
                <a:ea typeface="Meiryo" pitchFamily="34" charset="-122"/>
                <a:cs typeface="Meiryo" pitchFamily="34" charset="-120"/>
              </a:rPr>
              <a:t>示唆</a:t>
            </a:r>
            <a:endParaRPr lang="en-US" sz="1200" dirty="0"/>
          </a:p>
        </p:txBody>
      </p:sp>
      <p:sp>
        <p:nvSpPr>
          <p:cNvPr id="21" name="Text 18"/>
          <p:cNvSpPr/>
          <p:nvPr/>
        </p:nvSpPr>
        <p:spPr>
          <a:xfrm>
            <a:off x="6400800" y="3886200"/>
            <a:ext cx="4967935" cy="20574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1100" dirty="0">
                <a:solidFill>
                  <a:srgbClr val="1A1A1A"/>
                </a:solidFill>
                <a:latin typeface="Meiryo" pitchFamily="34" charset="0"/>
                <a:ea typeface="Meiryo" pitchFamily="34" charset="-122"/>
                <a:cs typeface="Meiryo" pitchFamily="34" charset="-120"/>
              </a:rPr>
              <a:t>利用率3%→韓国並みには大きな成長余地。</a:t>
            </a:r>
            <a:endParaRPr lang="en-US" sz="1100" dirty="0"/>
          </a:p>
          <a:p>
            <a:pPr marL="177800" indent="-177800">
              <a:lnSpc>
                <a:spcPct val="105000"/>
              </a:lnSpc>
              <a:spcAft>
                <a:spcPts val="800"/>
              </a:spcAft>
              <a:buSzPct val="100000"/>
              <a:buChar char="•"/>
            </a:pPr>
            <a:r>
              <a:rPr lang="en-US" sz="1100" dirty="0">
                <a:solidFill>
                  <a:srgbClr val="1A1A1A"/>
                </a:solidFill>
                <a:latin typeface="Meiryo" pitchFamily="34" charset="0"/>
                <a:ea typeface="Meiryo" pitchFamily="34" charset="-122"/>
                <a:cs typeface="Meiryo" pitchFamily="34" charset="-120"/>
              </a:rPr>
              <a:t>競合はHOTEL STORK（¥66,000〜）／マームガーデン（¥40,000〜）／kokokara（¥25,000〜）。中価格帯に空白。</a:t>
            </a:r>
            <a:endParaRPr lang="en-US" sz="1100" dirty="0"/>
          </a:p>
          <a:p>
            <a:pPr marL="177800" indent="-177800">
              <a:lnSpc>
                <a:spcPct val="105000"/>
              </a:lnSpc>
              <a:buSzPct val="100000"/>
              <a:buChar char="•"/>
            </a:pPr>
            <a:r>
              <a:rPr lang="en-US" sz="1100" dirty="0">
                <a:solidFill>
                  <a:srgbClr val="1A1A1A"/>
                </a:solidFill>
                <a:latin typeface="Meiryo" pitchFamily="34" charset="0"/>
                <a:ea typeface="Meiryo" pitchFamily="34" charset="-122"/>
                <a:cs typeface="Meiryo" pitchFamily="34" charset="-120"/>
              </a:rPr>
              <a:t>自治体の産後ケア補助（1泊¥25,000〜66,000）認定取得で実質単価の上振れ余地。</a:t>
            </a:r>
            <a:endParaRPr lang="en-US" sz="1100" dirty="0"/>
          </a:p>
        </p:txBody>
      </p:sp>
      <p:pic>
        <p:nvPicPr>
          <p:cNvPr id="22" name="Image 0" descr="kc_mark.png">    </p:cNvPr>
          <p:cNvPicPr>
            <a:picLocks noChangeAspect="1"/>
          </p:cNvPicPr>
          <p:nvPr/>
        </p:nvPicPr>
        <p:blipFill>
          <a:blip r:embed="rId2"/>
          <a:stretch>
            <a:fillRect/>
          </a:stretch>
        </p:blipFill>
        <p:spPr>
          <a:xfrm>
            <a:off x="640080" y="6419088"/>
            <a:ext cx="155448" cy="185623"/>
          </a:xfrm>
          <a:prstGeom prst="rect">
            <a:avLst/>
          </a:prstGeom>
        </p:spPr>
      </p:pic>
      <p:sp>
        <p:nvSpPr>
          <p:cNvPr id="23" name="Text 19"/>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24" name="Text 20"/>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25" name="Text 21"/>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651760"/>
            <a:ext cx="822960" cy="822960"/>
          </a:xfrm>
          <a:prstGeom prst="rect">
            <a:avLst/>
          </a:prstGeom>
          <a:solidFill>
            <a:srgbClr val="EE835C"/>
          </a:solidFill>
          <a:ln/>
        </p:spPr>
      </p:sp>
      <p:sp>
        <p:nvSpPr>
          <p:cNvPr id="3" name="Text 1"/>
          <p:cNvSpPr/>
          <p:nvPr/>
        </p:nvSpPr>
        <p:spPr>
          <a:xfrm>
            <a:off x="640080" y="2651760"/>
            <a:ext cx="822960" cy="822960"/>
          </a:xfrm>
          <a:prstGeom prst="rect">
            <a:avLst/>
          </a:prstGeom>
          <a:noFill/>
          <a:ln/>
        </p:spPr>
        <p:txBody>
          <a:bodyPr wrap="square" lIns="0" tIns="0" rIns="0" bIns="0" rtlCol="0" anchor="ctr"/>
          <a:lstStyle/>
          <a:p>
            <a:pPr algn="ctr" indent="0" marL="0">
              <a:buNone/>
            </a:pPr>
            <a:r>
              <a:rPr lang="en-US" sz="3960" b="1" dirty="0">
                <a:solidFill>
                  <a:srgbClr val="FFFFFF"/>
                </a:solidFill>
                <a:latin typeface="Times New Roman" pitchFamily="34" charset="0"/>
                <a:ea typeface="Times New Roman" pitchFamily="34" charset="-122"/>
                <a:cs typeface="Times New Roman" pitchFamily="34" charset="-120"/>
              </a:rPr>
              <a:t>04</a:t>
            </a:r>
            <a:endParaRPr lang="en-US" sz="3960" dirty="0"/>
          </a:p>
        </p:txBody>
      </p:sp>
      <p:sp>
        <p:nvSpPr>
          <p:cNvPr id="4" name="Text 2"/>
          <p:cNvSpPr/>
          <p:nvPr/>
        </p:nvSpPr>
        <p:spPr>
          <a:xfrm>
            <a:off x="1783080" y="2651760"/>
            <a:ext cx="8686800" cy="822960"/>
          </a:xfrm>
          <a:prstGeom prst="rect">
            <a:avLst/>
          </a:prstGeom>
          <a:noFill/>
          <a:ln/>
        </p:spPr>
        <p:txBody>
          <a:bodyPr wrap="square" lIns="0" tIns="0" rIns="0" bIns="0" rtlCol="0" anchor="ctr"/>
          <a:lstStyle/>
          <a:p>
            <a:pPr indent="0" marL="0">
              <a:buNone/>
            </a:pPr>
            <a:r>
              <a:rPr lang="en-US" sz="2800" b="1" dirty="0">
                <a:solidFill>
                  <a:srgbClr val="1A1A1A"/>
                </a:solidFill>
                <a:latin typeface="Meiryo" pitchFamily="34" charset="0"/>
                <a:ea typeface="Meiryo" pitchFamily="34" charset="-122"/>
                <a:cs typeface="Meiryo" pitchFamily="34" charset="-120"/>
              </a:rPr>
              <a:t>当社（KC）経済性</a:t>
            </a:r>
            <a:endParaRPr lang="en-US" sz="2800" dirty="0"/>
          </a:p>
        </p:txBody>
      </p:sp>
      <p:sp>
        <p:nvSpPr>
          <p:cNvPr id="5" name="Shape 3"/>
          <p:cNvSpPr/>
          <p:nvPr/>
        </p:nvSpPr>
        <p:spPr>
          <a:xfrm>
            <a:off x="1783080" y="3611880"/>
            <a:ext cx="5029200" cy="0"/>
          </a:xfrm>
          <a:prstGeom prst="line">
            <a:avLst/>
          </a:prstGeom>
          <a:noFill/>
          <a:ln w="12700">
            <a:solidFill>
              <a:srgbClr val="D6D6D6"/>
            </a:solidFill>
            <a:prstDash val="solid"/>
          </a:ln>
        </p:spPr>
      </p:sp>
      <p:sp>
        <p:nvSpPr>
          <p:cNvPr id="6" name="Text 4"/>
          <p:cNvSpPr/>
          <p:nvPr/>
        </p:nvSpPr>
        <p:spPr>
          <a:xfrm>
            <a:off x="1783080" y="3675888"/>
            <a:ext cx="2743200" cy="320040"/>
          </a:xfrm>
          <a:prstGeom prst="rect">
            <a:avLst/>
          </a:prstGeom>
          <a:noFill/>
          <a:ln/>
        </p:spPr>
        <p:txBody>
          <a:bodyPr wrap="square" lIns="0" tIns="0" rIns="0" bIns="0" rtlCol="0" anchor="ctr"/>
          <a:lstStyle/>
          <a:p>
            <a:pPr indent="0" marL="0">
              <a:buNone/>
            </a:pPr>
            <a:r>
              <a:rPr lang="en-US" sz="1100" dirty="0">
                <a:solidFill>
                  <a:srgbClr val="EE835C"/>
                </a:solidFill>
                <a:latin typeface="Times New Roman" pitchFamily="34" charset="0"/>
                <a:ea typeface="Times New Roman" pitchFamily="34" charset="-122"/>
                <a:cs typeface="Times New Roman" pitchFamily="34" charset="-120"/>
              </a:rPr>
              <a:t>04 / 07</a:t>
            </a:r>
            <a:endParaRPr lang="en-US" sz="11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7"/>
          <p:cNvSpPr/>
          <p:nvPr/>
        </p:nvSpPr>
        <p:spPr>
          <a:xfrm>
            <a:off x="11597335" y="6382512"/>
            <a:ext cx="320040" cy="256032"/>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当社（KC）経済性 ― オーナー報酬の魅力</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当社は物件オーナーとして稼働連動の賃料を受領。通常のFAV LUX客室収益を大きく上回るアップリフトが見込める。</a:t>
            </a:r>
            <a:endParaRPr lang="en-US" sz="1150" dirty="0"/>
          </a:p>
        </p:txBody>
      </p:sp>
      <p:sp>
        <p:nvSpPr>
          <p:cNvPr id="5" name="Text 3"/>
          <p:cNvSpPr/>
          <p:nvPr/>
        </p:nvSpPr>
        <p:spPr>
          <a:xfrm>
            <a:off x="640080" y="1691640"/>
            <a:ext cx="5486400" cy="320040"/>
          </a:xfrm>
          <a:prstGeom prst="rect">
            <a:avLst/>
          </a:prstGeom>
          <a:noFill/>
          <a:ln/>
        </p:spPr>
        <p:txBody>
          <a:bodyPr wrap="square" lIns="0" tIns="0" rIns="0" bIns="0" rtlCol="0" anchor="ctr"/>
          <a:lstStyle/>
          <a:p>
            <a:pPr indent="0" marL="0">
              <a:buNone/>
            </a:pPr>
            <a:r>
              <a:rPr lang="en-US" sz="1200" b="1" dirty="0">
                <a:solidFill>
                  <a:srgbClr val="1A1A1A"/>
                </a:solidFill>
                <a:latin typeface="Meiryo" pitchFamily="34" charset="0"/>
                <a:ea typeface="Meiryo" pitchFamily="34" charset="-122"/>
                <a:cs typeface="Meiryo" pitchFamily="34" charset="-120"/>
              </a:rPr>
              <a:t>稼働率別 当社オーナー報酬（月額）</a:t>
            </a:r>
            <a:endParaRPr lang="en-US" sz="1200" dirty="0"/>
          </a:p>
        </p:txBody>
      </p:sp>
      <p:graphicFrame>
        <p:nvGraphicFramePr>
          <p:cNvPr id="6" name="Chart 0" descr=""/>
          <p:cNvGraphicFramePr/>
          <p:nvPr/>
        </p:nvGraphicFramePr>
        <p:xfrm>
          <a:off x="640080" y="205740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0080" y="5623560"/>
            <a:ext cx="5486400" cy="320040"/>
          </a:xfrm>
          <a:prstGeom prst="rect">
            <a:avLst/>
          </a:prstGeom>
          <a:noFill/>
          <a:ln/>
        </p:spPr>
        <p:txBody>
          <a:bodyPr wrap="square" lIns="0" tIns="0" rIns="0" bIns="0" rtlCol="0" anchor="ctr"/>
          <a:lstStyle/>
          <a:p>
            <a:pPr algn="ctr" indent="0" marL="0">
              <a:buNone/>
            </a:pPr>
            <a:r>
              <a:rPr lang="en-US" sz="1050" b="1" dirty="0">
                <a:solidFill>
                  <a:srgbClr val="E50012"/>
                </a:solidFill>
                <a:latin typeface="Meiryo" pitchFamily="34" charset="0"/>
                <a:ea typeface="Meiryo" pitchFamily="34" charset="-122"/>
                <a:cs typeface="Meiryo" pitchFamily="34" charset="-120"/>
              </a:rPr>
              <a:t>目標稼働80%：¥4,320,000/月（年 ¥51,840,000）</a:t>
            </a:r>
            <a:endParaRPr lang="en-US" sz="1050" dirty="0"/>
          </a:p>
        </p:txBody>
      </p:sp>
      <p:sp>
        <p:nvSpPr>
          <p:cNvPr id="8" name="Shape 5"/>
          <p:cNvSpPr/>
          <p:nvPr/>
        </p:nvSpPr>
        <p:spPr>
          <a:xfrm>
            <a:off x="6492240" y="1691640"/>
            <a:ext cx="5059375" cy="1371600"/>
          </a:xfrm>
          <a:prstGeom prst="roundRect">
            <a:avLst>
              <a:gd name="adj" fmla="val 4000"/>
            </a:avLst>
          </a:prstGeom>
          <a:solidFill>
            <a:srgbClr val="FBEDE7"/>
          </a:solidFill>
          <a:ln w="12700">
            <a:solidFill>
              <a:srgbClr val="EE835C"/>
            </a:solidFill>
            <a:prstDash val="solid"/>
          </a:ln>
          <a:effectLst>
            <a:outerShdw sx="100000" sy="100000" kx="0" ky="0" algn="bl" rotWithShape="0" blurRad="88900" dist="38100" dir="5400000">
              <a:srgbClr val="000000">
                <a:alpha val="12000"/>
              </a:srgbClr>
            </a:outerShdw>
          </a:effectLst>
        </p:spPr>
      </p:sp>
      <p:sp>
        <p:nvSpPr>
          <p:cNvPr id="9" name="Text 6"/>
          <p:cNvSpPr/>
          <p:nvPr/>
        </p:nvSpPr>
        <p:spPr>
          <a:xfrm>
            <a:off x="6720840" y="1828800"/>
            <a:ext cx="4602175" cy="548640"/>
          </a:xfrm>
          <a:prstGeom prst="rect">
            <a:avLst/>
          </a:prstGeom>
          <a:noFill/>
          <a:ln/>
        </p:spPr>
        <p:txBody>
          <a:bodyPr wrap="square" lIns="0" tIns="0" rIns="0" bIns="0" rtlCol="0" anchor="ctr"/>
          <a:lstStyle/>
          <a:p>
            <a:pPr indent="0" marL="0">
              <a:buNone/>
            </a:pPr>
            <a:r>
              <a:rPr lang="en-US" sz="1200" b="1" dirty="0">
                <a:solidFill>
                  <a:srgbClr val="1A1A1A"/>
                </a:solidFill>
                <a:latin typeface="Meiryo" pitchFamily="34" charset="0"/>
                <a:ea typeface="Meiryo" pitchFamily="34" charset="-122"/>
                <a:cs typeface="Meiryo" pitchFamily="34" charset="-120"/>
              </a:rPr>
              <a:t>賃料アップリフト　</a:t>
            </a:r>
            <a:pPr indent="0" marL="0">
              <a:buNone/>
            </a:pPr>
            <a:r>
              <a:rPr lang="en-US" sz="2200" b="1" dirty="0">
                <a:solidFill>
                  <a:srgbClr val="E50012"/>
                </a:solidFill>
                <a:latin typeface="Meiryo" pitchFamily="34" charset="0"/>
                <a:ea typeface="Meiryo" pitchFamily="34" charset="-122"/>
                <a:cs typeface="Meiryo" pitchFamily="34" charset="-120"/>
              </a:rPr>
              <a:t>+約87%</a:t>
            </a:r>
            <a:endParaRPr lang="en-US" sz="1200" dirty="0"/>
          </a:p>
        </p:txBody>
      </p:sp>
      <p:sp>
        <p:nvSpPr>
          <p:cNvPr id="10" name="Text 7"/>
          <p:cNvSpPr/>
          <p:nvPr/>
        </p:nvSpPr>
        <p:spPr>
          <a:xfrm>
            <a:off x="6720840" y="2377440"/>
            <a:ext cx="4602175" cy="594360"/>
          </a:xfrm>
          <a:prstGeom prst="rect">
            <a:avLst/>
          </a:prstGeom>
          <a:noFill/>
          <a:ln/>
        </p:spPr>
        <p:txBody>
          <a:bodyPr wrap="square" lIns="0" tIns="0" rIns="0" bIns="0" rtlCol="0" anchor="ctr"/>
          <a:lstStyle/>
          <a:p>
            <a:pPr indent="0" marL="0">
              <a:buNone/>
            </a:pPr>
            <a:r>
              <a:rPr lang="en-US" sz="1000" dirty="0">
                <a:solidFill>
                  <a:srgbClr val="1A1A1A"/>
                </a:solidFill>
                <a:latin typeface="Meiryo" pitchFamily="34" charset="0"/>
                <a:ea typeface="Meiryo" pitchFamily="34" charset="-122"/>
                <a:cs typeface="Meiryo" pitchFamily="34" charset="-120"/>
              </a:rPr>
              <a:t>FAV LUX 通常ADR（¥15,000〜17,000）比。保有アセットの収益単価を約2倍に引き上げる効果。</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92240" y="3291840"/>
          <a:ext cx="5059375" cy="914400"/>
        </p:xfrm>
        <a:graphic>
          <a:graphicData uri="http://schemas.openxmlformats.org/drawingml/2006/table">
            <a:tbl>
              <a:tblPr/>
              <a:tblGrid>
                <a:gridCol w="2331720"/>
                <a:gridCol w="1554480"/>
                <a:gridCol w="1536192"/>
              </a:tblGrid>
              <a:tr h="384048">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項目</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月額</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年額</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C97B84"/>
                    </a:solidFill>
                  </a:tcPr>
                </a:tc>
              </a:tr>
              <a:tr h="457200">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オーナー報酬（60%）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¥3,240,000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¥38,880,000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57200">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オーナー報酬（80%）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¥4,320,000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¥51,840,000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57200">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オーナー報酬（100%）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¥5,400,000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¥64,800,000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bl>
          </a:graphicData>
        </a:graphic>
      </p:graphicFrame>
      <p:sp>
        <p:nvSpPr>
          <p:cNvPr id="12" name="Text 8"/>
          <p:cNvSpPr/>
          <p:nvPr/>
        </p:nvSpPr>
        <p:spPr>
          <a:xfrm>
            <a:off x="6492240" y="5257800"/>
            <a:ext cx="5059375" cy="640080"/>
          </a:xfrm>
          <a:prstGeom prst="rect">
            <a:avLst/>
          </a:prstGeom>
          <a:noFill/>
          <a:ln/>
        </p:spPr>
        <p:txBody>
          <a:bodyPr wrap="square" lIns="0" tIns="0" rIns="0" bIns="0" rtlCol="0" anchor="t"/>
          <a:lstStyle/>
          <a:p>
            <a:pPr indent="0" marL="0">
              <a:buNone/>
            </a:pPr>
            <a:r>
              <a:rPr lang="en-US" sz="950" dirty="0">
                <a:solidFill>
                  <a:srgbClr val="6E6E6E"/>
                </a:solidFill>
                <a:latin typeface="Meiryo" pitchFamily="34" charset="0"/>
                <a:ea typeface="Meiryo" pitchFamily="34" charset="-122"/>
                <a:cs typeface="Meiryo" pitchFamily="34" charset="-120"/>
              </a:rPr>
              <a:t>※ 稼働に連動するため下振れ時は減収。最低保証の有無が当社収入の安定性を左右する（第6章）。</a:t>
            </a:r>
            <a:endParaRPr lang="en-US" sz="950" dirty="0"/>
          </a:p>
        </p:txBody>
      </p:sp>
      <p:pic>
        <p:nvPicPr>
          <p:cNvPr id="13" name="Image 0" descr="kc_mark.png">    </p:cNvPr>
          <p:cNvPicPr>
            <a:picLocks noChangeAspect="1"/>
          </p:cNvPicPr>
          <p:nvPr/>
        </p:nvPicPr>
        <p:blipFill>
          <a:blip r:embed="rId2"/>
          <a:stretch>
            <a:fillRect/>
          </a:stretch>
        </p:blipFill>
        <p:spPr>
          <a:xfrm>
            <a:off x="640080" y="6419088"/>
            <a:ext cx="155448" cy="185623"/>
          </a:xfrm>
          <a:prstGeom prst="rect">
            <a:avLst/>
          </a:prstGeom>
        </p:spPr>
      </p:pic>
      <p:sp>
        <p:nvSpPr>
          <p:cNvPr id="14" name="Text 9"/>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15" name="Text 10"/>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6" name="Text 11"/>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651760"/>
            <a:ext cx="822960" cy="822960"/>
          </a:xfrm>
          <a:prstGeom prst="rect">
            <a:avLst/>
          </a:prstGeom>
          <a:solidFill>
            <a:srgbClr val="EE835C"/>
          </a:solidFill>
          <a:ln/>
        </p:spPr>
      </p:sp>
      <p:sp>
        <p:nvSpPr>
          <p:cNvPr id="3" name="Text 1"/>
          <p:cNvSpPr/>
          <p:nvPr/>
        </p:nvSpPr>
        <p:spPr>
          <a:xfrm>
            <a:off x="640080" y="2651760"/>
            <a:ext cx="822960" cy="822960"/>
          </a:xfrm>
          <a:prstGeom prst="rect">
            <a:avLst/>
          </a:prstGeom>
          <a:noFill/>
          <a:ln/>
        </p:spPr>
        <p:txBody>
          <a:bodyPr wrap="square" lIns="0" tIns="0" rIns="0" bIns="0" rtlCol="0" anchor="ctr"/>
          <a:lstStyle/>
          <a:p>
            <a:pPr algn="ctr" indent="0" marL="0">
              <a:buNone/>
            </a:pPr>
            <a:r>
              <a:rPr lang="en-US" sz="3960" b="1" dirty="0">
                <a:solidFill>
                  <a:srgbClr val="FFFFFF"/>
                </a:solidFill>
                <a:latin typeface="Times New Roman" pitchFamily="34" charset="0"/>
                <a:ea typeface="Times New Roman" pitchFamily="34" charset="-122"/>
                <a:cs typeface="Times New Roman" pitchFamily="34" charset="-120"/>
              </a:rPr>
              <a:t>05</a:t>
            </a:r>
            <a:endParaRPr lang="en-US" sz="3960" dirty="0"/>
          </a:p>
        </p:txBody>
      </p:sp>
      <p:sp>
        <p:nvSpPr>
          <p:cNvPr id="4" name="Text 2"/>
          <p:cNvSpPr/>
          <p:nvPr/>
        </p:nvSpPr>
        <p:spPr>
          <a:xfrm>
            <a:off x="1783080" y="2651760"/>
            <a:ext cx="8686800" cy="822960"/>
          </a:xfrm>
          <a:prstGeom prst="rect">
            <a:avLst/>
          </a:prstGeom>
          <a:noFill/>
          <a:ln/>
        </p:spPr>
        <p:txBody>
          <a:bodyPr wrap="square" lIns="0" tIns="0" rIns="0" bIns="0" rtlCol="0" anchor="ctr"/>
          <a:lstStyle/>
          <a:p>
            <a:pPr indent="0" marL="0">
              <a:buNone/>
            </a:pPr>
            <a:r>
              <a:rPr lang="en-US" sz="2800" b="1" dirty="0">
                <a:solidFill>
                  <a:srgbClr val="1A1A1A"/>
                </a:solidFill>
                <a:latin typeface="Meiryo" pitchFamily="34" charset="0"/>
                <a:ea typeface="Meiryo" pitchFamily="34" charset="-122"/>
                <a:cs typeface="Meiryo" pitchFamily="34" charset="-120"/>
              </a:rPr>
              <a:t>オペレーター損益と収益構造</a:t>
            </a:r>
            <a:endParaRPr lang="en-US" sz="2800" dirty="0"/>
          </a:p>
        </p:txBody>
      </p:sp>
      <p:sp>
        <p:nvSpPr>
          <p:cNvPr id="5" name="Shape 3"/>
          <p:cNvSpPr/>
          <p:nvPr/>
        </p:nvSpPr>
        <p:spPr>
          <a:xfrm>
            <a:off x="1783080" y="3611880"/>
            <a:ext cx="5029200" cy="0"/>
          </a:xfrm>
          <a:prstGeom prst="line">
            <a:avLst/>
          </a:prstGeom>
          <a:noFill/>
          <a:ln w="12700">
            <a:solidFill>
              <a:srgbClr val="D6D6D6"/>
            </a:solidFill>
            <a:prstDash val="solid"/>
          </a:ln>
        </p:spPr>
      </p:sp>
      <p:sp>
        <p:nvSpPr>
          <p:cNvPr id="6" name="Text 4"/>
          <p:cNvSpPr/>
          <p:nvPr/>
        </p:nvSpPr>
        <p:spPr>
          <a:xfrm>
            <a:off x="1783080" y="3675888"/>
            <a:ext cx="2743200" cy="320040"/>
          </a:xfrm>
          <a:prstGeom prst="rect">
            <a:avLst/>
          </a:prstGeom>
          <a:noFill/>
          <a:ln/>
        </p:spPr>
        <p:txBody>
          <a:bodyPr wrap="square" lIns="0" tIns="0" rIns="0" bIns="0" rtlCol="0" anchor="ctr"/>
          <a:lstStyle/>
          <a:p>
            <a:pPr indent="0" marL="0">
              <a:buNone/>
            </a:pPr>
            <a:r>
              <a:rPr lang="en-US" sz="1100" dirty="0">
                <a:solidFill>
                  <a:srgbClr val="EE835C"/>
                </a:solidFill>
                <a:latin typeface="Times New Roman" pitchFamily="34" charset="0"/>
                <a:ea typeface="Times New Roman" pitchFamily="34" charset="-122"/>
                <a:cs typeface="Times New Roman" pitchFamily="34" charset="-120"/>
              </a:rPr>
              <a:t>05 / 07</a:t>
            </a:r>
            <a:endParaRPr lang="en-US" sz="11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7"/>
          <p:cNvSpPr/>
          <p:nvPr/>
        </p:nvSpPr>
        <p:spPr>
          <a:xfrm>
            <a:off x="11597335" y="6382512"/>
            <a:ext cx="320040" cy="256032"/>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オペレーター損益 ― 収益構造の論点</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安定月（稼働80%）でも、GOPがオーナー報酬を下回り営業赤字。損益分岐稼働率は86.8%と目標（60%）を大きく上回る。</a:t>
            </a:r>
            <a:endParaRPr lang="en-US" sz="1150" dirty="0"/>
          </a:p>
        </p:txBody>
      </p:sp>
      <p:sp>
        <p:nvSpPr>
          <p:cNvPr id="5" name="Text 3"/>
          <p:cNvSpPr/>
          <p:nvPr/>
        </p:nvSpPr>
        <p:spPr>
          <a:xfrm>
            <a:off x="640080" y="1645920"/>
            <a:ext cx="5486400" cy="274320"/>
          </a:xfrm>
          <a:prstGeom prst="rect">
            <a:avLst/>
          </a:prstGeom>
          <a:noFill/>
          <a:ln/>
        </p:spPr>
        <p:txBody>
          <a:bodyPr wrap="square" lIns="0" tIns="0" rIns="0" bIns="0" rtlCol="0" anchor="ctr"/>
          <a:lstStyle/>
          <a:p>
            <a:pPr indent="0" marL="0">
              <a:buNone/>
            </a:pPr>
            <a:r>
              <a:rPr lang="en-US" sz="1200" b="1" dirty="0">
                <a:solidFill>
                  <a:srgbClr val="1A1A1A"/>
                </a:solidFill>
                <a:latin typeface="Meiryo" pitchFamily="34" charset="0"/>
                <a:ea typeface="Meiryo" pitchFamily="34" charset="-122"/>
                <a:cs typeface="Meiryo" pitchFamily="34" charset="-120"/>
              </a:rPr>
              <a:t>安定月の比較（稼働80%）</a:t>
            </a:r>
            <a:endParaRPr lang="en-US" sz="1200" dirty="0"/>
          </a:p>
        </p:txBody>
      </p:sp>
      <p:sp>
        <p:nvSpPr>
          <p:cNvPr id="6" name="Shape 4"/>
          <p:cNvSpPr/>
          <p:nvPr/>
        </p:nvSpPr>
        <p:spPr>
          <a:xfrm>
            <a:off x="1463040" y="3464159"/>
            <a:ext cx="1234440" cy="1930801"/>
          </a:xfrm>
          <a:prstGeom prst="rect">
            <a:avLst/>
          </a:prstGeom>
          <a:solidFill>
            <a:srgbClr val="6E6E6E"/>
          </a:solidFill>
          <a:ln/>
        </p:spPr>
      </p:sp>
      <p:sp>
        <p:nvSpPr>
          <p:cNvPr id="7" name="Text 5"/>
          <p:cNvSpPr/>
          <p:nvPr/>
        </p:nvSpPr>
        <p:spPr>
          <a:xfrm>
            <a:off x="1280160" y="2869799"/>
            <a:ext cx="1600200" cy="548640"/>
          </a:xfrm>
          <a:prstGeom prst="rect">
            <a:avLst/>
          </a:prstGeom>
          <a:noFill/>
          <a:ln/>
        </p:spPr>
        <p:txBody>
          <a:bodyPr wrap="square" lIns="0" tIns="0" rIns="0" bIns="0" rtlCol="0" anchor="ctr"/>
          <a:lstStyle/>
          <a:p>
            <a:pPr algn="ctr" indent="0" marL="0">
              <a:buNone/>
            </a:pPr>
            <a:r>
              <a:rPr lang="en-US" sz="1100" dirty="0">
                <a:solidFill>
                  <a:srgbClr val="1A1A1A"/>
                </a:solidFill>
                <a:latin typeface="Meiryo" pitchFamily="34" charset="0"/>
                <a:ea typeface="Meiryo" pitchFamily="34" charset="-122"/>
                <a:cs typeface="Meiryo" pitchFamily="34" charset="-120"/>
              </a:rPr>
              <a:t>GOP</a:t>
            </a:r>
            <a:endParaRPr lang="en-US" sz="1100" dirty="0"/>
          </a:p>
          <a:p>
            <a:pPr algn="ctr" indent="0" marL="0">
              <a:buNone/>
            </a:pPr>
            <a:r>
              <a:rPr lang="en-US" sz="1300" b="1" dirty="0">
                <a:solidFill>
                  <a:srgbClr val="1A1A1A"/>
                </a:solidFill>
                <a:latin typeface="Meiryo" pitchFamily="34" charset="0"/>
                <a:ea typeface="Meiryo" pitchFamily="34" charset="-122"/>
                <a:cs typeface="Meiryo" pitchFamily="34" charset="-120"/>
              </a:rPr>
              <a:t>¥3.04M</a:t>
            </a:r>
            <a:endParaRPr lang="en-US" sz="1100" dirty="0"/>
          </a:p>
        </p:txBody>
      </p:sp>
      <p:sp>
        <p:nvSpPr>
          <p:cNvPr id="8" name="Shape 6"/>
          <p:cNvSpPr/>
          <p:nvPr/>
        </p:nvSpPr>
        <p:spPr>
          <a:xfrm>
            <a:off x="3383280" y="2651760"/>
            <a:ext cx="1234440" cy="2743200"/>
          </a:xfrm>
          <a:prstGeom prst="rect">
            <a:avLst/>
          </a:prstGeom>
          <a:solidFill>
            <a:srgbClr val="EE835C"/>
          </a:solidFill>
          <a:ln/>
        </p:spPr>
      </p:sp>
      <p:sp>
        <p:nvSpPr>
          <p:cNvPr id="9" name="Text 7"/>
          <p:cNvSpPr/>
          <p:nvPr/>
        </p:nvSpPr>
        <p:spPr>
          <a:xfrm>
            <a:off x="3063240" y="2057400"/>
            <a:ext cx="1874520" cy="548640"/>
          </a:xfrm>
          <a:prstGeom prst="rect">
            <a:avLst/>
          </a:prstGeom>
          <a:noFill/>
          <a:ln/>
        </p:spPr>
        <p:txBody>
          <a:bodyPr wrap="square" lIns="0" tIns="0" rIns="0" bIns="0" rtlCol="0" anchor="ctr"/>
          <a:lstStyle/>
          <a:p>
            <a:pPr algn="ctr" indent="0" marL="0">
              <a:buNone/>
            </a:pPr>
            <a:r>
              <a:rPr lang="en-US" sz="1100" dirty="0">
                <a:solidFill>
                  <a:srgbClr val="1A1A1A"/>
                </a:solidFill>
                <a:latin typeface="Meiryo" pitchFamily="34" charset="0"/>
                <a:ea typeface="Meiryo" pitchFamily="34" charset="-122"/>
                <a:cs typeface="Meiryo" pitchFamily="34" charset="-120"/>
              </a:rPr>
              <a:t>オーナー報酬</a:t>
            </a:r>
            <a:endParaRPr lang="en-US" sz="1100" dirty="0"/>
          </a:p>
          <a:p>
            <a:pPr algn="ctr" indent="0" marL="0">
              <a:buNone/>
            </a:pPr>
            <a:r>
              <a:rPr lang="en-US" sz="1300" b="1" dirty="0">
                <a:solidFill>
                  <a:srgbClr val="E50012"/>
                </a:solidFill>
                <a:latin typeface="Meiryo" pitchFamily="34" charset="0"/>
                <a:ea typeface="Meiryo" pitchFamily="34" charset="-122"/>
                <a:cs typeface="Meiryo" pitchFamily="34" charset="-120"/>
              </a:rPr>
              <a:t>¥4.32M</a:t>
            </a:r>
            <a:endParaRPr lang="en-US" sz="1100" dirty="0"/>
          </a:p>
        </p:txBody>
      </p:sp>
      <p:sp>
        <p:nvSpPr>
          <p:cNvPr id="10" name="Shape 8"/>
          <p:cNvSpPr/>
          <p:nvPr/>
        </p:nvSpPr>
        <p:spPr>
          <a:xfrm>
            <a:off x="1005840" y="5394960"/>
            <a:ext cx="4206240" cy="0"/>
          </a:xfrm>
          <a:prstGeom prst="line">
            <a:avLst/>
          </a:prstGeom>
          <a:noFill/>
          <a:ln w="12700">
            <a:solidFill>
              <a:srgbClr val="6E6E6E"/>
            </a:solidFill>
            <a:prstDash val="solid"/>
          </a:ln>
        </p:spPr>
      </p:sp>
      <p:sp>
        <p:nvSpPr>
          <p:cNvPr id="11" name="Shape 9"/>
          <p:cNvSpPr/>
          <p:nvPr/>
        </p:nvSpPr>
        <p:spPr>
          <a:xfrm>
            <a:off x="1005840" y="5532120"/>
            <a:ext cx="4206240" cy="548640"/>
          </a:xfrm>
          <a:prstGeom prst="roundRect">
            <a:avLst>
              <a:gd name="adj" fmla="val 8333"/>
            </a:avLst>
          </a:prstGeom>
          <a:solidFill>
            <a:srgbClr val="E50012"/>
          </a:solidFill>
          <a:ln/>
        </p:spPr>
      </p:sp>
      <p:sp>
        <p:nvSpPr>
          <p:cNvPr id="12" name="Text 10"/>
          <p:cNvSpPr/>
          <p:nvPr/>
        </p:nvSpPr>
        <p:spPr>
          <a:xfrm>
            <a:off x="1005840" y="5532120"/>
            <a:ext cx="420624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差額 ▲¥1.28M/月 → 営業赤字</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0" y="1645920"/>
          <a:ext cx="5150815" cy="914400"/>
        </p:xfrm>
        <a:graphic>
          <a:graphicData uri="http://schemas.openxmlformats.org/drawingml/2006/table">
            <a:tbl>
              <a:tblPr/>
              <a:tblGrid>
                <a:gridCol w="3200400"/>
                <a:gridCol w="2221992"/>
              </a:tblGrid>
              <a:tr h="402336">
                <a:tc gridSpan="2">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月次P&amp;L（稼働80%・安定月）</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hMerge="1">
                  <a:tcPr/>
                </a:tc>
              </a:tr>
              <a:tr h="402336">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売上高</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¥6,083,610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02336">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　室料収益</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¥5,928,000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02336">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　朝食収益</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¥155,610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02336">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人件費</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▲216万</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02336">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変動費・固定費 他</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A1A1A"/>
                          </a:solidFill>
                          <a:latin typeface="Meiryo" pitchFamily="34" charset="0"/>
                          <a:ea typeface="Meiryo" pitchFamily="34" charset="-122"/>
                          <a:cs typeface="Meiryo" pitchFamily="34" charset="-120"/>
                        </a:rPr>
                        <a:t>▲88万</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02336">
                <a:tc>
                  <a:txBody>
                    <a:bodyPr/>
                    <a:lstStyle/>
                    <a:p>
                      <a:pPr algn="r" indent="0" marL="0">
                        <a:buNone/>
                      </a:pPr>
                      <a:r>
                        <a:rPr lang="en-US" sz="1100" b="1" dirty="0">
                          <a:solidFill>
                            <a:srgbClr val="1A1A1A"/>
                          </a:solidFill>
                          <a:latin typeface="Meiryo" pitchFamily="34" charset="0"/>
                          <a:ea typeface="Meiryo" pitchFamily="34" charset="-122"/>
                          <a:cs typeface="Meiryo" pitchFamily="34" charset="-120"/>
                        </a:rPr>
                        <a:t>GOP（オーナー報酬控除前利益）</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A1A1A"/>
                          </a:solidFill>
                          <a:latin typeface="Meiryo" pitchFamily="34" charset="0"/>
                          <a:ea typeface="Meiryo" pitchFamily="34" charset="-122"/>
                          <a:cs typeface="Meiryo" pitchFamily="34" charset="-120"/>
                        </a:rPr>
                        <a:t>¥3,040,631</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02336">
                <a:tc>
                  <a:txBody>
                    <a:bodyPr/>
                    <a:lstStyle/>
                    <a:p>
                      <a:pPr algn="r" indent="0" marL="0">
                        <a:buNone/>
                      </a:pPr>
                      <a:r>
                        <a:rPr lang="en-US" sz="1100" dirty="0">
                          <a:solidFill>
                            <a:srgbClr val="E50012"/>
                          </a:solidFill>
                          <a:latin typeface="Meiryo" pitchFamily="34" charset="0"/>
                          <a:ea typeface="Meiryo" pitchFamily="34" charset="-122"/>
                          <a:cs typeface="Meiryo" pitchFamily="34" charset="-120"/>
                        </a:rPr>
                        <a:t>オーナー報酬（賃料）</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100" dirty="0">
                          <a:solidFill>
                            <a:srgbClr val="E50012"/>
                          </a:solidFill>
                          <a:latin typeface="Meiryo" pitchFamily="34" charset="0"/>
                          <a:ea typeface="Meiryo" pitchFamily="34" charset="-122"/>
                          <a:cs typeface="Meiryo" pitchFamily="34" charset="-120"/>
                        </a:rPr>
                        <a:t>▲¥4,320,000</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02336">
                <a:tc>
                  <a:txBody>
                    <a:bodyPr/>
                    <a:lstStyle/>
                    <a:p>
                      <a:pPr algn="r" indent="0" marL="0">
                        <a:buNone/>
                      </a:pPr>
                      <a:r>
                        <a:rPr lang="en-US" sz="1100" b="1" dirty="0">
                          <a:solidFill>
                            <a:srgbClr val="1A1A1A"/>
                          </a:solidFill>
                          <a:latin typeface="Meiryo" pitchFamily="34" charset="0"/>
                          <a:ea typeface="Meiryo" pitchFamily="34" charset="-122"/>
                          <a:cs typeface="Meiryo" pitchFamily="34" charset="-120"/>
                        </a:rPr>
                        <a:t>営業利益</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c>
                  <a:txBody>
                    <a:bodyPr/>
                    <a:lstStyle/>
                    <a:p>
                      <a:pPr algn="r" indent="0" marL="0">
                        <a:buNone/>
                      </a:pPr>
                      <a:r>
                        <a:rPr lang="en-US" sz="1100" b="1" dirty="0">
                          <a:solidFill>
                            <a:srgbClr val="E50012"/>
                          </a:solidFill>
                          <a:latin typeface="Meiryo" pitchFamily="34" charset="0"/>
                          <a:ea typeface="Meiryo" pitchFamily="34" charset="-122"/>
                          <a:cs typeface="Meiryo" pitchFamily="34" charset="-120"/>
                        </a:rPr>
                        <a:t>▲¥1,279,369</a:t>
                      </a:r>
                      <a:endParaRPr lang="en-US" sz="11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r>
            </a:tbl>
          </a:graphicData>
        </a:graphic>
      </p:graphicFrame>
      <p:sp>
        <p:nvSpPr>
          <p:cNvPr id="14" name="Text 11"/>
          <p:cNvSpPr/>
          <p:nvPr/>
        </p:nvSpPr>
        <p:spPr>
          <a:xfrm>
            <a:off x="6400800" y="5532120"/>
            <a:ext cx="5150815" cy="548640"/>
          </a:xfrm>
          <a:prstGeom prst="rect">
            <a:avLst/>
          </a:prstGeom>
          <a:noFill/>
          <a:ln/>
        </p:spPr>
        <p:txBody>
          <a:bodyPr wrap="square" lIns="0" tIns="0" rIns="0" bIns="0" rtlCol="0" anchor="t"/>
          <a:lstStyle/>
          <a:p>
            <a:pPr indent="0" marL="0">
              <a:buNone/>
            </a:pPr>
            <a:r>
              <a:rPr lang="en-US" sz="1000" b="1" dirty="0">
                <a:solidFill>
                  <a:srgbClr val="E50012"/>
                </a:solidFill>
                <a:latin typeface="Meiryo" pitchFamily="34" charset="0"/>
                <a:ea typeface="Meiryo" pitchFamily="34" charset="-122"/>
                <a:cs typeface="Meiryo" pitchFamily="34" charset="-120"/>
              </a:rPr>
              <a:t>損益分岐稼働率 86.8％（目標60%を大幅超過）／ 人件費比率 35.5％（宿泊業標準18〜25%超）</a:t>
            </a:r>
            <a:endParaRPr lang="en-US" sz="1000" dirty="0"/>
          </a:p>
        </p:txBody>
      </p:sp>
      <p:pic>
        <p:nvPicPr>
          <p:cNvPr id="15"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16" name="Text 12"/>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17" name="Text 13"/>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8" name="Text 14"/>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オペレーター Y1 月次推移</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立ち上がり期の稼働ランプ（30%→80%）を織り込むと、Y1累計は▲18.3百万円。運転資金¥7.0百万円では資金が枯渇する。</a:t>
            </a:r>
            <a:endParaRPr lang="en-US" sz="1150" dirty="0"/>
          </a:p>
        </p:txBody>
      </p:sp>
      <p:graphicFrame>
        <p:nvGraphicFramePr>
          <p:cNvPr id="5" name="Chart 0" descr=""/>
          <p:cNvGraphicFramePr/>
          <p:nvPr/>
        </p:nvGraphicFramePr>
        <p:xfrm>
          <a:off x="640080" y="1691640"/>
          <a:ext cx="768096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595360" y="1737360"/>
            <a:ext cx="2956255" cy="914400"/>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7" name="Text 4"/>
          <p:cNvSpPr/>
          <p:nvPr/>
        </p:nvSpPr>
        <p:spPr>
          <a:xfrm>
            <a:off x="8778240" y="1847088"/>
            <a:ext cx="2590495"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Y1 売上高</a:t>
            </a:r>
            <a:endParaRPr lang="en-US" sz="1000" dirty="0"/>
          </a:p>
        </p:txBody>
      </p:sp>
      <p:sp>
        <p:nvSpPr>
          <p:cNvPr id="8" name="Text 5"/>
          <p:cNvSpPr/>
          <p:nvPr/>
        </p:nvSpPr>
        <p:spPr>
          <a:xfrm>
            <a:off x="8778240" y="2121408"/>
            <a:ext cx="2590495" cy="457200"/>
          </a:xfrm>
          <a:prstGeom prst="rect">
            <a:avLst/>
          </a:prstGeom>
          <a:noFill/>
          <a:ln/>
        </p:spPr>
        <p:txBody>
          <a:bodyPr wrap="square" lIns="0" tIns="0" rIns="0" bIns="0" rtlCol="0" anchor="ctr"/>
          <a:lstStyle/>
          <a:p>
            <a:pPr indent="0" marL="0">
              <a:buNone/>
            </a:pPr>
            <a:r>
              <a:rPr lang="en-US" sz="1700" b="1" dirty="0">
                <a:solidFill>
                  <a:srgbClr val="1A1A1A"/>
                </a:solidFill>
                <a:latin typeface="Meiryo" pitchFamily="34" charset="0"/>
                <a:ea typeface="Meiryo" pitchFamily="34" charset="-122"/>
                <a:cs typeface="Meiryo" pitchFamily="34" charset="-120"/>
              </a:rPr>
              <a:t>¥57,414,069</a:t>
            </a:r>
            <a:endParaRPr lang="en-US" sz="1700" dirty="0"/>
          </a:p>
        </p:txBody>
      </p:sp>
      <p:sp>
        <p:nvSpPr>
          <p:cNvPr id="9" name="Shape 6"/>
          <p:cNvSpPr/>
          <p:nvPr/>
        </p:nvSpPr>
        <p:spPr>
          <a:xfrm>
            <a:off x="8595360" y="2788920"/>
            <a:ext cx="2956255" cy="914400"/>
          </a:xfrm>
          <a:prstGeom prst="rect">
            <a:avLst/>
          </a:prstGeom>
          <a:solidFill>
            <a:srgbClr val="FBEDE7"/>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0" name="Text 7"/>
          <p:cNvSpPr/>
          <p:nvPr/>
        </p:nvSpPr>
        <p:spPr>
          <a:xfrm>
            <a:off x="8778240" y="2898648"/>
            <a:ext cx="2590495"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Y1 累計純損益</a:t>
            </a:r>
            <a:endParaRPr lang="en-US" sz="1000" dirty="0"/>
          </a:p>
        </p:txBody>
      </p:sp>
      <p:sp>
        <p:nvSpPr>
          <p:cNvPr id="11" name="Text 8"/>
          <p:cNvSpPr/>
          <p:nvPr/>
        </p:nvSpPr>
        <p:spPr>
          <a:xfrm>
            <a:off x="8778240" y="3172968"/>
            <a:ext cx="2590495" cy="457200"/>
          </a:xfrm>
          <a:prstGeom prst="rect">
            <a:avLst/>
          </a:prstGeom>
          <a:noFill/>
          <a:ln/>
        </p:spPr>
        <p:txBody>
          <a:bodyPr wrap="square" lIns="0" tIns="0" rIns="0" bIns="0" rtlCol="0" anchor="ctr"/>
          <a:lstStyle/>
          <a:p>
            <a:pPr indent="0" marL="0">
              <a:buNone/>
            </a:pPr>
            <a:r>
              <a:rPr lang="en-US" sz="1700" b="1" dirty="0">
                <a:solidFill>
                  <a:srgbClr val="E50012"/>
                </a:solidFill>
                <a:latin typeface="Meiryo" pitchFamily="34" charset="0"/>
                <a:ea typeface="Meiryo" pitchFamily="34" charset="-122"/>
                <a:cs typeface="Meiryo" pitchFamily="34" charset="-120"/>
              </a:rPr>
              <a:t>▲¥18,346,266</a:t>
            </a:r>
            <a:endParaRPr lang="en-US" sz="1700" dirty="0"/>
          </a:p>
        </p:txBody>
      </p:sp>
      <p:sp>
        <p:nvSpPr>
          <p:cNvPr id="12" name="Shape 9"/>
          <p:cNvSpPr/>
          <p:nvPr/>
        </p:nvSpPr>
        <p:spPr>
          <a:xfrm>
            <a:off x="8595360" y="3840480"/>
            <a:ext cx="2956255" cy="914400"/>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3" name="Text 10"/>
          <p:cNvSpPr/>
          <p:nvPr/>
        </p:nvSpPr>
        <p:spPr>
          <a:xfrm>
            <a:off x="8778240" y="3950208"/>
            <a:ext cx="2590495"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運転資金</a:t>
            </a:r>
            <a:endParaRPr lang="en-US" sz="1000" dirty="0"/>
          </a:p>
        </p:txBody>
      </p:sp>
      <p:sp>
        <p:nvSpPr>
          <p:cNvPr id="14" name="Text 11"/>
          <p:cNvSpPr/>
          <p:nvPr/>
        </p:nvSpPr>
        <p:spPr>
          <a:xfrm>
            <a:off x="8778240" y="4224528"/>
            <a:ext cx="2590495" cy="457200"/>
          </a:xfrm>
          <a:prstGeom prst="rect">
            <a:avLst/>
          </a:prstGeom>
          <a:noFill/>
          <a:ln/>
        </p:spPr>
        <p:txBody>
          <a:bodyPr wrap="square" lIns="0" tIns="0" rIns="0" bIns="0" rtlCol="0" anchor="ctr"/>
          <a:lstStyle/>
          <a:p>
            <a:pPr indent="0" marL="0">
              <a:buNone/>
            </a:pPr>
            <a:r>
              <a:rPr lang="en-US" sz="1700" b="1" dirty="0">
                <a:solidFill>
                  <a:srgbClr val="1A1A1A"/>
                </a:solidFill>
                <a:latin typeface="Meiryo" pitchFamily="34" charset="0"/>
                <a:ea typeface="Meiryo" pitchFamily="34" charset="-122"/>
                <a:cs typeface="Meiryo" pitchFamily="34" charset="-120"/>
              </a:rPr>
              <a:t>¥7,000,000</a:t>
            </a:r>
            <a:endParaRPr lang="en-US" sz="1700" dirty="0"/>
          </a:p>
        </p:txBody>
      </p:sp>
      <p:sp>
        <p:nvSpPr>
          <p:cNvPr id="15" name="Shape 12"/>
          <p:cNvSpPr/>
          <p:nvPr/>
        </p:nvSpPr>
        <p:spPr>
          <a:xfrm>
            <a:off x="8595360" y="4892040"/>
            <a:ext cx="2956255" cy="914400"/>
          </a:xfrm>
          <a:prstGeom prst="rect">
            <a:avLst/>
          </a:prstGeom>
          <a:solidFill>
            <a:srgbClr val="FBEDE7"/>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6" name="Text 13"/>
          <p:cNvSpPr/>
          <p:nvPr/>
        </p:nvSpPr>
        <p:spPr>
          <a:xfrm>
            <a:off x="8778240" y="5001768"/>
            <a:ext cx="2590495" cy="274320"/>
          </a:xfrm>
          <a:prstGeom prst="rect">
            <a:avLst/>
          </a:prstGeom>
          <a:noFill/>
          <a:ln/>
        </p:spPr>
        <p:txBody>
          <a:bodyPr wrap="square" lIns="0" tIns="0" rIns="0" bIns="0" rtlCol="0" anchor="ctr"/>
          <a:lstStyle/>
          <a:p>
            <a:pPr indent="0" marL="0">
              <a:buNone/>
            </a:pPr>
            <a:r>
              <a:rPr lang="en-US" sz="1000" dirty="0">
                <a:solidFill>
                  <a:srgbClr val="6E6E6E"/>
                </a:solidFill>
                <a:latin typeface="Meiryo" pitchFamily="34" charset="0"/>
                <a:ea typeface="Meiryo" pitchFamily="34" charset="-122"/>
                <a:cs typeface="Meiryo" pitchFamily="34" charset="-120"/>
              </a:rPr>
              <a:t>資金不足額</a:t>
            </a:r>
            <a:endParaRPr lang="en-US" sz="1000" dirty="0"/>
          </a:p>
        </p:txBody>
      </p:sp>
      <p:sp>
        <p:nvSpPr>
          <p:cNvPr id="17" name="Text 14"/>
          <p:cNvSpPr/>
          <p:nvPr/>
        </p:nvSpPr>
        <p:spPr>
          <a:xfrm>
            <a:off x="8778240" y="5276088"/>
            <a:ext cx="2590495" cy="457200"/>
          </a:xfrm>
          <a:prstGeom prst="rect">
            <a:avLst/>
          </a:prstGeom>
          <a:noFill/>
          <a:ln/>
        </p:spPr>
        <p:txBody>
          <a:bodyPr wrap="square" lIns="0" tIns="0" rIns="0" bIns="0" rtlCol="0" anchor="ctr"/>
          <a:lstStyle/>
          <a:p>
            <a:pPr indent="0" marL="0">
              <a:buNone/>
            </a:pPr>
            <a:r>
              <a:rPr lang="en-US" sz="1700" b="1" dirty="0">
                <a:solidFill>
                  <a:srgbClr val="E50012"/>
                </a:solidFill>
                <a:latin typeface="Meiryo" pitchFamily="34" charset="0"/>
                <a:ea typeface="Meiryo" pitchFamily="34" charset="-122"/>
                <a:cs typeface="Meiryo" pitchFamily="34" charset="-120"/>
              </a:rPr>
              <a:t>▲約1,135万円</a:t>
            </a:r>
            <a:endParaRPr lang="en-US" sz="1700" dirty="0"/>
          </a:p>
        </p:txBody>
      </p:sp>
      <p:pic>
        <p:nvPicPr>
          <p:cNvPr id="18" name="Image 0" descr="kc_mark.png">    </p:cNvPr>
          <p:cNvPicPr>
            <a:picLocks noChangeAspect="1"/>
          </p:cNvPicPr>
          <p:nvPr/>
        </p:nvPicPr>
        <p:blipFill>
          <a:blip r:embed="rId2"/>
          <a:stretch>
            <a:fillRect/>
          </a:stretch>
        </p:blipFill>
        <p:spPr>
          <a:xfrm>
            <a:off x="640080" y="6419088"/>
            <a:ext cx="155448" cy="185623"/>
          </a:xfrm>
          <a:prstGeom prst="rect">
            <a:avLst/>
          </a:prstGeom>
        </p:spPr>
      </p:pic>
      <p:sp>
        <p:nvSpPr>
          <p:cNvPr id="19" name="Text 1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20" name="Text 1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21" name="Text 17"/>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シナリオ分析</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悲観・標準・楽観のいずれでもY1は赤字。現行の報酬条件では感応度の範囲内で採算が成立しない点が本質的論点。</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11535" cy="914400"/>
        </p:xfrm>
        <a:graphic>
          <a:graphicData uri="http://schemas.openxmlformats.org/drawingml/2006/table">
            <a:tbl>
              <a:tblPr/>
              <a:tblGrid>
                <a:gridCol w="3017520"/>
                <a:gridCol w="2624328"/>
                <a:gridCol w="2624328"/>
                <a:gridCol w="2642616"/>
              </a:tblGrid>
              <a:tr h="457200">
                <a:tc>
                  <a:txBody>
                    <a:bodyPr/>
                    <a:lstStyle/>
                    <a:p>
                      <a:pPr algn="l" indent="0" marL="0">
                        <a:buNone/>
                      </a:pPr>
                      <a:r>
                        <a:rPr lang="en-US" sz="1200" b="1" dirty="0">
                          <a:solidFill>
                            <a:srgbClr val="FFFFFF"/>
                          </a:solidFill>
                          <a:latin typeface="Meiryo" pitchFamily="34" charset="0"/>
                          <a:ea typeface="Meiryo" pitchFamily="34" charset="-122"/>
                          <a:cs typeface="Meiryo" pitchFamily="34" charset="-120"/>
                        </a:rPr>
                        <a:t>指標</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a:txBody>
                    <a:bodyPr/>
                    <a:lstStyle/>
                    <a:p>
                      <a:pPr algn="r" indent="0" marL="0">
                        <a:buNone/>
                      </a:pPr>
                      <a:r>
                        <a:rPr lang="en-US" sz="1200" b="1" dirty="0">
                          <a:solidFill>
                            <a:srgbClr val="FFFFFF"/>
                          </a:solidFill>
                          <a:latin typeface="Meiryo" pitchFamily="34" charset="0"/>
                          <a:ea typeface="Meiryo" pitchFamily="34" charset="-122"/>
                          <a:cs typeface="Meiryo" pitchFamily="34" charset="-120"/>
                        </a:rPr>
                        <a:t>悲観</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a:txBody>
                    <a:bodyPr/>
                    <a:lstStyle/>
                    <a:p>
                      <a:pPr algn="r" indent="0" marL="0">
                        <a:buNone/>
                      </a:pPr>
                      <a:r>
                        <a:rPr lang="en-US" sz="1200" b="1" dirty="0">
                          <a:solidFill>
                            <a:srgbClr val="FFFFFF"/>
                          </a:solidFill>
                          <a:latin typeface="Meiryo" pitchFamily="34" charset="0"/>
                          <a:ea typeface="Meiryo" pitchFamily="34" charset="-122"/>
                          <a:cs typeface="Meiryo" pitchFamily="34" charset="-120"/>
                        </a:rPr>
                        <a:t>標準</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a:txBody>
                    <a:bodyPr/>
                    <a:lstStyle/>
                    <a:p>
                      <a:pPr algn="r" indent="0" marL="0">
                        <a:buNone/>
                      </a:pPr>
                      <a:r>
                        <a:rPr lang="en-US" sz="1200" b="1" dirty="0">
                          <a:solidFill>
                            <a:srgbClr val="FFFFFF"/>
                          </a:solidFill>
                          <a:latin typeface="Meiryo" pitchFamily="34" charset="0"/>
                          <a:ea typeface="Meiryo" pitchFamily="34" charset="-122"/>
                          <a:cs typeface="Meiryo" pitchFamily="34" charset="-120"/>
                        </a:rPr>
                        <a:t>楽観</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C97B84"/>
                    </a:solidFill>
                  </a:tcPr>
                </a:tc>
              </a:tr>
              <a:tr h="457200">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安定期 稼働率</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60%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80%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92%</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57200">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加重平均ADR</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¥49,400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¥52,000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¥54,600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57200">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月間売上（安定月）</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¥4,340,408</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¥6,083,610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¥7,337,012</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57200">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GOP率</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33.6%</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50.0%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57.0%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457200">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月間純損益（安定月）</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▲¥1,780,413</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▲¥1,279,369</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▲¥783,712</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502920">
                <a:tc>
                  <a:txBody>
                    <a:bodyPr/>
                    <a:lstStyle/>
                    <a:p>
                      <a:pPr algn="r" indent="0" marL="0">
                        <a:buNone/>
                      </a:pPr>
                      <a:r>
                        <a:rPr lang="en-US" sz="1200" b="1" dirty="0">
                          <a:solidFill>
                            <a:srgbClr val="1A1A1A"/>
                          </a:solidFill>
                          <a:latin typeface="Meiryo" pitchFamily="34" charset="0"/>
                          <a:ea typeface="Meiryo" pitchFamily="34" charset="-122"/>
                          <a:cs typeface="Meiryo" pitchFamily="34" charset="-120"/>
                        </a:rPr>
                        <a:t>Y1純損益（実績見込）</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E50012"/>
                          </a:solidFill>
                          <a:latin typeface="Meiryo" pitchFamily="34" charset="0"/>
                          <a:ea typeface="Meiryo" pitchFamily="34" charset="-122"/>
                          <a:cs typeface="Meiryo" pitchFamily="34" charset="-120"/>
                        </a:rPr>
                        <a:t>▲¥23,074,863</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E50012"/>
                          </a:solidFill>
                          <a:latin typeface="Meiryo" pitchFamily="34" charset="0"/>
                          <a:ea typeface="Meiryo" pitchFamily="34" charset="-122"/>
                          <a:cs typeface="Meiryo" pitchFamily="34" charset="-120"/>
                        </a:rPr>
                        <a:t>▲¥18,346,266</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E50012"/>
                          </a:solidFill>
                          <a:latin typeface="Meiryo" pitchFamily="34" charset="0"/>
                          <a:ea typeface="Meiryo" pitchFamily="34" charset="-122"/>
                          <a:cs typeface="Meiryo" pitchFamily="34" charset="-120"/>
                        </a:rPr>
                        <a:t>▲¥13,668,500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r>
              <a:tr h="457200">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当社オーナー報酬/月</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¥3,240,000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¥4,320,000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A1A1A"/>
                          </a:solidFill>
                          <a:latin typeface="Meiryo" pitchFamily="34" charset="0"/>
                          <a:ea typeface="Meiryo" pitchFamily="34" charset="-122"/>
                          <a:cs typeface="Meiryo" pitchFamily="34" charset="-120"/>
                        </a:rPr>
                        <a:t>¥4,968,000</a:t>
                      </a:r>
                      <a:endParaRPr lang="en-US" sz="120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577840"/>
            <a:ext cx="10911535" cy="457200"/>
          </a:xfrm>
          <a:prstGeom prst="rect">
            <a:avLst/>
          </a:prstGeom>
          <a:noFill/>
          <a:ln/>
        </p:spPr>
        <p:txBody>
          <a:bodyPr wrap="square" lIns="0" tIns="0" rIns="0" bIns="0" rtlCol="0" anchor="t"/>
          <a:lstStyle/>
          <a:p>
            <a:pPr indent="0" marL="0">
              <a:buNone/>
            </a:pPr>
            <a:r>
              <a:rPr lang="en-US" sz="950" dirty="0">
                <a:solidFill>
                  <a:srgbClr val="6E6E6E"/>
                </a:solidFill>
                <a:latin typeface="Meiryo" pitchFamily="34" charset="0"/>
                <a:ea typeface="Meiryo" pitchFamily="34" charset="-122"/>
                <a:cs typeface="Meiryo" pitchFamily="34" charset="-120"/>
              </a:rPr>
              <a:t>注：Y1純損益は月別稼働（立ち上がり期込み）の合算。当社オーナー報酬は当社にとっての収入であり、オペレーター側では費用（賃料相当）。</a:t>
            </a:r>
            <a:endParaRPr lang="en-US" sz="95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4"/>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5"/>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6"/>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651760"/>
            <a:ext cx="822960" cy="822960"/>
          </a:xfrm>
          <a:prstGeom prst="rect">
            <a:avLst/>
          </a:prstGeom>
          <a:solidFill>
            <a:srgbClr val="EE835C"/>
          </a:solidFill>
          <a:ln/>
        </p:spPr>
      </p:sp>
      <p:sp>
        <p:nvSpPr>
          <p:cNvPr id="3" name="Text 1"/>
          <p:cNvSpPr/>
          <p:nvPr/>
        </p:nvSpPr>
        <p:spPr>
          <a:xfrm>
            <a:off x="640080" y="2651760"/>
            <a:ext cx="822960" cy="822960"/>
          </a:xfrm>
          <a:prstGeom prst="rect">
            <a:avLst/>
          </a:prstGeom>
          <a:noFill/>
          <a:ln/>
        </p:spPr>
        <p:txBody>
          <a:bodyPr wrap="square" lIns="0" tIns="0" rIns="0" bIns="0" rtlCol="0" anchor="ctr"/>
          <a:lstStyle/>
          <a:p>
            <a:pPr algn="ctr" indent="0" marL="0">
              <a:buNone/>
            </a:pPr>
            <a:r>
              <a:rPr lang="en-US" sz="3960" b="1" dirty="0">
                <a:solidFill>
                  <a:srgbClr val="FFFFFF"/>
                </a:solidFill>
                <a:latin typeface="Times New Roman" pitchFamily="34" charset="0"/>
                <a:ea typeface="Times New Roman" pitchFamily="34" charset="-122"/>
                <a:cs typeface="Times New Roman" pitchFamily="34" charset="-120"/>
              </a:rPr>
              <a:t>06</a:t>
            </a:r>
            <a:endParaRPr lang="en-US" sz="3960" dirty="0"/>
          </a:p>
        </p:txBody>
      </p:sp>
      <p:sp>
        <p:nvSpPr>
          <p:cNvPr id="4" name="Text 2"/>
          <p:cNvSpPr/>
          <p:nvPr/>
        </p:nvSpPr>
        <p:spPr>
          <a:xfrm>
            <a:off x="1783080" y="2651760"/>
            <a:ext cx="8686800" cy="822960"/>
          </a:xfrm>
          <a:prstGeom prst="rect">
            <a:avLst/>
          </a:prstGeom>
          <a:noFill/>
          <a:ln/>
        </p:spPr>
        <p:txBody>
          <a:bodyPr wrap="square" lIns="0" tIns="0" rIns="0" bIns="0" rtlCol="0" anchor="ctr"/>
          <a:lstStyle/>
          <a:p>
            <a:pPr indent="0" marL="0">
              <a:buNone/>
            </a:pPr>
            <a:r>
              <a:rPr lang="en-US" sz="2800" b="1" dirty="0">
                <a:solidFill>
                  <a:srgbClr val="1A1A1A"/>
                </a:solidFill>
                <a:latin typeface="Meiryo" pitchFamily="34" charset="0"/>
                <a:ea typeface="Meiryo" pitchFamily="34" charset="-122"/>
                <a:cs typeface="Meiryo" pitchFamily="34" charset="-120"/>
              </a:rPr>
              <a:t>論点・リスクと提案</a:t>
            </a:r>
            <a:endParaRPr lang="en-US" sz="2800" dirty="0"/>
          </a:p>
        </p:txBody>
      </p:sp>
      <p:sp>
        <p:nvSpPr>
          <p:cNvPr id="5" name="Shape 3"/>
          <p:cNvSpPr/>
          <p:nvPr/>
        </p:nvSpPr>
        <p:spPr>
          <a:xfrm>
            <a:off x="1783080" y="3611880"/>
            <a:ext cx="5029200" cy="0"/>
          </a:xfrm>
          <a:prstGeom prst="line">
            <a:avLst/>
          </a:prstGeom>
          <a:noFill/>
          <a:ln w="12700">
            <a:solidFill>
              <a:srgbClr val="D6D6D6"/>
            </a:solidFill>
            <a:prstDash val="solid"/>
          </a:ln>
        </p:spPr>
      </p:sp>
      <p:sp>
        <p:nvSpPr>
          <p:cNvPr id="6" name="Text 4"/>
          <p:cNvSpPr/>
          <p:nvPr/>
        </p:nvSpPr>
        <p:spPr>
          <a:xfrm>
            <a:off x="1783080" y="3675888"/>
            <a:ext cx="2743200" cy="320040"/>
          </a:xfrm>
          <a:prstGeom prst="rect">
            <a:avLst/>
          </a:prstGeom>
          <a:noFill/>
          <a:ln/>
        </p:spPr>
        <p:txBody>
          <a:bodyPr wrap="square" lIns="0" tIns="0" rIns="0" bIns="0" rtlCol="0" anchor="ctr"/>
          <a:lstStyle/>
          <a:p>
            <a:pPr indent="0" marL="0">
              <a:buNone/>
            </a:pPr>
            <a:r>
              <a:rPr lang="en-US" sz="1100" dirty="0">
                <a:solidFill>
                  <a:srgbClr val="EE835C"/>
                </a:solidFill>
                <a:latin typeface="Times New Roman" pitchFamily="34" charset="0"/>
                <a:ea typeface="Times New Roman" pitchFamily="34" charset="-122"/>
                <a:cs typeface="Times New Roman" pitchFamily="34" charset="-120"/>
              </a:rPr>
              <a:t>06 / 07</a:t>
            </a:r>
            <a:endParaRPr lang="en-US" sz="11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7"/>
          <p:cNvSpPr/>
          <p:nvPr/>
        </p:nvSpPr>
        <p:spPr>
          <a:xfrm>
            <a:off x="11597335" y="6382512"/>
            <a:ext cx="320040" cy="256032"/>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論点・リスクの整理</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当社の収入は魅力的だが、その原資はオペレーターの支払能力に依存する。持続性の確保が最大の論点。</a:t>
            </a:r>
            <a:endParaRPr lang="en-US" sz="1150" dirty="0"/>
          </a:p>
        </p:txBody>
      </p:sp>
      <p:sp>
        <p:nvSpPr>
          <p:cNvPr id="5" name="Shape 3"/>
          <p:cNvSpPr/>
          <p:nvPr/>
        </p:nvSpPr>
        <p:spPr>
          <a:xfrm>
            <a:off x="640080" y="1691640"/>
            <a:ext cx="10911535" cy="8412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6" name="Text 4"/>
          <p:cNvSpPr/>
          <p:nvPr/>
        </p:nvSpPr>
        <p:spPr>
          <a:xfrm>
            <a:off x="822960" y="1783080"/>
            <a:ext cx="3108960" cy="658368"/>
          </a:xfrm>
          <a:prstGeom prst="rect">
            <a:avLst/>
          </a:prstGeom>
          <a:noFill/>
          <a:ln/>
        </p:spPr>
        <p:txBody>
          <a:bodyPr wrap="square" lIns="0" tIns="0" rIns="0" bIns="0" rtlCol="0" anchor="ctr"/>
          <a:lstStyle/>
          <a:p>
            <a:pPr indent="0" marL="0">
              <a:buNone/>
            </a:pPr>
            <a:r>
              <a:rPr lang="en-US" sz="1250" b="1" dirty="0">
                <a:solidFill>
                  <a:srgbClr val="1A1A1A"/>
                </a:solidFill>
                <a:latin typeface="Meiryo" pitchFamily="34" charset="0"/>
                <a:ea typeface="Meiryo" pitchFamily="34" charset="-122"/>
                <a:cs typeface="Meiryo" pitchFamily="34" charset="-120"/>
              </a:rPr>
              <a:t>カウンターパーティ・リスク</a:t>
            </a:r>
            <a:endParaRPr lang="en-US" sz="1250" dirty="0"/>
          </a:p>
        </p:txBody>
      </p:sp>
      <p:sp>
        <p:nvSpPr>
          <p:cNvPr id="7" name="Shape 5"/>
          <p:cNvSpPr/>
          <p:nvPr/>
        </p:nvSpPr>
        <p:spPr>
          <a:xfrm>
            <a:off x="4023360" y="1947672"/>
            <a:ext cx="594360" cy="347472"/>
          </a:xfrm>
          <a:prstGeom prst="roundRect">
            <a:avLst>
              <a:gd name="adj" fmla="val 13158"/>
            </a:avLst>
          </a:prstGeom>
          <a:solidFill>
            <a:srgbClr val="E50012"/>
          </a:solidFill>
          <a:ln/>
        </p:spPr>
      </p:sp>
      <p:sp>
        <p:nvSpPr>
          <p:cNvPr id="8" name="Text 6"/>
          <p:cNvSpPr/>
          <p:nvPr/>
        </p:nvSpPr>
        <p:spPr>
          <a:xfrm>
            <a:off x="4023360" y="1947672"/>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高</a:t>
            </a:r>
            <a:endParaRPr lang="en-US" sz="1200" dirty="0"/>
          </a:p>
        </p:txBody>
      </p:sp>
      <p:sp>
        <p:nvSpPr>
          <p:cNvPr id="9" name="Text 7"/>
          <p:cNvSpPr/>
          <p:nvPr/>
        </p:nvSpPr>
        <p:spPr>
          <a:xfrm>
            <a:off x="4846320" y="1783080"/>
            <a:ext cx="6522415" cy="658368"/>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オペレーター採算が現行条件で不成立。赤字継続なら賃料支払の持続性に懸念。</a:t>
            </a:r>
            <a:endParaRPr lang="en-US" sz="1100" dirty="0"/>
          </a:p>
        </p:txBody>
      </p:sp>
      <p:sp>
        <p:nvSpPr>
          <p:cNvPr id="10" name="Shape 8"/>
          <p:cNvSpPr/>
          <p:nvPr/>
        </p:nvSpPr>
        <p:spPr>
          <a:xfrm>
            <a:off x="640080" y="2606040"/>
            <a:ext cx="10911535" cy="8412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1" name="Text 9"/>
          <p:cNvSpPr/>
          <p:nvPr/>
        </p:nvSpPr>
        <p:spPr>
          <a:xfrm>
            <a:off x="822960" y="2697480"/>
            <a:ext cx="3108960" cy="658368"/>
          </a:xfrm>
          <a:prstGeom prst="rect">
            <a:avLst/>
          </a:prstGeom>
          <a:noFill/>
          <a:ln/>
        </p:spPr>
        <p:txBody>
          <a:bodyPr wrap="square" lIns="0" tIns="0" rIns="0" bIns="0" rtlCol="0" anchor="ctr"/>
          <a:lstStyle/>
          <a:p>
            <a:pPr indent="0" marL="0">
              <a:buNone/>
            </a:pPr>
            <a:r>
              <a:rPr lang="en-US" sz="1250" b="1" dirty="0">
                <a:solidFill>
                  <a:srgbClr val="1A1A1A"/>
                </a:solidFill>
                <a:latin typeface="Meiryo" pitchFamily="34" charset="0"/>
                <a:ea typeface="Meiryo" pitchFamily="34" charset="-122"/>
                <a:cs typeface="Meiryo" pitchFamily="34" charset="-120"/>
              </a:rPr>
              <a:t>資金ショート・リスク</a:t>
            </a:r>
            <a:endParaRPr lang="en-US" sz="1250" dirty="0"/>
          </a:p>
        </p:txBody>
      </p:sp>
      <p:sp>
        <p:nvSpPr>
          <p:cNvPr id="12" name="Shape 10"/>
          <p:cNvSpPr/>
          <p:nvPr/>
        </p:nvSpPr>
        <p:spPr>
          <a:xfrm>
            <a:off x="4023360" y="2862072"/>
            <a:ext cx="594360" cy="347472"/>
          </a:xfrm>
          <a:prstGeom prst="roundRect">
            <a:avLst>
              <a:gd name="adj" fmla="val 13158"/>
            </a:avLst>
          </a:prstGeom>
          <a:solidFill>
            <a:srgbClr val="E50012"/>
          </a:solidFill>
          <a:ln/>
        </p:spPr>
      </p:sp>
      <p:sp>
        <p:nvSpPr>
          <p:cNvPr id="13" name="Text 11"/>
          <p:cNvSpPr/>
          <p:nvPr/>
        </p:nvSpPr>
        <p:spPr>
          <a:xfrm>
            <a:off x="4023360" y="2862072"/>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高</a:t>
            </a:r>
            <a:endParaRPr lang="en-US" sz="1200" dirty="0"/>
          </a:p>
        </p:txBody>
      </p:sp>
      <p:sp>
        <p:nvSpPr>
          <p:cNvPr id="14" name="Text 12"/>
          <p:cNvSpPr/>
          <p:nvPr/>
        </p:nvSpPr>
        <p:spPr>
          <a:xfrm>
            <a:off x="4846320" y="2697480"/>
            <a:ext cx="6522415" cy="658368"/>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Y1累計赤字▲18.3百万円に対し運転資金7.0百万円。年度内に枯渇の可能性。</a:t>
            </a:r>
            <a:endParaRPr lang="en-US" sz="1100" dirty="0"/>
          </a:p>
        </p:txBody>
      </p:sp>
      <p:sp>
        <p:nvSpPr>
          <p:cNvPr id="15" name="Shape 13"/>
          <p:cNvSpPr/>
          <p:nvPr/>
        </p:nvSpPr>
        <p:spPr>
          <a:xfrm>
            <a:off x="640080" y="3520440"/>
            <a:ext cx="10911535" cy="8412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6" name="Text 14"/>
          <p:cNvSpPr/>
          <p:nvPr/>
        </p:nvSpPr>
        <p:spPr>
          <a:xfrm>
            <a:off x="822960" y="3611880"/>
            <a:ext cx="3108960" cy="658368"/>
          </a:xfrm>
          <a:prstGeom prst="rect">
            <a:avLst/>
          </a:prstGeom>
          <a:noFill/>
          <a:ln/>
        </p:spPr>
        <p:txBody>
          <a:bodyPr wrap="square" lIns="0" tIns="0" rIns="0" bIns="0" rtlCol="0" anchor="ctr"/>
          <a:lstStyle/>
          <a:p>
            <a:pPr indent="0" marL="0">
              <a:buNone/>
            </a:pPr>
            <a:r>
              <a:rPr lang="en-US" sz="1250" b="1" dirty="0">
                <a:solidFill>
                  <a:srgbClr val="1A1A1A"/>
                </a:solidFill>
                <a:latin typeface="Meiryo" pitchFamily="34" charset="0"/>
                <a:ea typeface="Meiryo" pitchFamily="34" charset="-122"/>
                <a:cs typeface="Meiryo" pitchFamily="34" charset="-120"/>
              </a:rPr>
              <a:t>稼働・送客リスク</a:t>
            </a:r>
            <a:endParaRPr lang="en-US" sz="1250" dirty="0"/>
          </a:p>
        </p:txBody>
      </p:sp>
      <p:sp>
        <p:nvSpPr>
          <p:cNvPr id="17" name="Shape 15"/>
          <p:cNvSpPr/>
          <p:nvPr/>
        </p:nvSpPr>
        <p:spPr>
          <a:xfrm>
            <a:off x="4023360" y="3776472"/>
            <a:ext cx="594360" cy="347472"/>
          </a:xfrm>
          <a:prstGeom prst="roundRect">
            <a:avLst>
              <a:gd name="adj" fmla="val 13158"/>
            </a:avLst>
          </a:prstGeom>
          <a:solidFill>
            <a:srgbClr val="EE835C"/>
          </a:solidFill>
          <a:ln/>
        </p:spPr>
      </p:sp>
      <p:sp>
        <p:nvSpPr>
          <p:cNvPr id="18" name="Text 16"/>
          <p:cNvSpPr/>
          <p:nvPr/>
        </p:nvSpPr>
        <p:spPr>
          <a:xfrm>
            <a:off x="4023360" y="3776472"/>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中</a:t>
            </a:r>
            <a:endParaRPr lang="en-US" sz="1200" dirty="0"/>
          </a:p>
        </p:txBody>
      </p:sp>
      <p:sp>
        <p:nvSpPr>
          <p:cNvPr id="19" name="Text 17"/>
          <p:cNvSpPr/>
          <p:nvPr/>
        </p:nvSpPr>
        <p:spPr>
          <a:xfrm>
            <a:off x="4846320" y="3611880"/>
            <a:ext cx="6522415" cy="658368"/>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目標稼働80%は産院提携（2〜3件）が前提。提携未確定なら40〜50%も。</a:t>
            </a:r>
            <a:endParaRPr lang="en-US" sz="1100" dirty="0"/>
          </a:p>
        </p:txBody>
      </p:sp>
      <p:sp>
        <p:nvSpPr>
          <p:cNvPr id="20" name="Shape 18"/>
          <p:cNvSpPr/>
          <p:nvPr/>
        </p:nvSpPr>
        <p:spPr>
          <a:xfrm>
            <a:off x="640080" y="4434840"/>
            <a:ext cx="10911535" cy="8412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21" name="Text 19"/>
          <p:cNvSpPr/>
          <p:nvPr/>
        </p:nvSpPr>
        <p:spPr>
          <a:xfrm>
            <a:off x="822960" y="4526280"/>
            <a:ext cx="3108960" cy="658368"/>
          </a:xfrm>
          <a:prstGeom prst="rect">
            <a:avLst/>
          </a:prstGeom>
          <a:noFill/>
          <a:ln/>
        </p:spPr>
        <p:txBody>
          <a:bodyPr wrap="square" lIns="0" tIns="0" rIns="0" bIns="0" rtlCol="0" anchor="ctr"/>
          <a:lstStyle/>
          <a:p>
            <a:pPr indent="0" marL="0">
              <a:buNone/>
            </a:pPr>
            <a:r>
              <a:rPr lang="en-US" sz="1250" b="1" dirty="0">
                <a:solidFill>
                  <a:srgbClr val="1A1A1A"/>
                </a:solidFill>
                <a:latin typeface="Meiryo" pitchFamily="34" charset="0"/>
                <a:ea typeface="Meiryo" pitchFamily="34" charset="-122"/>
                <a:cs typeface="Meiryo" pitchFamily="34" charset="-120"/>
              </a:rPr>
              <a:t>チャネルコスト</a:t>
            </a:r>
            <a:endParaRPr lang="en-US" sz="1250" dirty="0"/>
          </a:p>
        </p:txBody>
      </p:sp>
      <p:sp>
        <p:nvSpPr>
          <p:cNvPr id="22" name="Shape 20"/>
          <p:cNvSpPr/>
          <p:nvPr/>
        </p:nvSpPr>
        <p:spPr>
          <a:xfrm>
            <a:off x="4023360" y="4690872"/>
            <a:ext cx="594360" cy="347472"/>
          </a:xfrm>
          <a:prstGeom prst="roundRect">
            <a:avLst>
              <a:gd name="adj" fmla="val 13158"/>
            </a:avLst>
          </a:prstGeom>
          <a:solidFill>
            <a:srgbClr val="EE835C"/>
          </a:solidFill>
          <a:ln/>
        </p:spPr>
      </p:sp>
      <p:sp>
        <p:nvSpPr>
          <p:cNvPr id="23" name="Text 21"/>
          <p:cNvSpPr/>
          <p:nvPr/>
        </p:nvSpPr>
        <p:spPr>
          <a:xfrm>
            <a:off x="4023360" y="4690872"/>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中</a:t>
            </a:r>
            <a:endParaRPr lang="en-US" sz="1200" dirty="0"/>
          </a:p>
        </p:txBody>
      </p:sp>
      <p:sp>
        <p:nvSpPr>
          <p:cNvPr id="24" name="Text 22"/>
          <p:cNvSpPr/>
          <p:nvPr/>
        </p:nvSpPr>
        <p:spPr>
          <a:xfrm>
            <a:off x="4846320" y="4526280"/>
            <a:ext cx="6522415" cy="658368"/>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OTA経由比率が上振れると手数料15〜20%が利益を圧迫。産院直送の徹底が鍵。</a:t>
            </a:r>
            <a:endParaRPr lang="en-US" sz="1100" dirty="0"/>
          </a:p>
        </p:txBody>
      </p:sp>
      <p:sp>
        <p:nvSpPr>
          <p:cNvPr id="25" name="Shape 23"/>
          <p:cNvSpPr/>
          <p:nvPr/>
        </p:nvSpPr>
        <p:spPr>
          <a:xfrm>
            <a:off x="640080" y="5349240"/>
            <a:ext cx="10911535" cy="841248"/>
          </a:xfrm>
          <a:prstGeom prst="rect">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26" name="Text 24"/>
          <p:cNvSpPr/>
          <p:nvPr/>
        </p:nvSpPr>
        <p:spPr>
          <a:xfrm>
            <a:off x="822960" y="5440680"/>
            <a:ext cx="3108960" cy="658368"/>
          </a:xfrm>
          <a:prstGeom prst="rect">
            <a:avLst/>
          </a:prstGeom>
          <a:noFill/>
          <a:ln/>
        </p:spPr>
        <p:txBody>
          <a:bodyPr wrap="square" lIns="0" tIns="0" rIns="0" bIns="0" rtlCol="0" anchor="ctr"/>
          <a:lstStyle/>
          <a:p>
            <a:pPr indent="0" marL="0">
              <a:buNone/>
            </a:pPr>
            <a:r>
              <a:rPr lang="en-US" sz="1250" b="1" dirty="0">
                <a:solidFill>
                  <a:srgbClr val="1A1A1A"/>
                </a:solidFill>
                <a:latin typeface="Meiryo" pitchFamily="34" charset="0"/>
                <a:ea typeface="Meiryo" pitchFamily="34" charset="-122"/>
                <a:cs typeface="Meiryo" pitchFamily="34" charset="-120"/>
              </a:rPr>
              <a:t>当社収入の変動性</a:t>
            </a:r>
            <a:endParaRPr lang="en-US" sz="1250" dirty="0"/>
          </a:p>
        </p:txBody>
      </p:sp>
      <p:sp>
        <p:nvSpPr>
          <p:cNvPr id="27" name="Shape 25"/>
          <p:cNvSpPr/>
          <p:nvPr/>
        </p:nvSpPr>
        <p:spPr>
          <a:xfrm>
            <a:off x="4023360" y="5605272"/>
            <a:ext cx="594360" cy="347472"/>
          </a:xfrm>
          <a:prstGeom prst="roundRect">
            <a:avLst>
              <a:gd name="adj" fmla="val 13158"/>
            </a:avLst>
          </a:prstGeom>
          <a:solidFill>
            <a:srgbClr val="EE835C"/>
          </a:solidFill>
          <a:ln/>
        </p:spPr>
      </p:sp>
      <p:sp>
        <p:nvSpPr>
          <p:cNvPr id="28" name="Text 26"/>
          <p:cNvSpPr/>
          <p:nvPr/>
        </p:nvSpPr>
        <p:spPr>
          <a:xfrm>
            <a:off x="4023360" y="5605272"/>
            <a:ext cx="594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中</a:t>
            </a:r>
            <a:endParaRPr lang="en-US" sz="1200" dirty="0"/>
          </a:p>
        </p:txBody>
      </p:sp>
      <p:sp>
        <p:nvSpPr>
          <p:cNvPr id="29" name="Text 27"/>
          <p:cNvSpPr/>
          <p:nvPr/>
        </p:nvSpPr>
        <p:spPr>
          <a:xfrm>
            <a:off x="4846320" y="5440680"/>
            <a:ext cx="6522415" cy="658368"/>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レベニューシェアのため下振れ時に当社賃料も減少。最低保証がない。</a:t>
            </a:r>
            <a:endParaRPr lang="en-US" sz="1100" dirty="0"/>
          </a:p>
        </p:txBody>
      </p:sp>
      <p:pic>
        <p:nvPicPr>
          <p:cNvPr id="30"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31" name="Text 28"/>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32" name="Text 29"/>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33" name="Text 30"/>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提案 ― 条件再設計の選択肢</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当社の賃料水準を確保しつつオペレーターの持続性を担保するため、以下を組み合わせて付議することを提案する。</a:t>
            </a:r>
            <a:endParaRPr lang="en-US" sz="1150" dirty="0"/>
          </a:p>
        </p:txBody>
      </p:sp>
      <p:sp>
        <p:nvSpPr>
          <p:cNvPr id="5" name="Shape 3"/>
          <p:cNvSpPr/>
          <p:nvPr/>
        </p:nvSpPr>
        <p:spPr>
          <a:xfrm>
            <a:off x="640080" y="1691640"/>
            <a:ext cx="5272888" cy="1965960"/>
          </a:xfrm>
          <a:prstGeom prst="roundRect">
            <a:avLst>
              <a:gd name="adj" fmla="val 2791"/>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6" name="Shape 4"/>
          <p:cNvSpPr/>
          <p:nvPr/>
        </p:nvSpPr>
        <p:spPr>
          <a:xfrm>
            <a:off x="868680" y="1920240"/>
            <a:ext cx="502920" cy="502920"/>
          </a:xfrm>
          <a:prstGeom prst="rect">
            <a:avLst/>
          </a:prstGeom>
          <a:solidFill>
            <a:srgbClr val="EE835C"/>
          </a:solidFill>
          <a:ln/>
        </p:spPr>
      </p:sp>
      <p:sp>
        <p:nvSpPr>
          <p:cNvPr id="7" name="Text 5"/>
          <p:cNvSpPr/>
          <p:nvPr/>
        </p:nvSpPr>
        <p:spPr>
          <a:xfrm>
            <a:off x="868680" y="1920240"/>
            <a:ext cx="502920" cy="502920"/>
          </a:xfrm>
          <a:prstGeom prst="rect">
            <a:avLst/>
          </a:prstGeom>
          <a:noFill/>
          <a:ln/>
        </p:spPr>
        <p:txBody>
          <a:bodyPr wrap="square" lIns="0" tIns="0" rIns="0" bIns="0" rtlCol="0" anchor="ctr"/>
          <a:lstStyle/>
          <a:p>
            <a:pPr algn="ctr" indent="0" marL="0">
              <a:buNone/>
            </a:pPr>
            <a:r>
              <a:rPr lang="en-US" sz="2420" b="1" dirty="0">
                <a:solidFill>
                  <a:srgbClr val="FFFFFF"/>
                </a:solidFill>
                <a:latin typeface="Times New Roman" pitchFamily="34" charset="0"/>
                <a:ea typeface="Times New Roman" pitchFamily="34" charset="-122"/>
                <a:cs typeface="Times New Roman" pitchFamily="34" charset="-120"/>
              </a:rPr>
              <a:t>①</a:t>
            </a:r>
            <a:endParaRPr lang="en-US" sz="2420" dirty="0"/>
          </a:p>
        </p:txBody>
      </p:sp>
      <p:sp>
        <p:nvSpPr>
          <p:cNvPr id="8" name="Text 6"/>
          <p:cNvSpPr/>
          <p:nvPr/>
        </p:nvSpPr>
        <p:spPr>
          <a:xfrm>
            <a:off x="1508760" y="1947672"/>
            <a:ext cx="4267048" cy="457200"/>
          </a:xfrm>
          <a:prstGeom prst="rect">
            <a:avLst/>
          </a:prstGeom>
          <a:noFill/>
          <a:ln/>
        </p:spPr>
        <p:txBody>
          <a:bodyPr wrap="square" lIns="0" tIns="0" rIns="0" bIns="0" rtlCol="0" anchor="ctr"/>
          <a:lstStyle/>
          <a:p>
            <a:pPr indent="0" marL="0">
              <a:buNone/>
            </a:pPr>
            <a:r>
              <a:rPr lang="en-US" sz="1400" b="1" dirty="0">
                <a:solidFill>
                  <a:srgbClr val="1A1A1A"/>
                </a:solidFill>
                <a:latin typeface="Meiryo" pitchFamily="34" charset="0"/>
                <a:ea typeface="Meiryo" pitchFamily="34" charset="-122"/>
                <a:cs typeface="Meiryo" pitchFamily="34" charset="-120"/>
              </a:rPr>
              <a:t>報酬体系のハイブリッド化</a:t>
            </a:r>
            <a:endParaRPr lang="en-US" sz="1400" dirty="0"/>
          </a:p>
        </p:txBody>
      </p:sp>
      <p:sp>
        <p:nvSpPr>
          <p:cNvPr id="9" name="Text 7"/>
          <p:cNvSpPr/>
          <p:nvPr/>
        </p:nvSpPr>
        <p:spPr>
          <a:xfrm>
            <a:off x="896112" y="2560320"/>
            <a:ext cx="4760824" cy="960120"/>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Meiryo" pitchFamily="34" charset="0"/>
                <a:ea typeface="Meiryo" pitchFamily="34" charset="-122"/>
                <a:cs typeface="Meiryo" pitchFamily="34" charset="-120"/>
              </a:rPr>
              <a:t>最低保証＋レベニューシェアへ。当社収入の下限を確保しつつ上振れも享受。双方のリスクを配分。</a:t>
            </a:r>
            <a:endParaRPr lang="en-US" sz="1100" dirty="0"/>
          </a:p>
        </p:txBody>
      </p:sp>
      <p:sp>
        <p:nvSpPr>
          <p:cNvPr id="10" name="Shape 8"/>
          <p:cNvSpPr/>
          <p:nvPr/>
        </p:nvSpPr>
        <p:spPr>
          <a:xfrm>
            <a:off x="6278728" y="1691640"/>
            <a:ext cx="5272888" cy="1965960"/>
          </a:xfrm>
          <a:prstGeom prst="roundRect">
            <a:avLst>
              <a:gd name="adj" fmla="val 2791"/>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1" name="Shape 9"/>
          <p:cNvSpPr/>
          <p:nvPr/>
        </p:nvSpPr>
        <p:spPr>
          <a:xfrm>
            <a:off x="6507328" y="1920240"/>
            <a:ext cx="502920" cy="502920"/>
          </a:xfrm>
          <a:prstGeom prst="rect">
            <a:avLst/>
          </a:prstGeom>
          <a:solidFill>
            <a:srgbClr val="EE835C"/>
          </a:solidFill>
          <a:ln/>
        </p:spPr>
      </p:sp>
      <p:sp>
        <p:nvSpPr>
          <p:cNvPr id="12" name="Text 10"/>
          <p:cNvSpPr/>
          <p:nvPr/>
        </p:nvSpPr>
        <p:spPr>
          <a:xfrm>
            <a:off x="6507328" y="1920240"/>
            <a:ext cx="502920" cy="502920"/>
          </a:xfrm>
          <a:prstGeom prst="rect">
            <a:avLst/>
          </a:prstGeom>
          <a:noFill/>
          <a:ln/>
        </p:spPr>
        <p:txBody>
          <a:bodyPr wrap="square" lIns="0" tIns="0" rIns="0" bIns="0" rtlCol="0" anchor="ctr"/>
          <a:lstStyle/>
          <a:p>
            <a:pPr algn="ctr" indent="0" marL="0">
              <a:buNone/>
            </a:pPr>
            <a:r>
              <a:rPr lang="en-US" sz="2420" b="1" dirty="0">
                <a:solidFill>
                  <a:srgbClr val="FFFFFF"/>
                </a:solidFill>
                <a:latin typeface="Times New Roman" pitchFamily="34" charset="0"/>
                <a:ea typeface="Times New Roman" pitchFamily="34" charset="-122"/>
                <a:cs typeface="Times New Roman" pitchFamily="34" charset="-120"/>
              </a:rPr>
              <a:t>②</a:t>
            </a:r>
            <a:endParaRPr lang="en-US" sz="2420" dirty="0"/>
          </a:p>
        </p:txBody>
      </p:sp>
      <p:sp>
        <p:nvSpPr>
          <p:cNvPr id="13" name="Text 11"/>
          <p:cNvSpPr/>
          <p:nvPr/>
        </p:nvSpPr>
        <p:spPr>
          <a:xfrm>
            <a:off x="7147408" y="1947672"/>
            <a:ext cx="4267048" cy="457200"/>
          </a:xfrm>
          <a:prstGeom prst="rect">
            <a:avLst/>
          </a:prstGeom>
          <a:noFill/>
          <a:ln/>
        </p:spPr>
        <p:txBody>
          <a:bodyPr wrap="square" lIns="0" tIns="0" rIns="0" bIns="0" rtlCol="0" anchor="ctr"/>
          <a:lstStyle/>
          <a:p>
            <a:pPr indent="0" marL="0">
              <a:buNone/>
            </a:pPr>
            <a:r>
              <a:rPr lang="en-US" sz="1400" b="1" dirty="0">
                <a:solidFill>
                  <a:srgbClr val="1A1A1A"/>
                </a:solidFill>
                <a:latin typeface="Meiryo" pitchFamily="34" charset="0"/>
                <a:ea typeface="Meiryo" pitchFamily="34" charset="-122"/>
                <a:cs typeface="Meiryo" pitchFamily="34" charset="-120"/>
              </a:rPr>
              <a:t>均衡水準の提示</a:t>
            </a:r>
            <a:endParaRPr lang="en-US" sz="1400" dirty="0"/>
          </a:p>
        </p:txBody>
      </p:sp>
      <p:sp>
        <p:nvSpPr>
          <p:cNvPr id="14" name="Text 12"/>
          <p:cNvSpPr/>
          <p:nvPr/>
        </p:nvSpPr>
        <p:spPr>
          <a:xfrm>
            <a:off x="6534760" y="2560320"/>
            <a:ext cx="4760824" cy="960120"/>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Meiryo" pitchFamily="34" charset="0"/>
                <a:ea typeface="Meiryo" pitchFamily="34" charset="-122"/>
                <a:cs typeface="Meiryo" pitchFamily="34" charset="-120"/>
              </a:rPr>
              <a:t>オペレーターが稼働80%で均衡する賃料は約¥21,000/室泊（年約¥36.3百万円）。¥30,000との差は交渉余地。</a:t>
            </a:r>
            <a:endParaRPr lang="en-US" sz="1100" dirty="0"/>
          </a:p>
        </p:txBody>
      </p:sp>
      <p:sp>
        <p:nvSpPr>
          <p:cNvPr id="15" name="Shape 13"/>
          <p:cNvSpPr/>
          <p:nvPr/>
        </p:nvSpPr>
        <p:spPr>
          <a:xfrm>
            <a:off x="640080" y="3931920"/>
            <a:ext cx="5272888" cy="1965960"/>
          </a:xfrm>
          <a:prstGeom prst="roundRect">
            <a:avLst>
              <a:gd name="adj" fmla="val 2791"/>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16" name="Shape 14"/>
          <p:cNvSpPr/>
          <p:nvPr/>
        </p:nvSpPr>
        <p:spPr>
          <a:xfrm>
            <a:off x="868680" y="4160520"/>
            <a:ext cx="502920" cy="502920"/>
          </a:xfrm>
          <a:prstGeom prst="rect">
            <a:avLst/>
          </a:prstGeom>
          <a:solidFill>
            <a:srgbClr val="EE835C"/>
          </a:solidFill>
          <a:ln/>
        </p:spPr>
      </p:sp>
      <p:sp>
        <p:nvSpPr>
          <p:cNvPr id="17" name="Text 15"/>
          <p:cNvSpPr/>
          <p:nvPr/>
        </p:nvSpPr>
        <p:spPr>
          <a:xfrm>
            <a:off x="868680" y="4160520"/>
            <a:ext cx="502920" cy="502920"/>
          </a:xfrm>
          <a:prstGeom prst="rect">
            <a:avLst/>
          </a:prstGeom>
          <a:noFill/>
          <a:ln/>
        </p:spPr>
        <p:txBody>
          <a:bodyPr wrap="square" lIns="0" tIns="0" rIns="0" bIns="0" rtlCol="0" anchor="ctr"/>
          <a:lstStyle/>
          <a:p>
            <a:pPr algn="ctr" indent="0" marL="0">
              <a:buNone/>
            </a:pPr>
            <a:r>
              <a:rPr lang="en-US" sz="2420" b="1" dirty="0">
                <a:solidFill>
                  <a:srgbClr val="FFFFFF"/>
                </a:solidFill>
                <a:latin typeface="Times New Roman" pitchFamily="34" charset="0"/>
                <a:ea typeface="Times New Roman" pitchFamily="34" charset="-122"/>
                <a:cs typeface="Times New Roman" pitchFamily="34" charset="-120"/>
              </a:rPr>
              <a:t>③</a:t>
            </a:r>
            <a:endParaRPr lang="en-US" sz="2420" dirty="0"/>
          </a:p>
        </p:txBody>
      </p:sp>
      <p:sp>
        <p:nvSpPr>
          <p:cNvPr id="18" name="Text 16"/>
          <p:cNvSpPr/>
          <p:nvPr/>
        </p:nvSpPr>
        <p:spPr>
          <a:xfrm>
            <a:off x="1508760" y="4187952"/>
            <a:ext cx="4267048" cy="457200"/>
          </a:xfrm>
          <a:prstGeom prst="rect">
            <a:avLst/>
          </a:prstGeom>
          <a:noFill/>
          <a:ln/>
        </p:spPr>
        <p:txBody>
          <a:bodyPr wrap="square" lIns="0" tIns="0" rIns="0" bIns="0" rtlCol="0" anchor="ctr"/>
          <a:lstStyle/>
          <a:p>
            <a:pPr indent="0" marL="0">
              <a:buNone/>
            </a:pPr>
            <a:r>
              <a:rPr lang="en-US" sz="1400" b="1" dirty="0">
                <a:solidFill>
                  <a:srgbClr val="1A1A1A"/>
                </a:solidFill>
                <a:latin typeface="Meiryo" pitchFamily="34" charset="0"/>
                <a:ea typeface="Meiryo" pitchFamily="34" charset="-122"/>
                <a:cs typeface="Meiryo" pitchFamily="34" charset="-120"/>
              </a:rPr>
              <a:t>前提条件化</a:t>
            </a:r>
            <a:endParaRPr lang="en-US" sz="1400" dirty="0"/>
          </a:p>
        </p:txBody>
      </p:sp>
      <p:sp>
        <p:nvSpPr>
          <p:cNvPr id="19" name="Text 17"/>
          <p:cNvSpPr/>
          <p:nvPr/>
        </p:nvSpPr>
        <p:spPr>
          <a:xfrm>
            <a:off x="896112" y="4800600"/>
            <a:ext cx="4760824" cy="960120"/>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Meiryo" pitchFamily="34" charset="0"/>
                <a:ea typeface="Meiryo" pitchFamily="34" charset="-122"/>
                <a:cs typeface="Meiryo" pitchFamily="34" charset="-120"/>
              </a:rPr>
              <a:t>産院提携2〜3件の締結と、運転資金の積み増し（6ヶ月分固定費）を実行条件として付す。</a:t>
            </a:r>
            <a:endParaRPr lang="en-US" sz="1100" dirty="0"/>
          </a:p>
        </p:txBody>
      </p:sp>
      <p:sp>
        <p:nvSpPr>
          <p:cNvPr id="20" name="Shape 18"/>
          <p:cNvSpPr/>
          <p:nvPr/>
        </p:nvSpPr>
        <p:spPr>
          <a:xfrm>
            <a:off x="6278728" y="3931920"/>
            <a:ext cx="5272888" cy="1965960"/>
          </a:xfrm>
          <a:prstGeom prst="roundRect">
            <a:avLst>
              <a:gd name="adj" fmla="val 2791"/>
            </a:avLst>
          </a:prstGeom>
          <a:solidFill>
            <a:srgbClr val="FFFFFF"/>
          </a:solidFill>
          <a:ln w="12700">
            <a:solidFill>
              <a:srgbClr val="D6D6D6"/>
            </a:solidFill>
            <a:prstDash val="solid"/>
          </a:ln>
          <a:effectLst>
            <a:outerShdw sx="100000" sy="100000" kx="0" ky="0" algn="bl" rotWithShape="0" blurRad="88900" dist="38100" dir="5400000">
              <a:srgbClr val="000000">
                <a:alpha val="12000"/>
              </a:srgbClr>
            </a:outerShdw>
          </a:effectLst>
        </p:spPr>
      </p:sp>
      <p:sp>
        <p:nvSpPr>
          <p:cNvPr id="21" name="Shape 19"/>
          <p:cNvSpPr/>
          <p:nvPr/>
        </p:nvSpPr>
        <p:spPr>
          <a:xfrm>
            <a:off x="6507328" y="4160520"/>
            <a:ext cx="502920" cy="502920"/>
          </a:xfrm>
          <a:prstGeom prst="rect">
            <a:avLst/>
          </a:prstGeom>
          <a:solidFill>
            <a:srgbClr val="EE835C"/>
          </a:solidFill>
          <a:ln/>
        </p:spPr>
      </p:sp>
      <p:sp>
        <p:nvSpPr>
          <p:cNvPr id="22" name="Text 20"/>
          <p:cNvSpPr/>
          <p:nvPr/>
        </p:nvSpPr>
        <p:spPr>
          <a:xfrm>
            <a:off x="6507328" y="4160520"/>
            <a:ext cx="502920" cy="502920"/>
          </a:xfrm>
          <a:prstGeom prst="rect">
            <a:avLst/>
          </a:prstGeom>
          <a:noFill/>
          <a:ln/>
        </p:spPr>
        <p:txBody>
          <a:bodyPr wrap="square" lIns="0" tIns="0" rIns="0" bIns="0" rtlCol="0" anchor="ctr"/>
          <a:lstStyle/>
          <a:p>
            <a:pPr algn="ctr" indent="0" marL="0">
              <a:buNone/>
            </a:pPr>
            <a:r>
              <a:rPr lang="en-US" sz="2420" b="1" dirty="0">
                <a:solidFill>
                  <a:srgbClr val="FFFFFF"/>
                </a:solidFill>
                <a:latin typeface="Times New Roman" pitchFamily="34" charset="0"/>
                <a:ea typeface="Times New Roman" pitchFamily="34" charset="-122"/>
                <a:cs typeface="Times New Roman" pitchFamily="34" charset="-120"/>
              </a:rPr>
              <a:t>④</a:t>
            </a:r>
            <a:endParaRPr lang="en-US" sz="2420" dirty="0"/>
          </a:p>
        </p:txBody>
      </p:sp>
      <p:sp>
        <p:nvSpPr>
          <p:cNvPr id="23" name="Text 21"/>
          <p:cNvSpPr/>
          <p:nvPr/>
        </p:nvSpPr>
        <p:spPr>
          <a:xfrm>
            <a:off x="7147408" y="4187952"/>
            <a:ext cx="4267048" cy="457200"/>
          </a:xfrm>
          <a:prstGeom prst="rect">
            <a:avLst/>
          </a:prstGeom>
          <a:noFill/>
          <a:ln/>
        </p:spPr>
        <p:txBody>
          <a:bodyPr wrap="square" lIns="0" tIns="0" rIns="0" bIns="0" rtlCol="0" anchor="ctr"/>
          <a:lstStyle/>
          <a:p>
            <a:pPr indent="0" marL="0">
              <a:buNone/>
            </a:pPr>
            <a:r>
              <a:rPr lang="en-US" sz="1400" b="1" dirty="0">
                <a:solidFill>
                  <a:srgbClr val="1A1A1A"/>
                </a:solidFill>
                <a:latin typeface="Meiryo" pitchFamily="34" charset="0"/>
                <a:ea typeface="Meiryo" pitchFamily="34" charset="-122"/>
                <a:cs typeface="Meiryo" pitchFamily="34" charset="-120"/>
              </a:rPr>
              <a:t>段階的ランプ</a:t>
            </a:r>
            <a:endParaRPr lang="en-US" sz="1400" dirty="0"/>
          </a:p>
        </p:txBody>
      </p:sp>
      <p:sp>
        <p:nvSpPr>
          <p:cNvPr id="24" name="Text 22"/>
          <p:cNvSpPr/>
          <p:nvPr/>
        </p:nvSpPr>
        <p:spPr>
          <a:xfrm>
            <a:off x="6534760" y="4800600"/>
            <a:ext cx="4760824" cy="960120"/>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Meiryo" pitchFamily="34" charset="0"/>
                <a:ea typeface="Meiryo" pitchFamily="34" charset="-122"/>
                <a:cs typeface="Meiryo" pitchFamily="34" charset="-120"/>
              </a:rPr>
              <a:t>立ち上がり期は賃料を減額し、稼働の安定に応じて段階的に引き上げるスキームで初期赤字を緩和。</a:t>
            </a:r>
            <a:endParaRPr lang="en-US" sz="1100" dirty="0"/>
          </a:p>
        </p:txBody>
      </p:sp>
      <p:pic>
        <p:nvPicPr>
          <p:cNvPr id="25"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26" name="Text 23"/>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27" name="Text 24"/>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28" name="Text 25"/>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2651760"/>
            <a:ext cx="822960" cy="822960"/>
          </a:xfrm>
          <a:prstGeom prst="rect">
            <a:avLst/>
          </a:prstGeom>
          <a:solidFill>
            <a:srgbClr val="EE835C"/>
          </a:solidFill>
          <a:ln/>
        </p:spPr>
      </p:sp>
      <p:sp>
        <p:nvSpPr>
          <p:cNvPr id="3" name="Text 1"/>
          <p:cNvSpPr/>
          <p:nvPr/>
        </p:nvSpPr>
        <p:spPr>
          <a:xfrm>
            <a:off x="640080" y="2651760"/>
            <a:ext cx="822960" cy="822960"/>
          </a:xfrm>
          <a:prstGeom prst="rect">
            <a:avLst/>
          </a:prstGeom>
          <a:noFill/>
          <a:ln/>
        </p:spPr>
        <p:txBody>
          <a:bodyPr wrap="square" lIns="0" tIns="0" rIns="0" bIns="0" rtlCol="0" anchor="ctr"/>
          <a:lstStyle/>
          <a:p>
            <a:pPr algn="ctr" indent="0" marL="0">
              <a:buNone/>
            </a:pPr>
            <a:r>
              <a:rPr lang="en-US" sz="3960" b="1" dirty="0">
                <a:solidFill>
                  <a:srgbClr val="FFFFFF"/>
                </a:solidFill>
                <a:latin typeface="Times New Roman" pitchFamily="34" charset="0"/>
                <a:ea typeface="Times New Roman" pitchFamily="34" charset="-122"/>
                <a:cs typeface="Times New Roman" pitchFamily="34" charset="-120"/>
              </a:rPr>
              <a:t>07</a:t>
            </a:r>
            <a:endParaRPr lang="en-US" sz="3960" dirty="0"/>
          </a:p>
        </p:txBody>
      </p:sp>
      <p:sp>
        <p:nvSpPr>
          <p:cNvPr id="4" name="Text 2"/>
          <p:cNvSpPr/>
          <p:nvPr/>
        </p:nvSpPr>
        <p:spPr>
          <a:xfrm>
            <a:off x="1783080" y="2651760"/>
            <a:ext cx="8686800" cy="822960"/>
          </a:xfrm>
          <a:prstGeom prst="rect">
            <a:avLst/>
          </a:prstGeom>
          <a:noFill/>
          <a:ln/>
        </p:spPr>
        <p:txBody>
          <a:bodyPr wrap="square" lIns="0" tIns="0" rIns="0" bIns="0" rtlCol="0" anchor="ctr"/>
          <a:lstStyle/>
          <a:p>
            <a:pPr indent="0" marL="0">
              <a:buNone/>
            </a:pPr>
            <a:r>
              <a:rPr lang="en-US" sz="2800" b="1" dirty="0">
                <a:solidFill>
                  <a:srgbClr val="1A1A1A"/>
                </a:solidFill>
                <a:latin typeface="Meiryo" pitchFamily="34" charset="0"/>
                <a:ea typeface="Meiryo" pitchFamily="34" charset="-122"/>
                <a:cs typeface="Meiryo" pitchFamily="34" charset="-120"/>
              </a:rPr>
              <a:t>次のアクション</a:t>
            </a:r>
            <a:endParaRPr lang="en-US" sz="2800" dirty="0"/>
          </a:p>
        </p:txBody>
      </p:sp>
      <p:sp>
        <p:nvSpPr>
          <p:cNvPr id="5" name="Shape 3"/>
          <p:cNvSpPr/>
          <p:nvPr/>
        </p:nvSpPr>
        <p:spPr>
          <a:xfrm>
            <a:off x="1783080" y="3611880"/>
            <a:ext cx="5029200" cy="0"/>
          </a:xfrm>
          <a:prstGeom prst="line">
            <a:avLst/>
          </a:prstGeom>
          <a:noFill/>
          <a:ln w="12700">
            <a:solidFill>
              <a:srgbClr val="D6D6D6"/>
            </a:solidFill>
            <a:prstDash val="solid"/>
          </a:ln>
        </p:spPr>
      </p:sp>
      <p:sp>
        <p:nvSpPr>
          <p:cNvPr id="6" name="Text 4"/>
          <p:cNvSpPr/>
          <p:nvPr/>
        </p:nvSpPr>
        <p:spPr>
          <a:xfrm>
            <a:off x="1783080" y="3675888"/>
            <a:ext cx="2743200" cy="320040"/>
          </a:xfrm>
          <a:prstGeom prst="rect">
            <a:avLst/>
          </a:prstGeom>
          <a:noFill/>
          <a:ln/>
        </p:spPr>
        <p:txBody>
          <a:bodyPr wrap="square" lIns="0" tIns="0" rIns="0" bIns="0" rtlCol="0" anchor="ctr"/>
          <a:lstStyle/>
          <a:p>
            <a:pPr indent="0" marL="0">
              <a:buNone/>
            </a:pPr>
            <a:r>
              <a:rPr lang="en-US" sz="1100" dirty="0">
                <a:solidFill>
                  <a:srgbClr val="EE835C"/>
                </a:solidFill>
                <a:latin typeface="Times New Roman" pitchFamily="34" charset="0"/>
                <a:ea typeface="Times New Roman" pitchFamily="34" charset="-122"/>
                <a:cs typeface="Times New Roman" pitchFamily="34" charset="-120"/>
              </a:rPr>
              <a:t>07 / 07</a:t>
            </a:r>
            <a:endParaRPr lang="en-US" sz="11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5"/>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6"/>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7"/>
          <p:cNvSpPr/>
          <p:nvPr/>
        </p:nvSpPr>
        <p:spPr>
          <a:xfrm>
            <a:off x="11597335" y="6382512"/>
            <a:ext cx="320040" cy="256032"/>
          </a:xfrm>
          <a:prstGeom prst="rect">
            <a:avLst/>
          </a:prstGeom>
          <a:noFill/>
          <a:ln/>
        </p:spPr>
        <p:txBody>
          <a:bodyPr wrap="square" lIns="0" tIns="0" rIns="0" bIns="0" rtlCol="0" anchor="ctr"/>
          <a:lstStyle/>
          <a:p>
            <a:pPr algn="r" indent="0" marL="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次のアクションとスケジュール</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投資委員会付議に向け、条件交渉と前提条件の充足を並行して進める。</a:t>
            </a:r>
            <a:endParaRPr lang="en-US" sz="1150" dirty="0"/>
          </a:p>
        </p:txBody>
      </p:sp>
      <p:sp>
        <p:nvSpPr>
          <p:cNvPr id="5" name="Text 3"/>
          <p:cNvSpPr/>
          <p:nvPr/>
        </p:nvSpPr>
        <p:spPr>
          <a:xfrm>
            <a:off x="640080" y="1783080"/>
            <a:ext cx="1371600" cy="822960"/>
          </a:xfrm>
          <a:prstGeom prst="rect">
            <a:avLst/>
          </a:prstGeom>
          <a:noFill/>
          <a:ln/>
        </p:spPr>
        <p:txBody>
          <a:bodyPr wrap="square" lIns="0" tIns="0" rIns="0" bIns="0" rtlCol="0" anchor="ctr"/>
          <a:lstStyle/>
          <a:p>
            <a:pPr algn="ctr" indent="0" marL="0">
              <a:buNone/>
            </a:pPr>
            <a:r>
              <a:rPr lang="en-US" sz="1400" b="1" dirty="0">
                <a:solidFill>
                  <a:srgbClr val="E50012"/>
                </a:solidFill>
                <a:latin typeface="Times New Roman" pitchFamily="34" charset="0"/>
                <a:ea typeface="Times New Roman" pitchFamily="34" charset="-122"/>
                <a:cs typeface="Times New Roman" pitchFamily="34" charset="-120"/>
              </a:rPr>
              <a:t>即時</a:t>
            </a:r>
            <a:endParaRPr lang="en-US" sz="1400" dirty="0"/>
          </a:p>
        </p:txBody>
      </p:sp>
      <p:sp>
        <p:nvSpPr>
          <p:cNvPr id="6" name="Shape 4"/>
          <p:cNvSpPr/>
          <p:nvPr/>
        </p:nvSpPr>
        <p:spPr>
          <a:xfrm>
            <a:off x="2194560" y="1783080"/>
            <a:ext cx="9357055" cy="822960"/>
          </a:xfrm>
          <a:prstGeom prst="rect">
            <a:avLst/>
          </a:prstGeom>
          <a:solidFill>
            <a:srgbClr val="F2F2F2"/>
          </a:solidFill>
          <a:ln w="9525">
            <a:solidFill>
              <a:srgbClr val="D6D6D6"/>
            </a:solidFill>
            <a:prstDash val="solid"/>
          </a:ln>
        </p:spPr>
      </p:sp>
      <p:sp>
        <p:nvSpPr>
          <p:cNvPr id="7" name="Text 5"/>
          <p:cNvSpPr/>
          <p:nvPr/>
        </p:nvSpPr>
        <p:spPr>
          <a:xfrm>
            <a:off x="2423160" y="1783080"/>
            <a:ext cx="2377440" cy="822960"/>
          </a:xfrm>
          <a:prstGeom prst="rect">
            <a:avLst/>
          </a:prstGeom>
          <a:noFill/>
          <a:ln/>
        </p:spPr>
        <p:txBody>
          <a:bodyPr wrap="square" lIns="0" tIns="0" rIns="0" bIns="0" rtlCol="0" anchor="ctr"/>
          <a:lstStyle/>
          <a:p>
            <a:pPr indent="0" marL="0">
              <a:buNone/>
            </a:pPr>
            <a:r>
              <a:rPr lang="en-US" sz="1300" b="1" dirty="0">
                <a:solidFill>
                  <a:srgbClr val="1A1A1A"/>
                </a:solidFill>
                <a:latin typeface="Meiryo" pitchFamily="34" charset="0"/>
                <a:ea typeface="Meiryo" pitchFamily="34" charset="-122"/>
                <a:cs typeface="Meiryo" pitchFamily="34" charset="-120"/>
              </a:rPr>
              <a:t>条件交渉</a:t>
            </a:r>
            <a:endParaRPr lang="en-US" sz="1300" dirty="0"/>
          </a:p>
        </p:txBody>
      </p:sp>
      <p:sp>
        <p:nvSpPr>
          <p:cNvPr id="8" name="Text 6"/>
          <p:cNvSpPr/>
          <p:nvPr/>
        </p:nvSpPr>
        <p:spPr>
          <a:xfrm>
            <a:off x="4846320" y="1783080"/>
            <a:ext cx="5150815" cy="822960"/>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報酬体系（ハイブリッド／均衡水準）をオペレーターと協議し、条件案を確定。</a:t>
            </a:r>
            <a:endParaRPr lang="en-US" sz="1100" dirty="0"/>
          </a:p>
        </p:txBody>
      </p:sp>
      <p:sp>
        <p:nvSpPr>
          <p:cNvPr id="9" name="Text 7"/>
          <p:cNvSpPr/>
          <p:nvPr/>
        </p:nvSpPr>
        <p:spPr>
          <a:xfrm>
            <a:off x="640080" y="2743200"/>
            <a:ext cx="1371600" cy="822960"/>
          </a:xfrm>
          <a:prstGeom prst="rect">
            <a:avLst/>
          </a:prstGeom>
          <a:noFill/>
          <a:ln/>
        </p:spPr>
        <p:txBody>
          <a:bodyPr wrap="square" lIns="0" tIns="0" rIns="0" bIns="0" rtlCol="0" anchor="ctr"/>
          <a:lstStyle/>
          <a:p>
            <a:pPr algn="ctr" indent="0" marL="0">
              <a:buNone/>
            </a:pPr>
            <a:r>
              <a:rPr lang="en-US" sz="1400" b="1" dirty="0">
                <a:solidFill>
                  <a:srgbClr val="E50012"/>
                </a:solidFill>
                <a:latin typeface="Times New Roman" pitchFamily="34" charset="0"/>
                <a:ea typeface="Times New Roman" pitchFamily="34" charset="-122"/>
                <a:cs typeface="Times New Roman" pitchFamily="34" charset="-120"/>
              </a:rPr>
              <a:t>〜1ヶ月</a:t>
            </a:r>
            <a:endParaRPr lang="en-US" sz="1400" dirty="0"/>
          </a:p>
        </p:txBody>
      </p:sp>
      <p:sp>
        <p:nvSpPr>
          <p:cNvPr id="10" name="Shape 8"/>
          <p:cNvSpPr/>
          <p:nvPr/>
        </p:nvSpPr>
        <p:spPr>
          <a:xfrm>
            <a:off x="2194560" y="2743200"/>
            <a:ext cx="9357055" cy="822960"/>
          </a:xfrm>
          <a:prstGeom prst="rect">
            <a:avLst/>
          </a:prstGeom>
          <a:solidFill>
            <a:srgbClr val="FBEDE7"/>
          </a:solidFill>
          <a:ln w="9525">
            <a:solidFill>
              <a:srgbClr val="D6D6D6"/>
            </a:solidFill>
            <a:prstDash val="solid"/>
          </a:ln>
        </p:spPr>
      </p:sp>
      <p:sp>
        <p:nvSpPr>
          <p:cNvPr id="11" name="Text 9"/>
          <p:cNvSpPr/>
          <p:nvPr/>
        </p:nvSpPr>
        <p:spPr>
          <a:xfrm>
            <a:off x="2423160" y="2743200"/>
            <a:ext cx="2377440" cy="822960"/>
          </a:xfrm>
          <a:prstGeom prst="rect">
            <a:avLst/>
          </a:prstGeom>
          <a:noFill/>
          <a:ln/>
        </p:spPr>
        <p:txBody>
          <a:bodyPr wrap="square" lIns="0" tIns="0" rIns="0" bIns="0" rtlCol="0" anchor="ctr"/>
          <a:lstStyle/>
          <a:p>
            <a:pPr indent="0" marL="0">
              <a:buNone/>
            </a:pPr>
            <a:r>
              <a:rPr lang="en-US" sz="1300" b="1" dirty="0">
                <a:solidFill>
                  <a:srgbClr val="1A1A1A"/>
                </a:solidFill>
                <a:latin typeface="Meiryo" pitchFamily="34" charset="0"/>
                <a:ea typeface="Meiryo" pitchFamily="34" charset="-122"/>
                <a:cs typeface="Meiryo" pitchFamily="34" charset="-120"/>
              </a:rPr>
              <a:t>デューデリ</a:t>
            </a:r>
            <a:endParaRPr lang="en-US" sz="1300" dirty="0"/>
          </a:p>
        </p:txBody>
      </p:sp>
      <p:sp>
        <p:nvSpPr>
          <p:cNvPr id="12" name="Text 10"/>
          <p:cNvSpPr/>
          <p:nvPr/>
        </p:nvSpPr>
        <p:spPr>
          <a:xfrm>
            <a:off x="4846320" y="2743200"/>
            <a:ext cx="5150815" cy="822960"/>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産院提携の覚書ドラフト確認、オペレーターの資金計画・運転資金の裏付け精査。</a:t>
            </a:r>
            <a:endParaRPr lang="en-US" sz="1100" dirty="0"/>
          </a:p>
        </p:txBody>
      </p:sp>
      <p:sp>
        <p:nvSpPr>
          <p:cNvPr id="13" name="Text 11"/>
          <p:cNvSpPr/>
          <p:nvPr/>
        </p:nvSpPr>
        <p:spPr>
          <a:xfrm>
            <a:off x="640080" y="3703320"/>
            <a:ext cx="1371600" cy="822960"/>
          </a:xfrm>
          <a:prstGeom prst="rect">
            <a:avLst/>
          </a:prstGeom>
          <a:noFill/>
          <a:ln/>
        </p:spPr>
        <p:txBody>
          <a:bodyPr wrap="square" lIns="0" tIns="0" rIns="0" bIns="0" rtlCol="0" anchor="ctr"/>
          <a:lstStyle/>
          <a:p>
            <a:pPr algn="ctr" indent="0" marL="0">
              <a:buNone/>
            </a:pPr>
            <a:r>
              <a:rPr lang="en-US" sz="1400" b="1" dirty="0">
                <a:solidFill>
                  <a:srgbClr val="E50012"/>
                </a:solidFill>
                <a:latin typeface="Times New Roman" pitchFamily="34" charset="0"/>
                <a:ea typeface="Times New Roman" pitchFamily="34" charset="-122"/>
                <a:cs typeface="Times New Roman" pitchFamily="34" charset="-120"/>
              </a:rPr>
              <a:t>〜2ヶ月</a:t>
            </a:r>
            <a:endParaRPr lang="en-US" sz="1400" dirty="0"/>
          </a:p>
        </p:txBody>
      </p:sp>
      <p:sp>
        <p:nvSpPr>
          <p:cNvPr id="14" name="Shape 12"/>
          <p:cNvSpPr/>
          <p:nvPr/>
        </p:nvSpPr>
        <p:spPr>
          <a:xfrm>
            <a:off x="2194560" y="3703320"/>
            <a:ext cx="9357055" cy="822960"/>
          </a:xfrm>
          <a:prstGeom prst="rect">
            <a:avLst/>
          </a:prstGeom>
          <a:solidFill>
            <a:srgbClr val="F2F2F2"/>
          </a:solidFill>
          <a:ln w="9525">
            <a:solidFill>
              <a:srgbClr val="D6D6D6"/>
            </a:solidFill>
            <a:prstDash val="solid"/>
          </a:ln>
        </p:spPr>
      </p:sp>
      <p:sp>
        <p:nvSpPr>
          <p:cNvPr id="15" name="Text 13"/>
          <p:cNvSpPr/>
          <p:nvPr/>
        </p:nvSpPr>
        <p:spPr>
          <a:xfrm>
            <a:off x="2423160" y="3703320"/>
            <a:ext cx="2377440" cy="822960"/>
          </a:xfrm>
          <a:prstGeom prst="rect">
            <a:avLst/>
          </a:prstGeom>
          <a:noFill/>
          <a:ln/>
        </p:spPr>
        <p:txBody>
          <a:bodyPr wrap="square" lIns="0" tIns="0" rIns="0" bIns="0" rtlCol="0" anchor="ctr"/>
          <a:lstStyle/>
          <a:p>
            <a:pPr indent="0" marL="0">
              <a:buNone/>
            </a:pPr>
            <a:r>
              <a:rPr lang="en-US" sz="1300" b="1" dirty="0">
                <a:solidFill>
                  <a:srgbClr val="1A1A1A"/>
                </a:solidFill>
                <a:latin typeface="Meiryo" pitchFamily="34" charset="0"/>
                <a:ea typeface="Meiryo" pitchFamily="34" charset="-122"/>
                <a:cs typeface="Meiryo" pitchFamily="34" charset="-120"/>
              </a:rPr>
              <a:t>付議</a:t>
            </a:r>
            <a:endParaRPr lang="en-US" sz="1300" dirty="0"/>
          </a:p>
        </p:txBody>
      </p:sp>
      <p:sp>
        <p:nvSpPr>
          <p:cNvPr id="16" name="Text 14"/>
          <p:cNvSpPr/>
          <p:nvPr/>
        </p:nvSpPr>
        <p:spPr>
          <a:xfrm>
            <a:off x="4846320" y="3703320"/>
            <a:ext cx="5150815" cy="822960"/>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投資委員会へ付議。感応度・最低保証条件を明記した投資判断資料を提出。</a:t>
            </a:r>
            <a:endParaRPr lang="en-US" sz="1100" dirty="0"/>
          </a:p>
        </p:txBody>
      </p:sp>
      <p:sp>
        <p:nvSpPr>
          <p:cNvPr id="17" name="Text 15"/>
          <p:cNvSpPr/>
          <p:nvPr/>
        </p:nvSpPr>
        <p:spPr>
          <a:xfrm>
            <a:off x="640080" y="4663440"/>
            <a:ext cx="1371600" cy="822960"/>
          </a:xfrm>
          <a:prstGeom prst="rect">
            <a:avLst/>
          </a:prstGeom>
          <a:noFill/>
          <a:ln/>
        </p:spPr>
        <p:txBody>
          <a:bodyPr wrap="square" lIns="0" tIns="0" rIns="0" bIns="0" rtlCol="0" anchor="ctr"/>
          <a:lstStyle/>
          <a:p>
            <a:pPr algn="ctr" indent="0" marL="0">
              <a:buNone/>
            </a:pPr>
            <a:r>
              <a:rPr lang="en-US" sz="1400" b="1" dirty="0">
                <a:solidFill>
                  <a:srgbClr val="E50012"/>
                </a:solidFill>
                <a:latin typeface="Times New Roman" pitchFamily="34" charset="0"/>
                <a:ea typeface="Times New Roman" pitchFamily="34" charset="-122"/>
                <a:cs typeface="Times New Roman" pitchFamily="34" charset="-120"/>
              </a:rPr>
              <a:t>開業後</a:t>
            </a:r>
            <a:endParaRPr lang="en-US" sz="1400" dirty="0"/>
          </a:p>
        </p:txBody>
      </p:sp>
      <p:sp>
        <p:nvSpPr>
          <p:cNvPr id="18" name="Shape 16"/>
          <p:cNvSpPr/>
          <p:nvPr/>
        </p:nvSpPr>
        <p:spPr>
          <a:xfrm>
            <a:off x="2194560" y="4663440"/>
            <a:ext cx="9357055" cy="822960"/>
          </a:xfrm>
          <a:prstGeom prst="rect">
            <a:avLst/>
          </a:prstGeom>
          <a:solidFill>
            <a:srgbClr val="FBEDE7"/>
          </a:solidFill>
          <a:ln w="9525">
            <a:solidFill>
              <a:srgbClr val="D6D6D6"/>
            </a:solidFill>
            <a:prstDash val="solid"/>
          </a:ln>
        </p:spPr>
      </p:sp>
      <p:sp>
        <p:nvSpPr>
          <p:cNvPr id="19" name="Text 17"/>
          <p:cNvSpPr/>
          <p:nvPr/>
        </p:nvSpPr>
        <p:spPr>
          <a:xfrm>
            <a:off x="2423160" y="4663440"/>
            <a:ext cx="2377440" cy="822960"/>
          </a:xfrm>
          <a:prstGeom prst="rect">
            <a:avLst/>
          </a:prstGeom>
          <a:noFill/>
          <a:ln/>
        </p:spPr>
        <p:txBody>
          <a:bodyPr wrap="square" lIns="0" tIns="0" rIns="0" bIns="0" rtlCol="0" anchor="ctr"/>
          <a:lstStyle/>
          <a:p>
            <a:pPr indent="0" marL="0">
              <a:buNone/>
            </a:pPr>
            <a:r>
              <a:rPr lang="en-US" sz="1300" b="1" dirty="0">
                <a:solidFill>
                  <a:srgbClr val="1A1A1A"/>
                </a:solidFill>
                <a:latin typeface="Meiryo" pitchFamily="34" charset="0"/>
                <a:ea typeface="Meiryo" pitchFamily="34" charset="-122"/>
                <a:cs typeface="Meiryo" pitchFamily="34" charset="-120"/>
              </a:rPr>
              <a:t>モニタリング</a:t>
            </a:r>
            <a:endParaRPr lang="en-US" sz="1300" dirty="0"/>
          </a:p>
        </p:txBody>
      </p:sp>
      <p:sp>
        <p:nvSpPr>
          <p:cNvPr id="20" name="Text 18"/>
          <p:cNvSpPr/>
          <p:nvPr/>
        </p:nvSpPr>
        <p:spPr>
          <a:xfrm>
            <a:off x="4846320" y="4663440"/>
            <a:ext cx="5150815" cy="822960"/>
          </a:xfrm>
          <a:prstGeom prst="rect">
            <a:avLst/>
          </a:prstGeom>
          <a:noFill/>
          <a:ln/>
        </p:spPr>
        <p:txBody>
          <a:bodyPr wrap="square" lIns="0" tIns="0" rIns="0" bIns="0" rtlCol="0" anchor="ctr"/>
          <a:lstStyle/>
          <a:p>
            <a:pPr indent="0" marL="0">
              <a:buNone/>
            </a:pPr>
            <a:r>
              <a:rPr lang="en-US" sz="1100" dirty="0">
                <a:solidFill>
                  <a:srgbClr val="1A1A1A"/>
                </a:solidFill>
                <a:latin typeface="Meiryo" pitchFamily="34" charset="0"/>
                <a:ea typeface="Meiryo" pitchFamily="34" charset="-122"/>
                <a:cs typeface="Meiryo" pitchFamily="34" charset="-120"/>
              </a:rPr>
              <a:t>月次で稼働・送客比率・賃料支払状況をトラッキングし、段階賃料の見直しに反映。</a:t>
            </a:r>
            <a:endParaRPr lang="en-US" sz="1100" dirty="0"/>
          </a:p>
        </p:txBody>
      </p:sp>
      <p:sp>
        <p:nvSpPr>
          <p:cNvPr id="21" name="Text 19"/>
          <p:cNvSpPr/>
          <p:nvPr/>
        </p:nvSpPr>
        <p:spPr>
          <a:xfrm>
            <a:off x="640080" y="5760720"/>
            <a:ext cx="10911535" cy="320040"/>
          </a:xfrm>
          <a:prstGeom prst="rect">
            <a:avLst/>
          </a:prstGeom>
          <a:noFill/>
          <a:ln/>
        </p:spPr>
        <p:txBody>
          <a:bodyPr wrap="square" lIns="0" tIns="0" rIns="0" bIns="0" rtlCol="0" anchor="ctr"/>
          <a:lstStyle/>
          <a:p>
            <a:pPr indent="0" marL="0">
              <a:buNone/>
            </a:pPr>
            <a:r>
              <a:rPr lang="en-US" sz="1100" b="1" i="1" dirty="0">
                <a:solidFill>
                  <a:srgbClr val="EE835C"/>
                </a:solidFill>
                <a:latin typeface="Meiryo" pitchFamily="34" charset="0"/>
                <a:ea typeface="Meiryo" pitchFamily="34" charset="-122"/>
                <a:cs typeface="Meiryo" pitchFamily="34" charset="-120"/>
              </a:rPr>
              <a:t>その課題を、価値へ。 ― 条件を再設計すれば、当社の資産価値向上と社会課題（産後ケア空白）の解決を両立できる。</a:t>
            </a:r>
            <a:endParaRPr lang="en-US" sz="1100" dirty="0"/>
          </a:p>
        </p:txBody>
      </p:sp>
      <p:pic>
        <p:nvPicPr>
          <p:cNvPr id="22"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23" name="Text 20"/>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24" name="Text 21"/>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25" name="Text 22"/>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502920"/>
          </a:xfrm>
          <a:prstGeom prst="rect">
            <a:avLst/>
          </a:prstGeom>
          <a:noFill/>
          <a:ln/>
        </p:spPr>
        <p:txBody>
          <a:bodyPr wrap="square" lIns="0" tIns="0" rIns="0" bIns="0" rtlCol="0" anchor="ctr"/>
          <a:lstStyle/>
          <a:p>
            <a:pPr indent="0" marL="0">
              <a:buNone/>
            </a:pPr>
            <a:r>
              <a:rPr lang="en-US" sz="2300" b="1" dirty="0">
                <a:solidFill>
                  <a:srgbClr val="1A1A1A"/>
                </a:solidFill>
                <a:latin typeface="Meiryo" pitchFamily="34" charset="0"/>
                <a:ea typeface="Meiryo" pitchFamily="34" charset="-122"/>
                <a:cs typeface="Meiryo" pitchFamily="34" charset="-120"/>
              </a:rPr>
              <a:t>Appendix ― 前提・エビデンス根拠</a:t>
            </a:r>
            <a:endParaRPr lang="en-US" sz="2300" dirty="0"/>
          </a:p>
        </p:txBody>
      </p:sp>
      <p:sp>
        <p:nvSpPr>
          <p:cNvPr id="3" name="Shape 1"/>
          <p:cNvSpPr/>
          <p:nvPr/>
        </p:nvSpPr>
        <p:spPr>
          <a:xfrm>
            <a:off x="640080" y="969264"/>
            <a:ext cx="10911535" cy="0"/>
          </a:xfrm>
          <a:prstGeom prst="line">
            <a:avLst/>
          </a:prstGeom>
          <a:noFill/>
          <a:ln w="12700">
            <a:solidFill>
              <a:srgbClr val="D6D6D6"/>
            </a:solidFill>
            <a:prstDash val="solid"/>
          </a:ln>
        </p:spPr>
      </p:sp>
      <p:sp>
        <p:nvSpPr>
          <p:cNvPr id="4" name="Text 2"/>
          <p:cNvSpPr/>
          <p:nvPr/>
        </p:nvSpPr>
        <p:spPr>
          <a:xfrm>
            <a:off x="640080" y="1042416"/>
            <a:ext cx="10911535" cy="384048"/>
          </a:xfrm>
          <a:prstGeom prst="rect">
            <a:avLst/>
          </a:prstGeom>
          <a:noFill/>
          <a:ln/>
        </p:spPr>
        <p:txBody>
          <a:bodyPr wrap="square" lIns="0" tIns="0" rIns="0" bIns="0" rtlCol="0" anchor="ctr"/>
          <a:lstStyle/>
          <a:p>
            <a:pPr indent="0" marL="0">
              <a:buNone/>
            </a:pPr>
            <a:r>
              <a:rPr lang="en-US" sz="1150" dirty="0">
                <a:solidFill>
                  <a:srgbClr val="6E6E6E"/>
                </a:solidFill>
                <a:latin typeface="Meiryo" pitchFamily="34" charset="0"/>
                <a:ea typeface="Meiryo" pitchFamily="34" charset="-122"/>
                <a:cs typeface="Meiryo" pitchFamily="34" charset="-120"/>
              </a:rPr>
              <a:t>主要数値の出所と検証方法。数値は事業シミュレーターの基準ケース（当リポジトリ既定パラメータ）に基づく試算値。</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11535" cy="914400"/>
        </p:xfrm>
        <a:graphic>
          <a:graphicData uri="http://schemas.openxmlformats.org/drawingml/2006/table">
            <a:tbl>
              <a:tblPr/>
              <a:tblGrid>
                <a:gridCol w="2926080"/>
                <a:gridCol w="5486400"/>
                <a:gridCol w="2496312"/>
              </a:tblGrid>
              <a:tr h="384048">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項目</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根拠</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6E6E6E"/>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検証方法</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C97B84"/>
                    </a:solidFill>
                  </a:tcPr>
                </a:tc>
              </a:tr>
              <a:tr h="777240">
                <a:tc>
                  <a:txBody>
                    <a:bodyPr/>
                    <a:lstStyle/>
                    <a:p>
                      <a:pPr algn="l" indent="0" marL="0">
                        <a:buNone/>
                      </a:pPr>
                      <a:r>
                        <a:rPr lang="en-US" sz="1050" b="1" dirty="0">
                          <a:solidFill>
                            <a:srgbClr val="1A1A1A"/>
                          </a:solidFill>
                          <a:latin typeface="Meiryo" pitchFamily="34" charset="0"/>
                          <a:ea typeface="Meiryo" pitchFamily="34" charset="-122"/>
                          <a:cs typeface="Meiryo" pitchFamily="34" charset="-120"/>
                        </a:rPr>
                        <a:t>稼働率80%（安定期）</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産院2〜3施設との提携による自動送客。kokokara（札幌）は開業3ヶ月で予約1ヶ月待ちの実績。</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提携覚書・月次予約実績</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777240">
                <a:tc>
                  <a:txBody>
                    <a:bodyPr/>
                    <a:lstStyle/>
                    <a:p>
                      <a:pPr algn="l" indent="0" marL="0">
                        <a:buNone/>
                      </a:pPr>
                      <a:r>
                        <a:rPr lang="en-US" sz="1050" b="1" dirty="0">
                          <a:solidFill>
                            <a:srgbClr val="1A1A1A"/>
                          </a:solidFill>
                          <a:latin typeface="Meiryo" pitchFamily="34" charset="0"/>
                          <a:ea typeface="Meiryo" pitchFamily="34" charset="-122"/>
                          <a:cs typeface="Meiryo" pitchFamily="34" charset="-120"/>
                        </a:rPr>
                        <a:t>ADR ¥40,000/名（室¥80,000・加重平均¥52,000）</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競合：STORK¥66,000〜／マームガーデン¥40,000〜／kokokara¥25,000〜の中間価格帯。加重平均は1名利用70%を反映。</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競合料金の半期リサーチ</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r>
              <a:tr h="777240">
                <a:tc>
                  <a:txBody>
                    <a:bodyPr/>
                    <a:lstStyle/>
                    <a:p>
                      <a:pPr algn="l" indent="0" marL="0">
                        <a:buNone/>
                      </a:pPr>
                      <a:r>
                        <a:rPr lang="en-US" sz="1050" b="1" dirty="0">
                          <a:solidFill>
                            <a:srgbClr val="1A1A1A"/>
                          </a:solidFill>
                          <a:latin typeface="Meiryo" pitchFamily="34" charset="0"/>
                          <a:ea typeface="Meiryo" pitchFamily="34" charset="-122"/>
                          <a:cs typeface="Meiryo" pitchFamily="34" charset="-120"/>
                        </a:rPr>
                        <a:t>オーナー報酬¥30,000/室泊</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FAV LUX通常ADR（¥15,000〜17,000）比＋79〜100%のアップリフト。</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報酬支払記録・固定契約</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r>
              <a:tr h="777240">
                <a:tc>
                  <a:txBody>
                    <a:bodyPr/>
                    <a:lstStyle/>
                    <a:p>
                      <a:pPr algn="l" indent="0" marL="0">
                        <a:buNone/>
                      </a:pPr>
                      <a:r>
                        <a:rPr lang="en-US" sz="1050" b="1" dirty="0">
                          <a:solidFill>
                            <a:srgbClr val="1A1A1A"/>
                          </a:solidFill>
                          <a:latin typeface="Meiryo" pitchFamily="34" charset="0"/>
                          <a:ea typeface="Meiryo" pitchFamily="34" charset="-122"/>
                          <a:cs typeface="Meiryo" pitchFamily="34" charset="-120"/>
                        </a:rPr>
                        <a:t>市場TAM 約619億円</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年間出生73万人（厚労省2023）×利用想定率×平均単価。利用率3%→韓国75%へ成長余地。</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c>
                  <a:txBody>
                    <a:bodyPr/>
                    <a:lstStyle/>
                    <a:p>
                      <a:pPr algn="l" indent="0" marL="0">
                        <a:buNone/>
                      </a:pPr>
                      <a:r>
                        <a:rPr lang="en-US" sz="1050" dirty="0">
                          <a:solidFill>
                            <a:srgbClr val="6E6E6E"/>
                          </a:solidFill>
                          <a:latin typeface="Meiryo" pitchFamily="34" charset="0"/>
                          <a:ea typeface="Meiryo" pitchFamily="34" charset="-122"/>
                          <a:cs typeface="Meiryo" pitchFamily="34" charset="-120"/>
                        </a:rPr>
                        <a:t>人口動態統計（毎年7月）</a:t>
                      </a:r>
                      <a:endParaRPr lang="en-US" sz="1050" dirty="0">
                        <a:latin typeface="Meiryo" charset="0"/>
                        <a:ea typeface="Meiryo" charset="0"/>
                        <a:cs typeface="Meiryo" charset="0"/>
                      </a:endParaRPr>
                    </a:p>
                  </a:txBody>
                  <a:tcPr marL="91440" marR="91440" marT="45720" marB="4572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BEDE7"/>
                    </a:solidFill>
                  </a:tcPr>
                </a:tc>
              </a:tr>
            </a:tbl>
          </a:graphicData>
        </a:graphic>
      </p:graphicFrame>
      <p:sp>
        <p:nvSpPr>
          <p:cNvPr id="6" name="Text 3"/>
          <p:cNvSpPr/>
          <p:nvPr/>
        </p:nvSpPr>
        <p:spPr>
          <a:xfrm>
            <a:off x="640080" y="5806440"/>
            <a:ext cx="10911535" cy="365760"/>
          </a:xfrm>
          <a:prstGeom prst="rect">
            <a:avLst/>
          </a:prstGeom>
          <a:noFill/>
          <a:ln/>
        </p:spPr>
        <p:txBody>
          <a:bodyPr wrap="square" lIns="0" tIns="0" rIns="0" bIns="0" rtlCol="0" anchor="ctr"/>
          <a:lstStyle/>
          <a:p>
            <a:pPr indent="0" marL="0">
              <a:buNone/>
            </a:pPr>
            <a:r>
              <a:rPr lang="en-US" sz="900" i="1" dirty="0">
                <a:solidFill>
                  <a:srgbClr val="6E6E6E"/>
                </a:solidFill>
                <a:latin typeface="Meiryo" pitchFamily="34" charset="0"/>
                <a:ea typeface="Meiryo" pitchFamily="34" charset="-122"/>
                <a:cs typeface="Meiryo" pitchFamily="34" charset="-120"/>
              </a:rPr>
              <a:t>免責：本資料は社内検討用の試算であり、投資判断・勧誘を目的とするものではない。実績値は前提条件の変動により変化する。</a:t>
            </a:r>
            <a:endParaRPr lang="en-US" sz="900" dirty="0"/>
          </a:p>
        </p:txBody>
      </p:sp>
      <p:pic>
        <p:nvPicPr>
          <p:cNvPr id="7" name="Image 0" descr="kc_mark.png">    </p:cNvPr>
          <p:cNvPicPr>
            <a:picLocks noChangeAspect="1"/>
          </p:cNvPicPr>
          <p:nvPr/>
        </p:nvPicPr>
        <p:blipFill>
          <a:blip r:embed="rId1"/>
          <a:stretch>
            <a:fillRect/>
          </a:stretch>
        </p:blipFill>
        <p:spPr>
          <a:xfrm>
            <a:off x="640080" y="6419088"/>
            <a:ext cx="155448" cy="185623"/>
          </a:xfrm>
          <a:prstGeom prst="rect">
            <a:avLst/>
          </a:prstGeom>
        </p:spPr>
      </p:pic>
      <p:sp>
        <p:nvSpPr>
          <p:cNvPr id="8" name="Text 4"/>
          <p:cNvSpPr/>
          <p:nvPr/>
        </p:nvSpPr>
        <p:spPr>
          <a:xfrm>
            <a:off x="841248" y="6382512"/>
            <a:ext cx="2743200" cy="256032"/>
          </a:xfrm>
          <a:prstGeom prst="rect">
            <a:avLst/>
          </a:prstGeom>
          <a:noFill/>
          <a:ln/>
        </p:spPr>
        <p:txBody>
          <a:bodyPr wrap="square" lIns="0" tIns="0" rIns="0" bIns="0" rtlCol="0" anchor="ctr"/>
          <a:lstStyle/>
          <a:p>
            <a:pPr indent="0" marL="0">
              <a:buNone/>
            </a:pPr>
            <a:r>
              <a:rPr lang="en-US" sz="750" spc="100" kern="0" dirty="0">
                <a:solidFill>
                  <a:srgbClr val="6E6E6E"/>
                </a:solidFill>
                <a:latin typeface="Times New Roman" pitchFamily="34" charset="0"/>
                <a:ea typeface="Times New Roman" pitchFamily="34" charset="-122"/>
                <a:cs typeface="Times New Roman" pitchFamily="34" charset="-120"/>
              </a:rPr>
              <a:t>KASUMIGASEKI CAPITAL</a:t>
            </a:r>
            <a:endParaRPr lang="en-US" sz="750" dirty="0"/>
          </a:p>
        </p:txBody>
      </p:sp>
      <p:sp>
        <p:nvSpPr>
          <p:cNvPr id="9" name="Text 5"/>
          <p:cNvSpPr/>
          <p:nvPr/>
        </p:nvSpPr>
        <p:spPr>
          <a:xfrm>
            <a:off x="6979615" y="6382512"/>
            <a:ext cx="4572000" cy="256032"/>
          </a:xfrm>
          <a:prstGeom prst="rect">
            <a:avLst/>
          </a:prstGeom>
          <a:noFill/>
          <a:ln/>
        </p:spPr>
        <p:txBody>
          <a:bodyPr wrap="square" lIns="0" tIns="0" rIns="0" bIns="0" rtlCol="0" anchor="ctr"/>
          <a:lstStyle/>
          <a:p>
            <a:pPr algn="r" indent="0" marL="0">
              <a:buNone/>
            </a:pPr>
            <a:r>
              <a:rPr lang="en-US" sz="750" dirty="0">
                <a:solidFill>
                  <a:srgbClr val="6E6E6E"/>
                </a:solidFill>
                <a:latin typeface="Meiryo" pitchFamily="34" charset="0"/>
                <a:ea typeface="Meiryo" pitchFamily="34" charset="-122"/>
                <a:cs typeface="Meiryo" pitchFamily="34" charset="-120"/>
              </a:rPr>
              <a:t>Copyright © Kasumigaseki Capital Co., Ltd. All Rights Reserved.</a:t>
            </a:r>
            <a:endParaRPr lang="en-US" sz="750" dirty="0"/>
          </a:p>
        </p:txBody>
      </p:sp>
      <p:sp>
        <p:nvSpPr>
          <p:cNvPr id="10" name="Text 6"/>
          <p:cNvSpPr/>
          <p:nvPr/>
        </p:nvSpPr>
        <p:spPr>
          <a:xfrm>
            <a:off x="11597335" y="6382512"/>
            <a:ext cx="320040" cy="256032"/>
          </a:xfrm>
          <a:prstGeom prst="rect">
            <a:avLst/>
          </a:prstGeom>
          <a:noFill/>
          <a:ln/>
        </p:spPr>
        <p:txBody>
          <a:bodyPr wrap="square" lIns="0" tIns="0" rIns="0" bIns="0" rtlCol="0" anchor="ctr"/>
          <a:lstStyle/>
          <a:p>
            <a:pPr algn="r" indent="0" marL="0">
              <a:buNone/>
            </a:pPr>
            <a:r>
              <a:rPr lang="en-US" sz="900" dirty="0">
                <a:solidFill>
                  <a:srgbClr val="6E6E6E"/>
                </a:solidFill>
                <a:latin typeface="Times New Roman" pitchFamily="34" charset="0"/>
                <a:ea typeface="Times New Roman" pitchFamily="34" charset="-122"/>
                <a:cs typeface="Times New Roman"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Kasumigaseki Capital Co.,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産後ケアホテル「Lunest」事業性評価</dc:title>
  <dc:subject>PptxGenJS Presentation</dc:subject>
  <dc:creator>霞ヶ関キャピタル株式会社</dc:creator>
  <cp:lastModifiedBy>霞ヶ関キャピタル株式会社</cp:lastModifiedBy>
  <cp:revision>1</cp:revision>
  <dcterms:created xsi:type="dcterms:W3CDTF">2026-07-06T02:34:08Z</dcterms:created>
  <dcterms:modified xsi:type="dcterms:W3CDTF">2026-07-06T02:34:08Z</dcterms:modified>
</cp:coreProperties>
</file>